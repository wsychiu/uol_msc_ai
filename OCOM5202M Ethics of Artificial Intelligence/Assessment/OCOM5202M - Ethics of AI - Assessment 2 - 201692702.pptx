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4"/>
  </p:notesMasterIdLst>
  <p:handoutMasterIdLst>
    <p:handoutMasterId r:id="rId25"/>
  </p:handoutMasterIdLst>
  <p:sldIdLst>
    <p:sldId id="257" r:id="rId5"/>
    <p:sldId id="277" r:id="rId6"/>
    <p:sldId id="260" r:id="rId7"/>
    <p:sldId id="266" r:id="rId8"/>
    <p:sldId id="262" r:id="rId9"/>
    <p:sldId id="263" r:id="rId10"/>
    <p:sldId id="264" r:id="rId11"/>
    <p:sldId id="267" r:id="rId12"/>
    <p:sldId id="265" r:id="rId13"/>
    <p:sldId id="268" r:id="rId14"/>
    <p:sldId id="270" r:id="rId15"/>
    <p:sldId id="271" r:id="rId16"/>
    <p:sldId id="273" r:id="rId17"/>
    <p:sldId id="272" r:id="rId18"/>
    <p:sldId id="275" r:id="rId19"/>
    <p:sldId id="276" r:id="rId20"/>
    <p:sldId id="274" r:id="rId21"/>
    <p:sldId id="261" r:id="rId22"/>
    <p:sldId id="269" r:id="rId23"/>
  </p:sldIdLst>
  <p:sldSz cx="12188825" cy="6858000"/>
  <p:notesSz cx="6858000" cy="9144000"/>
  <p:defaultTextStyle>
    <a:defPPr rtl="0">
      <a:defRPr lang="en-gb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378" autoAdjust="0"/>
    <p:restoredTop sz="94660"/>
  </p:normalViewPr>
  <p:slideViewPr>
    <p:cSldViewPr>
      <p:cViewPr>
        <p:scale>
          <a:sx n="92" d="100"/>
          <a:sy n="92" d="100"/>
        </p:scale>
        <p:origin x="389" y="64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t>Click to edit Master text styles</a:t>
            </a:r>
          </a:p>
          <a:p>
            <a:pPr lvl="1" rtl="0"/>
            <a:r>
              <a:t>Second level</a:t>
            </a:r>
          </a:p>
          <a:p>
            <a:pPr lvl="2" rtl="0"/>
            <a:r>
              <a:t>Third level</a:t>
            </a:r>
          </a:p>
          <a:p>
            <a:pPr lvl="3" rtl="0"/>
            <a:r>
              <a:t>Fourth level</a:t>
            </a:r>
          </a:p>
          <a:p>
            <a:pPr lvl="4" rtl="0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Protect against war crimes, genocide, crimes against humanity, including the prevention of such crimes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3EBA5BD7-F043-4D1B-AA17-CD412FC534DE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91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 rtl="0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 rtlCol="0"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rtlCol="0" anchor="b">
            <a:normAutofit/>
          </a:bodyPr>
          <a:lstStyle>
            <a:lvl1pPr algn="l">
              <a:defRPr sz="5400" b="0" cap="none" baseline="0"/>
            </a:lvl1pPr>
          </a:lstStyle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rtlCol="0"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 rtlCol="0"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 rtlCol="0"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rtlCol="0"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 rtlCol="0"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pPr rtl="0"/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 rtlCol="0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pPr rtl="0"/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en-US"/>
              <a:t>1/8/2016</a:t>
            </a:r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39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rtlCol="0">
            <a:normAutofit fontScale="90000"/>
          </a:bodyPr>
          <a:lstStyle/>
          <a:p>
            <a:pPr rtl="0"/>
            <a:r>
              <a:rPr lang="en-gb" b="1" dirty="0"/>
              <a:t>Autonomous Weapon Systems: </a:t>
            </a:r>
            <a:r>
              <a:rPr lang="en-gb" dirty="0"/>
              <a:t>Ethical reasons for its development and deployment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en-GB" dirty="0"/>
              <a:t>O</a:t>
            </a:r>
            <a:r>
              <a:rPr lang="en-gb" dirty="0"/>
              <a:t>COM5202M </a:t>
            </a:r>
            <a:r>
              <a:rPr lang="en-GB" dirty="0"/>
              <a:t>–</a:t>
            </a:r>
            <a:r>
              <a:rPr lang="en-gb" dirty="0"/>
              <a:t> Ethics of AI</a:t>
            </a:r>
          </a:p>
          <a:p>
            <a:pPr rtl="0"/>
            <a:r>
              <a:rPr lang="en-GB" dirty="0"/>
              <a:t>University of Leeds</a:t>
            </a:r>
          </a:p>
          <a:p>
            <a:pPr rtl="0"/>
            <a:endParaRPr lang="en-GB" dirty="0"/>
          </a:p>
          <a:p>
            <a:pPr rtl="0"/>
            <a:r>
              <a:rPr lang="en-GB" dirty="0"/>
              <a:t>Wesley Chiu (201692702)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FB1B6-A9C5-D83C-171E-767B990F5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Structure of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B95628-D729-D993-EEA4-DAA332B64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GB" dirty="0"/>
              <a:t>Definition of Autonomous Weapon Systems in the context of this discussion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Ethical arguments for the development and deployment of Autonomous Weapon Systems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Common ethical arguments against followed by reasons to why these arguments are insufficient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Suggested policies and regulation</a:t>
            </a:r>
          </a:p>
          <a:p>
            <a:pPr marL="514350" indent="-514350">
              <a:buFont typeface="+mj-lt"/>
              <a:buAutoNum type="arabicPeriod"/>
            </a:pPr>
            <a:r>
              <a:rPr lang="en-GB" dirty="0"/>
              <a:t>Conclusion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43C4DE3E-6826-8072-7B52-77313A45C0A1}"/>
              </a:ext>
            </a:extLst>
          </p:cNvPr>
          <p:cNvSpPr/>
          <p:nvPr/>
        </p:nvSpPr>
        <p:spPr>
          <a:xfrm>
            <a:off x="1252528" y="82146"/>
            <a:ext cx="1296144" cy="171691"/>
          </a:xfrm>
          <a:prstGeom prst="homePlat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Definition </a:t>
            </a:r>
            <a:r>
              <a:rPr lang="en-GB" sz="1000"/>
              <a:t>&amp; Scope</a:t>
            </a:r>
            <a:endParaRPr lang="en-GB" sz="1000" dirty="0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2C2ED28A-3663-E63D-E87B-B234CDC82593}"/>
              </a:ext>
            </a:extLst>
          </p:cNvPr>
          <p:cNvSpPr/>
          <p:nvPr/>
        </p:nvSpPr>
        <p:spPr>
          <a:xfrm>
            <a:off x="2521577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Arguments for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95103F4E-A01E-4B65-0306-F61743EF63B5}"/>
              </a:ext>
            </a:extLst>
          </p:cNvPr>
          <p:cNvSpPr/>
          <p:nvPr/>
        </p:nvSpPr>
        <p:spPr>
          <a:xfrm>
            <a:off x="3790626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Arguments against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1DA50AD2-3682-B4C0-D158-6D6090A69263}"/>
              </a:ext>
            </a:extLst>
          </p:cNvPr>
          <p:cNvSpPr/>
          <p:nvPr/>
        </p:nvSpPr>
        <p:spPr>
          <a:xfrm>
            <a:off x="5059675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Policies &amp; Regulation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F412E704-E77C-5830-1874-21A870F564DB}"/>
              </a:ext>
            </a:extLst>
          </p:cNvPr>
          <p:cNvSpPr/>
          <p:nvPr/>
        </p:nvSpPr>
        <p:spPr>
          <a:xfrm>
            <a:off x="6328724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Conclusion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55767873-6C6A-611B-FDD6-BE9D6344E348}"/>
              </a:ext>
            </a:extLst>
          </p:cNvPr>
          <p:cNvSpPr/>
          <p:nvPr/>
        </p:nvSpPr>
        <p:spPr>
          <a:xfrm>
            <a:off x="7597773" y="82146"/>
            <a:ext cx="1296144" cy="171691"/>
          </a:xfrm>
          <a:prstGeom prst="chevron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3078731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52FA3-BAED-655A-1A44-E44BA80D9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Definition of Autonomous Weapon Systems (AWS) in the context of this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8FB33-432A-5825-E23E-5A3F6BCAC9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4" y="1701797"/>
            <a:ext cx="5667616" cy="4462272"/>
          </a:xfrm>
        </p:spPr>
        <p:txBody>
          <a:bodyPr>
            <a:normAutofit fontScale="92500" lnSpcReduction="20000"/>
          </a:bodyPr>
          <a:lstStyle/>
          <a:p>
            <a:r>
              <a:rPr lang="en-GB" dirty="0"/>
              <a:t>Weapons that, once deployed, can select and engage targets without additional intervention from a human (Sharkey, 2018)</a:t>
            </a:r>
          </a:p>
          <a:p>
            <a:r>
              <a:rPr lang="en-GB" dirty="0"/>
              <a:t>Lethal AWS (LAWS) considered a subset of the broader AWS</a:t>
            </a:r>
          </a:p>
          <a:p>
            <a:r>
              <a:rPr lang="en-GB" dirty="0"/>
              <a:t>Not independent moral agents (</a:t>
            </a:r>
            <a:r>
              <a:rPr lang="en-GB" dirty="0" err="1"/>
              <a:t>Riesen</a:t>
            </a:r>
            <a:r>
              <a:rPr lang="en-GB" dirty="0"/>
              <a:t>, 2022)</a:t>
            </a:r>
          </a:p>
          <a:p>
            <a:r>
              <a:rPr lang="en-GB" dirty="0"/>
              <a:t>Assume fully able to comply with ‘Laws of War’ and International Human Rights Law</a:t>
            </a:r>
          </a:p>
          <a:p>
            <a:r>
              <a:rPr lang="en-GB" dirty="0"/>
              <a:t>Requirement of a ‘just’ war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58A4B1B0-1641-4947-335E-216FC9760AD2}"/>
              </a:ext>
            </a:extLst>
          </p:cNvPr>
          <p:cNvSpPr/>
          <p:nvPr/>
        </p:nvSpPr>
        <p:spPr>
          <a:xfrm>
            <a:off x="1252528" y="82146"/>
            <a:ext cx="1296144" cy="171691"/>
          </a:xfrm>
          <a:prstGeom prst="homePlat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Definition &amp; Scope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A4BC2117-0395-76B5-15EE-2473A5431A7B}"/>
              </a:ext>
            </a:extLst>
          </p:cNvPr>
          <p:cNvSpPr/>
          <p:nvPr/>
        </p:nvSpPr>
        <p:spPr>
          <a:xfrm>
            <a:off x="2521577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Arguments for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0A259D41-4AE2-E0E1-245E-97DD97AB2E91}"/>
              </a:ext>
            </a:extLst>
          </p:cNvPr>
          <p:cNvSpPr/>
          <p:nvPr/>
        </p:nvSpPr>
        <p:spPr>
          <a:xfrm>
            <a:off x="3790626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Arguments against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B4944A64-031D-CBEB-D03E-AB382CF9CF02}"/>
              </a:ext>
            </a:extLst>
          </p:cNvPr>
          <p:cNvSpPr/>
          <p:nvPr/>
        </p:nvSpPr>
        <p:spPr>
          <a:xfrm>
            <a:off x="5059675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Policies &amp; Regulation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901356B0-BF45-E1EE-8F9D-FF57CFFF5B4E}"/>
              </a:ext>
            </a:extLst>
          </p:cNvPr>
          <p:cNvSpPr/>
          <p:nvPr/>
        </p:nvSpPr>
        <p:spPr>
          <a:xfrm>
            <a:off x="6328724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Conclusion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194196E-A1CA-000A-065B-BEDC28624C2D}"/>
              </a:ext>
            </a:extLst>
          </p:cNvPr>
          <p:cNvSpPr/>
          <p:nvPr/>
        </p:nvSpPr>
        <p:spPr>
          <a:xfrm>
            <a:off x="7597773" y="82146"/>
            <a:ext cx="1296144" cy="171691"/>
          </a:xfrm>
          <a:prstGeom prst="chevron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bg1"/>
                </a:solidFill>
              </a:rPr>
              <a:t>References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7EBA46-6A3E-A137-DFC0-E63D99D9F6AB}"/>
              </a:ext>
            </a:extLst>
          </p:cNvPr>
          <p:cNvSpPr txBox="1"/>
          <p:nvPr/>
        </p:nvSpPr>
        <p:spPr>
          <a:xfrm>
            <a:off x="7157212" y="4536729"/>
            <a:ext cx="346874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dirty="0"/>
              <a:t>(Jeffries, 2014)</a:t>
            </a:r>
          </a:p>
        </p:txBody>
      </p:sp>
      <p:pic>
        <p:nvPicPr>
          <p:cNvPr id="1032" name="Picture 8" descr="darpa_1020">
            <a:extLst>
              <a:ext uri="{FF2B5EF4-FFF2-40B4-BE49-F238E27FC236}">
                <a16:creationId xmlns:a16="http://schemas.microsoft.com/office/drawing/2014/main" id="{E37A5D9B-529B-8522-4196-31227704FD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7212" y="1845398"/>
            <a:ext cx="4735506" cy="2663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7955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5FE74-D2D1-AC1B-22B4-D1B76354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Arguments for the development and deployment of AWS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BD51F-3348-5EEA-3FB4-16EF584E0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Autonomous Weapon Systems: </a:t>
            </a:r>
            <a:r>
              <a:rPr lang="en-gb" dirty="0"/>
              <a:t>Ethical reasons for its development and deployment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60100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3DF52-7C27-8335-B4C4-24425DCE4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It is the moral responsibility for a country to ensure safety for its citizens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4F4E1-0924-F9AB-FFE8-B328DF0A97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4739" y="1700808"/>
            <a:ext cx="6410130" cy="446227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 responsibility embodied by the Responsibility to Protect Principle (United Nations, 2005)</a:t>
            </a:r>
          </a:p>
          <a:p>
            <a:r>
              <a:rPr lang="en-GB" dirty="0"/>
              <a:t>May need AWS to help defend against AWS-enabled offensive</a:t>
            </a:r>
          </a:p>
          <a:p>
            <a:r>
              <a:rPr lang="en-GB" dirty="0"/>
              <a:t>Over 40 countries are developing or purchasing military robots (Sharkey, 2010)</a:t>
            </a:r>
          </a:p>
          <a:p>
            <a:r>
              <a:rPr lang="en-GB" dirty="0"/>
              <a:t>Optimistic to think we can opt-out of LAWS in the future (</a:t>
            </a:r>
            <a:r>
              <a:rPr lang="en-GB" dirty="0" err="1"/>
              <a:t>Shieman</a:t>
            </a:r>
            <a:r>
              <a:rPr lang="en-GB" dirty="0"/>
              <a:t>, 2022)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FCEEA1B4-BB4E-C922-89F8-1F8BAB334F4B}"/>
              </a:ext>
            </a:extLst>
          </p:cNvPr>
          <p:cNvSpPr/>
          <p:nvPr/>
        </p:nvSpPr>
        <p:spPr>
          <a:xfrm>
            <a:off x="1252528" y="82146"/>
            <a:ext cx="1296144" cy="171691"/>
          </a:xfrm>
          <a:prstGeom prst="homePlat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/>
              <a:t>Definition &amp; Scope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3955556D-92D7-65CE-9986-4364C442C075}"/>
              </a:ext>
            </a:extLst>
          </p:cNvPr>
          <p:cNvSpPr/>
          <p:nvPr/>
        </p:nvSpPr>
        <p:spPr>
          <a:xfrm>
            <a:off x="2521577" y="82146"/>
            <a:ext cx="1296144" cy="171691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/>
              <a:t>Arguments for</a:t>
            </a:r>
            <a:endParaRPr lang="en-GB" sz="1000" dirty="0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CE1F53A6-A116-CB5C-DA48-C3C3E0F9FAE0}"/>
              </a:ext>
            </a:extLst>
          </p:cNvPr>
          <p:cNvSpPr/>
          <p:nvPr/>
        </p:nvSpPr>
        <p:spPr>
          <a:xfrm>
            <a:off x="3790626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Arguments against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96F94152-2750-D5BD-67DB-C41B9C52EF18}"/>
              </a:ext>
            </a:extLst>
          </p:cNvPr>
          <p:cNvSpPr/>
          <p:nvPr/>
        </p:nvSpPr>
        <p:spPr>
          <a:xfrm>
            <a:off x="5059675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Policies &amp; Regulation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B3792CCB-5313-5E3C-B85E-42CC7472CC2B}"/>
              </a:ext>
            </a:extLst>
          </p:cNvPr>
          <p:cNvSpPr/>
          <p:nvPr/>
        </p:nvSpPr>
        <p:spPr>
          <a:xfrm>
            <a:off x="6328724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Conclusion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48207626-2BB9-6D8B-1CE8-305380E3F1EA}"/>
              </a:ext>
            </a:extLst>
          </p:cNvPr>
          <p:cNvSpPr/>
          <p:nvPr/>
        </p:nvSpPr>
        <p:spPr>
          <a:xfrm>
            <a:off x="7597773" y="82146"/>
            <a:ext cx="1296144" cy="171691"/>
          </a:xfrm>
          <a:prstGeom prst="chevron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bg1"/>
                </a:solidFill>
              </a:rPr>
              <a:t>References</a:t>
            </a:r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7C3B63A-67A2-1C82-597F-A92DC3822C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8668" y="1628800"/>
            <a:ext cx="2871230" cy="407707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E303B2-A887-C264-29AE-D6B7F5420B9E}"/>
              </a:ext>
            </a:extLst>
          </p:cNvPr>
          <p:cNvSpPr txBox="1"/>
          <p:nvPr/>
        </p:nvSpPr>
        <p:spPr>
          <a:xfrm>
            <a:off x="8398668" y="5759128"/>
            <a:ext cx="295232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1000" dirty="0"/>
              <a:t>(IAI, 2019)</a:t>
            </a:r>
          </a:p>
        </p:txBody>
      </p:sp>
    </p:spTree>
    <p:extLst>
      <p:ext uri="{BB962C8B-B14F-4D97-AF65-F5344CB8AC3E}">
        <p14:creationId xmlns:p14="http://schemas.microsoft.com/office/powerpoint/2010/main" val="343746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0ABBD7-5DE4-192B-FCC0-32562A736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AWS can save lives and prevent harm, resulting in an ethical requirement to have AWS as an option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60DF5D-F5D7-09D1-E67A-1FD9AB3CA3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If there are two methods of achieving an objective, we are morally required to choose the method with lower risk (</a:t>
            </a:r>
            <a:r>
              <a:rPr lang="en-GB" dirty="0" err="1"/>
              <a:t>Riesen</a:t>
            </a:r>
            <a:r>
              <a:rPr lang="en-GB" dirty="0"/>
              <a:t>, 2022)</a:t>
            </a:r>
          </a:p>
          <a:p>
            <a:pPr lvl="1"/>
            <a:r>
              <a:rPr lang="en-GB" dirty="0"/>
              <a:t>Over 30,000 U.S. soldiers wounded in action and ~3,500 killed in action by July 2008 (Goldberg, 2010)</a:t>
            </a:r>
          </a:p>
          <a:p>
            <a:pPr lvl="1"/>
            <a:r>
              <a:rPr lang="en-GB" dirty="0"/>
              <a:t>29% of Iraq War veterans have experienced symptoms of PTSD (U.S. Department of Veteran Affairs, 2023)</a:t>
            </a:r>
          </a:p>
          <a:p>
            <a:pPr lvl="1"/>
            <a:r>
              <a:rPr lang="en-GB" dirty="0"/>
              <a:t>Risk of putting soldiers in positions to commit war crimes</a:t>
            </a:r>
          </a:p>
          <a:p>
            <a:r>
              <a:rPr lang="en-GB" dirty="0"/>
              <a:t>AWS can reduce or prevent lethal, psychological, and moral harms to soldiers (</a:t>
            </a:r>
            <a:r>
              <a:rPr lang="en-GB" dirty="0" err="1"/>
              <a:t>Riesen</a:t>
            </a:r>
            <a:r>
              <a:rPr lang="en-GB" dirty="0"/>
              <a:t>, 2022)</a:t>
            </a:r>
          </a:p>
          <a:p>
            <a:r>
              <a:rPr lang="en-GB" dirty="0"/>
              <a:t>It is in the Public Interest to have fewer soldiers harmed, for economic, social, and moral reasons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45A85C01-3251-1641-6761-2D85159065C7}"/>
              </a:ext>
            </a:extLst>
          </p:cNvPr>
          <p:cNvSpPr/>
          <p:nvPr/>
        </p:nvSpPr>
        <p:spPr>
          <a:xfrm>
            <a:off x="1252528" y="82146"/>
            <a:ext cx="1296144" cy="171691"/>
          </a:xfrm>
          <a:prstGeom prst="homePlat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Definition &amp; Scope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ECAF80F9-6C01-C23B-223C-70AFC9548461}"/>
              </a:ext>
            </a:extLst>
          </p:cNvPr>
          <p:cNvSpPr/>
          <p:nvPr/>
        </p:nvSpPr>
        <p:spPr>
          <a:xfrm>
            <a:off x="2521577" y="82146"/>
            <a:ext cx="1296144" cy="171691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/>
              <a:t>Arguments for</a:t>
            </a:r>
            <a:endParaRPr lang="en-GB" sz="1000" b="1" dirty="0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B837974B-D22D-77A4-83B0-F29C43834DC6}"/>
              </a:ext>
            </a:extLst>
          </p:cNvPr>
          <p:cNvSpPr/>
          <p:nvPr/>
        </p:nvSpPr>
        <p:spPr>
          <a:xfrm>
            <a:off x="3790626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Arguments against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69470899-2847-9767-9937-F43A65A38B2F}"/>
              </a:ext>
            </a:extLst>
          </p:cNvPr>
          <p:cNvSpPr/>
          <p:nvPr/>
        </p:nvSpPr>
        <p:spPr>
          <a:xfrm>
            <a:off x="5059675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Policies &amp; Regulation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B254FB25-FF79-99C1-42C7-F1E9AE57CF3E}"/>
              </a:ext>
            </a:extLst>
          </p:cNvPr>
          <p:cNvSpPr/>
          <p:nvPr/>
        </p:nvSpPr>
        <p:spPr>
          <a:xfrm>
            <a:off x="6328724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Conclusion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68FB7C2C-138A-E83C-12D7-3DAF9D8B846C}"/>
              </a:ext>
            </a:extLst>
          </p:cNvPr>
          <p:cNvSpPr/>
          <p:nvPr/>
        </p:nvSpPr>
        <p:spPr>
          <a:xfrm>
            <a:off x="7597773" y="82146"/>
            <a:ext cx="1296144" cy="171691"/>
          </a:xfrm>
          <a:prstGeom prst="chevron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bg1"/>
                </a:solidFill>
              </a:rPr>
              <a:t>References</a:t>
            </a:r>
            <a:endParaRPr lang="en-GB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7411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DCE60-F641-5789-BC11-5869970C2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AWS can reduce risk of harm to non-combatants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F83AF-0D02-FA58-C61A-D87CDFE0B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Non-combatant deaths from military actions increased 56% in the first four years of the Iraq War (Goldberg, 2010)</a:t>
            </a:r>
          </a:p>
          <a:p>
            <a:r>
              <a:rPr lang="en-GB" dirty="0"/>
              <a:t>As most vulnerable non-users of war technology, the risk to civilians in war can be reduced by using AWS:</a:t>
            </a:r>
          </a:p>
          <a:p>
            <a:pPr lvl="1"/>
            <a:r>
              <a:rPr lang="en-GB" dirty="0"/>
              <a:t>Greater access to more information and stronger ability to integrate systems and digest volume of data (Arkin, 2010)</a:t>
            </a:r>
          </a:p>
          <a:p>
            <a:pPr lvl="1"/>
            <a:r>
              <a:rPr lang="en-GB" dirty="0"/>
              <a:t>No sense of self-preservation prioritised over civilian safety (Arkin, 2010), (</a:t>
            </a:r>
            <a:r>
              <a:rPr lang="en-GB" dirty="0" err="1"/>
              <a:t>Riesen</a:t>
            </a:r>
            <a:r>
              <a:rPr lang="en-GB" dirty="0"/>
              <a:t>, 2022)</a:t>
            </a:r>
          </a:p>
          <a:p>
            <a:pPr lvl="1"/>
            <a:r>
              <a:rPr lang="en-GB" dirty="0"/>
              <a:t>No degradation of effectiveness through fear, strict rules of engagement met (Sharkey, 2010)</a:t>
            </a:r>
          </a:p>
          <a:p>
            <a:r>
              <a:rPr lang="en-GB" dirty="0"/>
              <a:t>Any option of achieving an objective with minimal risk to civilians needs to be considered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6AC30E80-4C60-E1F0-1932-58BF54F38037}"/>
              </a:ext>
            </a:extLst>
          </p:cNvPr>
          <p:cNvSpPr/>
          <p:nvPr/>
        </p:nvSpPr>
        <p:spPr>
          <a:xfrm>
            <a:off x="1252528" y="82146"/>
            <a:ext cx="1296144" cy="171691"/>
          </a:xfrm>
          <a:prstGeom prst="homePlat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Definition &amp; Scope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66279D36-8783-9B19-F8E5-1BFDA7FC2D15}"/>
              </a:ext>
            </a:extLst>
          </p:cNvPr>
          <p:cNvSpPr/>
          <p:nvPr/>
        </p:nvSpPr>
        <p:spPr>
          <a:xfrm>
            <a:off x="2521577" y="82146"/>
            <a:ext cx="1296144" cy="171691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/>
              <a:t>Arguments for</a:t>
            </a:r>
            <a:endParaRPr lang="en-GB" sz="1000" b="1" dirty="0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A8107DB7-D26F-A46D-74E7-E7B808D296BB}"/>
              </a:ext>
            </a:extLst>
          </p:cNvPr>
          <p:cNvSpPr/>
          <p:nvPr/>
        </p:nvSpPr>
        <p:spPr>
          <a:xfrm>
            <a:off x="3790626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Arguments against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E61833DC-05FC-DD94-DF4D-EEBFB381612E}"/>
              </a:ext>
            </a:extLst>
          </p:cNvPr>
          <p:cNvSpPr/>
          <p:nvPr/>
        </p:nvSpPr>
        <p:spPr>
          <a:xfrm>
            <a:off x="5059675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Policies &amp; Regulation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55B7381F-36CB-E541-6390-AAFAEF85DF5B}"/>
              </a:ext>
            </a:extLst>
          </p:cNvPr>
          <p:cNvSpPr/>
          <p:nvPr/>
        </p:nvSpPr>
        <p:spPr>
          <a:xfrm>
            <a:off x="6328724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Conclusion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EF1F573A-DEE3-C9D7-61DA-3110F7F490BF}"/>
              </a:ext>
            </a:extLst>
          </p:cNvPr>
          <p:cNvSpPr/>
          <p:nvPr/>
        </p:nvSpPr>
        <p:spPr>
          <a:xfrm>
            <a:off x="7597773" y="82146"/>
            <a:ext cx="1296144" cy="171691"/>
          </a:xfrm>
          <a:prstGeom prst="chevron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bg1"/>
                </a:solidFill>
              </a:rPr>
              <a:t>References</a:t>
            </a:r>
            <a:endParaRPr lang="en-GB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5326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5FE74-D2D1-AC1B-22B4-D1B76354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Arguments against the development and deployment of AWS and responses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BD51F-3348-5EEA-3FB4-16EF584E0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Autonomous Weapon Systems: </a:t>
            </a:r>
            <a:r>
              <a:rPr lang="en-gb" dirty="0"/>
              <a:t>Ethical reasons for its development and deployment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270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0B2465-275A-40E7-7237-FD14FAB5C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When accidents happen, distributed accountability will lead to moral vacuums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9A2F-09CE-4A8F-76A5-EC6D6AA3F9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876" y="1700808"/>
            <a:ext cx="5832648" cy="4536504"/>
          </a:xfrm>
        </p:spPr>
        <p:txBody>
          <a:bodyPr>
            <a:normAutofit/>
          </a:bodyPr>
          <a:lstStyle/>
          <a:p>
            <a:r>
              <a:rPr lang="en-GB" dirty="0"/>
              <a:t>A ‘moral vacuum’ will arise from transfer of judgement from people to computers (Emery, 2021)</a:t>
            </a:r>
          </a:p>
          <a:p>
            <a:r>
              <a:rPr lang="en-GB" dirty="0"/>
              <a:t>Difficult to assign accountability to such a distributed set of people and responsibilities (</a:t>
            </a:r>
            <a:r>
              <a:rPr lang="en-GB" dirty="0" err="1"/>
              <a:t>Nissenbaum</a:t>
            </a:r>
            <a:r>
              <a:rPr lang="en-GB" dirty="0"/>
              <a:t>, 1996)</a:t>
            </a:r>
          </a:p>
          <a:p>
            <a:r>
              <a:rPr lang="en-GB" dirty="0"/>
              <a:t>Unless we can hold someone legally responsible for AWS ‘war crimes’, then AWS cannot be used (Sharkey, 2010)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8E087D98-544B-214E-14A9-276686E3CB4F}"/>
              </a:ext>
            </a:extLst>
          </p:cNvPr>
          <p:cNvSpPr/>
          <p:nvPr/>
        </p:nvSpPr>
        <p:spPr>
          <a:xfrm>
            <a:off x="1252528" y="82146"/>
            <a:ext cx="1296144" cy="171691"/>
          </a:xfrm>
          <a:prstGeom prst="homePlat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Definition &amp; Scope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E1BC9AD9-59BA-A12F-2984-450934305BD4}"/>
              </a:ext>
            </a:extLst>
          </p:cNvPr>
          <p:cNvSpPr/>
          <p:nvPr/>
        </p:nvSpPr>
        <p:spPr>
          <a:xfrm>
            <a:off x="2521577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/>
              <a:t>Arguments for</a:t>
            </a:r>
            <a:endParaRPr lang="en-GB" sz="1000" dirty="0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84112077-8504-10BE-A5C2-331DF1882D40}"/>
              </a:ext>
            </a:extLst>
          </p:cNvPr>
          <p:cNvSpPr/>
          <p:nvPr/>
        </p:nvSpPr>
        <p:spPr>
          <a:xfrm>
            <a:off x="3790626" y="82146"/>
            <a:ext cx="1296144" cy="171691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/>
              <a:t>Arguments against</a:t>
            </a:r>
            <a:endParaRPr lang="en-GB" sz="1000" b="1" dirty="0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9479476-713E-BD5A-F7B0-7FEA6B16EB86}"/>
              </a:ext>
            </a:extLst>
          </p:cNvPr>
          <p:cNvSpPr/>
          <p:nvPr/>
        </p:nvSpPr>
        <p:spPr>
          <a:xfrm>
            <a:off x="5059675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Policies &amp; Regulation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77C6C398-FDC0-1EE4-3F27-68F8AE647552}"/>
              </a:ext>
            </a:extLst>
          </p:cNvPr>
          <p:cNvSpPr/>
          <p:nvPr/>
        </p:nvSpPr>
        <p:spPr>
          <a:xfrm>
            <a:off x="6328724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Conclusion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B6B6D992-9A4B-5D6F-B212-7C1F32BB8E08}"/>
              </a:ext>
            </a:extLst>
          </p:cNvPr>
          <p:cNvSpPr/>
          <p:nvPr/>
        </p:nvSpPr>
        <p:spPr>
          <a:xfrm>
            <a:off x="7597773" y="82146"/>
            <a:ext cx="1296144" cy="171691"/>
          </a:xfrm>
          <a:prstGeom prst="chevron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bg1"/>
                </a:solidFill>
              </a:rPr>
              <a:t>References</a:t>
            </a:r>
            <a:endParaRPr lang="en-GB" sz="1000" dirty="0">
              <a:solidFill>
                <a:schemeClr val="bg1"/>
              </a:solidFill>
            </a:endParaRPr>
          </a:p>
        </p:txBody>
      </p:sp>
      <p:pic>
        <p:nvPicPr>
          <p:cNvPr id="15" name="Picture 14" descr="Gavel resting on block">
            <a:extLst>
              <a:ext uri="{FF2B5EF4-FFF2-40B4-BE49-F238E27FC236}">
                <a16:creationId xmlns:a16="http://schemas.microsoft.com/office/drawing/2014/main" id="{ADA8ACD8-1BE4-3E5E-DB4E-2C1DE24EB24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8588" y="1796645"/>
            <a:ext cx="3600400" cy="240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397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5A2BF-9AED-0817-E28D-394B5AD62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Response:</a:t>
            </a:r>
            <a:r>
              <a:rPr lang="en-GB" dirty="0"/>
              <a:t> When accidents happen, distributed accountability will lead to moral vacuums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CAF3A-D30C-2D36-3B55-0762BD3FA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No different to ‘smart’ weapons used today (</a:t>
            </a:r>
            <a:r>
              <a:rPr lang="en-GB" dirty="0" err="1"/>
              <a:t>Shieman</a:t>
            </a:r>
            <a:r>
              <a:rPr lang="en-GB" dirty="0"/>
              <a:t>, 2022)</a:t>
            </a:r>
          </a:p>
          <a:p>
            <a:r>
              <a:rPr lang="en-GB" dirty="0"/>
              <a:t>Moral responsibility falls to those that ordered the action (International Committee of the Red Cross, 1977*)</a:t>
            </a:r>
          </a:p>
          <a:p>
            <a:pPr lvl="1"/>
            <a:r>
              <a:rPr lang="en-GB" dirty="0"/>
              <a:t>Fire bombings of Japan in World War 2</a:t>
            </a:r>
          </a:p>
          <a:p>
            <a:pPr lvl="1"/>
            <a:r>
              <a:rPr lang="en-GB" dirty="0"/>
              <a:t>Similarly, analogy to the moral responsibility of the acts of child soldiers can be drawn (</a:t>
            </a:r>
            <a:r>
              <a:rPr lang="en-GB" dirty="0" err="1"/>
              <a:t>Riesen</a:t>
            </a:r>
            <a:r>
              <a:rPr lang="en-GB" dirty="0"/>
              <a:t>, 2022)</a:t>
            </a:r>
          </a:p>
          <a:p>
            <a:pPr lvl="1"/>
            <a:r>
              <a:rPr lang="en-GB" dirty="0"/>
              <a:t>Even today, while the human soldier is fully responsible for their acts, the chain of command should also bear responsibility (</a:t>
            </a:r>
            <a:r>
              <a:rPr lang="en-GB" dirty="0" err="1"/>
              <a:t>Shieman</a:t>
            </a:r>
            <a:r>
              <a:rPr lang="en-GB" dirty="0"/>
              <a:t>, 2022)</a:t>
            </a:r>
          </a:p>
          <a:p>
            <a:r>
              <a:rPr lang="en-GB" dirty="0"/>
              <a:t>Responsibility will also rest on those that develop the technology and those that set the standards / tolerances and tests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CCBE0E57-EF24-1414-BB05-008D9A224E46}"/>
              </a:ext>
            </a:extLst>
          </p:cNvPr>
          <p:cNvSpPr/>
          <p:nvPr/>
        </p:nvSpPr>
        <p:spPr>
          <a:xfrm>
            <a:off x="1252528" y="82146"/>
            <a:ext cx="1296144" cy="171691"/>
          </a:xfrm>
          <a:prstGeom prst="homePlat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Definition &amp; Scope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0B004AF8-48B2-99DC-A575-0027C84B98B5}"/>
              </a:ext>
            </a:extLst>
          </p:cNvPr>
          <p:cNvSpPr/>
          <p:nvPr/>
        </p:nvSpPr>
        <p:spPr>
          <a:xfrm>
            <a:off x="2521577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/>
              <a:t>Arguments for</a:t>
            </a:r>
            <a:endParaRPr lang="en-GB" sz="1000" dirty="0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28730A5A-A382-A2A3-4778-448E930F30A6}"/>
              </a:ext>
            </a:extLst>
          </p:cNvPr>
          <p:cNvSpPr/>
          <p:nvPr/>
        </p:nvSpPr>
        <p:spPr>
          <a:xfrm>
            <a:off x="3790626" y="82146"/>
            <a:ext cx="1296144" cy="171691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/>
              <a:t>Arguments against</a:t>
            </a:r>
            <a:endParaRPr lang="en-GB" sz="1000" b="1" dirty="0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3817F335-1166-F46B-4209-649D25A53B61}"/>
              </a:ext>
            </a:extLst>
          </p:cNvPr>
          <p:cNvSpPr/>
          <p:nvPr/>
        </p:nvSpPr>
        <p:spPr>
          <a:xfrm>
            <a:off x="5059675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Policies &amp; Regulation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1F5F76FA-BC35-5538-E9DD-FBC57D9AA9D7}"/>
              </a:ext>
            </a:extLst>
          </p:cNvPr>
          <p:cNvSpPr/>
          <p:nvPr/>
        </p:nvSpPr>
        <p:spPr>
          <a:xfrm>
            <a:off x="6328724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Conclusion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DC87BF42-D94F-DEED-0147-4B61A6C36513}"/>
              </a:ext>
            </a:extLst>
          </p:cNvPr>
          <p:cNvSpPr/>
          <p:nvPr/>
        </p:nvSpPr>
        <p:spPr>
          <a:xfrm>
            <a:off x="7597773" y="82146"/>
            <a:ext cx="1296144" cy="171691"/>
          </a:xfrm>
          <a:prstGeom prst="chevron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bg1"/>
                </a:solidFill>
              </a:rPr>
              <a:t>References</a:t>
            </a:r>
            <a:endParaRPr lang="en-GB" sz="1000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EA6538-0DCE-2C35-7757-6904335E9806}"/>
              </a:ext>
            </a:extLst>
          </p:cNvPr>
          <p:cNvSpPr txBox="1"/>
          <p:nvPr/>
        </p:nvSpPr>
        <p:spPr>
          <a:xfrm>
            <a:off x="1218883" y="6367266"/>
            <a:ext cx="9001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Note:</a:t>
            </a:r>
            <a:r>
              <a:rPr lang="en-GB" sz="1100" dirty="0"/>
              <a:t> *Article 86 of the Additional Protocol I 1977 to the Geneva Conventions of 1949</a:t>
            </a:r>
            <a:endParaRPr lang="en-GB" sz="1100" b="1" dirty="0"/>
          </a:p>
        </p:txBody>
      </p:sp>
    </p:spTree>
    <p:extLst>
      <p:ext uri="{BB962C8B-B14F-4D97-AF65-F5344CB8AC3E}">
        <p14:creationId xmlns:p14="http://schemas.microsoft.com/office/powerpoint/2010/main" val="72015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85FC4-69D0-6FBD-C0C8-FAF0E295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AWS undermines human dignity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CB6A-96BA-6CDB-6090-9C1F9F077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No consensus developed on the definition or scope of ‘human dignity’ (Sharkey, 2018)</a:t>
            </a:r>
          </a:p>
          <a:p>
            <a:r>
              <a:rPr lang="en-GB" dirty="0"/>
              <a:t>For this discussion, does not refer to the act of war itself, as this would be true of all weapons (Sharkey, 2010)</a:t>
            </a:r>
          </a:p>
          <a:p>
            <a:r>
              <a:rPr lang="en-GB" dirty="0"/>
              <a:t>Human life should only be able to be taken by an entity that understands the value of human life, which AWS could not (Sharkey, 2018)</a:t>
            </a:r>
          </a:p>
          <a:p>
            <a:r>
              <a:rPr lang="en-GB" dirty="0"/>
              <a:t>It is ‘undignified’ or ‘cruel’ to have your life taken by a ‘lower’ entity (Sharkey, 2018) or to be seen as being ‘exterminated’ like vermin (Kahn, 2022)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790B070C-7147-A6A8-EF2A-43F6432781A0}"/>
              </a:ext>
            </a:extLst>
          </p:cNvPr>
          <p:cNvSpPr/>
          <p:nvPr/>
        </p:nvSpPr>
        <p:spPr>
          <a:xfrm>
            <a:off x="1252528" y="82146"/>
            <a:ext cx="1296144" cy="171691"/>
          </a:xfrm>
          <a:prstGeom prst="homePlat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Definition &amp; Scope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D4B9D7FA-2C4C-3F73-DCBD-29F441771BC0}"/>
              </a:ext>
            </a:extLst>
          </p:cNvPr>
          <p:cNvSpPr/>
          <p:nvPr/>
        </p:nvSpPr>
        <p:spPr>
          <a:xfrm>
            <a:off x="2521577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/>
              <a:t>Arguments for</a:t>
            </a:r>
            <a:endParaRPr lang="en-GB" sz="1000" dirty="0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EBA6D23F-E9B9-2E75-EC1A-B1908F9C9242}"/>
              </a:ext>
            </a:extLst>
          </p:cNvPr>
          <p:cNvSpPr/>
          <p:nvPr/>
        </p:nvSpPr>
        <p:spPr>
          <a:xfrm>
            <a:off x="3790626" y="82146"/>
            <a:ext cx="1296144" cy="171691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/>
              <a:t>Arguments against</a:t>
            </a:r>
            <a:endParaRPr lang="en-GB" sz="1000" b="1" dirty="0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B96249D-4982-658F-2CE7-ADF7DE3A0BBA}"/>
              </a:ext>
            </a:extLst>
          </p:cNvPr>
          <p:cNvSpPr/>
          <p:nvPr/>
        </p:nvSpPr>
        <p:spPr>
          <a:xfrm>
            <a:off x="5059675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Policies &amp; Regulation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5FBFAF3F-1509-DABB-A56C-115FB8C90540}"/>
              </a:ext>
            </a:extLst>
          </p:cNvPr>
          <p:cNvSpPr/>
          <p:nvPr/>
        </p:nvSpPr>
        <p:spPr>
          <a:xfrm>
            <a:off x="6328724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Conclusion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97E9F606-CF79-E7BB-A07A-2934D983A12C}"/>
              </a:ext>
            </a:extLst>
          </p:cNvPr>
          <p:cNvSpPr/>
          <p:nvPr/>
        </p:nvSpPr>
        <p:spPr>
          <a:xfrm>
            <a:off x="7597773" y="82146"/>
            <a:ext cx="1296144" cy="171691"/>
          </a:xfrm>
          <a:prstGeom prst="chevron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bg1"/>
                </a:solidFill>
              </a:rPr>
              <a:t>References</a:t>
            </a:r>
            <a:endParaRPr lang="en-GB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1464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B85FC4-69D0-6FBD-C0C8-FAF0E2953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Response:</a:t>
            </a:r>
            <a:r>
              <a:rPr lang="en-GB" dirty="0"/>
              <a:t> AWS undermines human dignity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0BCB6A-96BA-6CDB-6090-9C1F9F077C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9876" y="1701797"/>
            <a:ext cx="10360501" cy="4462272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We would see these principles and values reflected in its design, manufacture, testing and maintenance (</a:t>
            </a:r>
            <a:r>
              <a:rPr lang="en-GB" dirty="0" err="1"/>
              <a:t>Riesen</a:t>
            </a:r>
            <a:r>
              <a:rPr lang="en-GB" dirty="0"/>
              <a:t>, 2022)</a:t>
            </a:r>
          </a:p>
          <a:p>
            <a:r>
              <a:rPr lang="en-GB" dirty="0"/>
              <a:t>We would also see the value of human life reflected in the standards we set for the AWS to be passed into service</a:t>
            </a:r>
          </a:p>
          <a:p>
            <a:pPr lvl="1"/>
            <a:r>
              <a:rPr lang="en-GB" dirty="0"/>
              <a:t>So long as the risks are lower than human soldiers, it is morally justified (Simpson &amp; Müller, 2016)</a:t>
            </a:r>
          </a:p>
          <a:p>
            <a:r>
              <a:rPr lang="en-GB" dirty="0"/>
              <a:t>Respect for human life also reflected in decision to deploy (nor not deploy) weapon systems</a:t>
            </a:r>
          </a:p>
          <a:p>
            <a:r>
              <a:rPr lang="en-GB" dirty="0"/>
              <a:t>‘Cruelty’ of having life taken by a ‘lower’ entity must be secondary to the saving of human life (Kahn, 2022)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790B070C-7147-A6A8-EF2A-43F6432781A0}"/>
              </a:ext>
            </a:extLst>
          </p:cNvPr>
          <p:cNvSpPr/>
          <p:nvPr/>
        </p:nvSpPr>
        <p:spPr>
          <a:xfrm>
            <a:off x="1252528" y="82146"/>
            <a:ext cx="1296144" cy="171691"/>
          </a:xfrm>
          <a:prstGeom prst="homePlat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Definition &amp; Scope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D4B9D7FA-2C4C-3F73-DCBD-29F441771BC0}"/>
              </a:ext>
            </a:extLst>
          </p:cNvPr>
          <p:cNvSpPr/>
          <p:nvPr/>
        </p:nvSpPr>
        <p:spPr>
          <a:xfrm>
            <a:off x="2521577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/>
              <a:t>Arguments for</a:t>
            </a:r>
            <a:endParaRPr lang="en-GB" sz="1000" dirty="0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EBA6D23F-E9B9-2E75-EC1A-B1908F9C9242}"/>
              </a:ext>
            </a:extLst>
          </p:cNvPr>
          <p:cNvSpPr/>
          <p:nvPr/>
        </p:nvSpPr>
        <p:spPr>
          <a:xfrm>
            <a:off x="3790626" y="82146"/>
            <a:ext cx="1296144" cy="171691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/>
              <a:t>Arguments against</a:t>
            </a:r>
            <a:endParaRPr lang="en-GB" sz="1000" b="1" dirty="0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CB96249D-4982-658F-2CE7-ADF7DE3A0BBA}"/>
              </a:ext>
            </a:extLst>
          </p:cNvPr>
          <p:cNvSpPr/>
          <p:nvPr/>
        </p:nvSpPr>
        <p:spPr>
          <a:xfrm>
            <a:off x="5059675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Policies &amp; Regulation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5FBFAF3F-1509-DABB-A56C-115FB8C90540}"/>
              </a:ext>
            </a:extLst>
          </p:cNvPr>
          <p:cNvSpPr/>
          <p:nvPr/>
        </p:nvSpPr>
        <p:spPr>
          <a:xfrm>
            <a:off x="6328724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Conclusion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97E9F606-CF79-E7BB-A07A-2934D983A12C}"/>
              </a:ext>
            </a:extLst>
          </p:cNvPr>
          <p:cNvSpPr/>
          <p:nvPr/>
        </p:nvSpPr>
        <p:spPr>
          <a:xfrm>
            <a:off x="7597773" y="82146"/>
            <a:ext cx="1296144" cy="171691"/>
          </a:xfrm>
          <a:prstGeom prst="chevron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bg1"/>
                </a:solidFill>
              </a:rPr>
              <a:t>References</a:t>
            </a:r>
            <a:endParaRPr lang="en-GB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738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5FE74-D2D1-AC1B-22B4-D1B76354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Suggested policies and regulation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BD51F-3348-5EEA-3FB4-16EF584E0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Autonomous Weapon Systems: </a:t>
            </a:r>
            <a:r>
              <a:rPr lang="en-gb" dirty="0"/>
              <a:t>Ethical reasons for its development and deployment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0537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71FFB-84B5-823A-6988-596D3502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Suggested policies and regulation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D210B-AA2C-4C54-AAF6-A9D27A3EA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360501" cy="4751539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Policy on AWS should encourage responsible development of AWS – subject to legal and moral infrastructure being put into place</a:t>
            </a:r>
          </a:p>
          <a:p>
            <a:r>
              <a:rPr lang="en-GB" b="1" dirty="0"/>
              <a:t>Minimum</a:t>
            </a:r>
            <a:r>
              <a:rPr lang="en-GB" dirty="0"/>
              <a:t>:</a:t>
            </a:r>
          </a:p>
          <a:p>
            <a:pPr lvl="1"/>
            <a:r>
              <a:rPr lang="en-GB" dirty="0"/>
              <a:t>Legal – subject and able to follow ‘Laws of War’ and respect human rights</a:t>
            </a:r>
          </a:p>
          <a:p>
            <a:pPr lvl="1"/>
            <a:r>
              <a:rPr lang="en-GB" dirty="0"/>
              <a:t>Have risk, reliability, and confidences that meet or exceed current ability of alternative weapon systems (including human soldiers)</a:t>
            </a:r>
          </a:p>
          <a:p>
            <a:pPr lvl="1"/>
            <a:r>
              <a:rPr lang="en-GB" dirty="0"/>
              <a:t>Establish a framework for assessing lethal, psychological, and moral risk and a threshold that justifies the deployment of AWS</a:t>
            </a:r>
          </a:p>
          <a:p>
            <a:pPr lvl="1"/>
            <a:r>
              <a:rPr lang="en-GB" dirty="0"/>
              <a:t>Put into law that the legal and moral responsibility for any war crimes or breaches of the above will lie with those that design and deploy</a:t>
            </a:r>
          </a:p>
          <a:p>
            <a:r>
              <a:rPr lang="en-GB" b="1" dirty="0"/>
              <a:t>Recommended:</a:t>
            </a:r>
          </a:p>
          <a:p>
            <a:pPr lvl="1"/>
            <a:r>
              <a:rPr lang="en-GB" dirty="0"/>
              <a:t>Be designed and maintained by recognised professional bodies of robotics, weapons and AI engineers to ensure minimum levels of competence and ethical consideration</a:t>
            </a:r>
          </a:p>
          <a:p>
            <a:pPr lvl="1"/>
            <a:r>
              <a:rPr lang="en-GB" dirty="0"/>
              <a:t>Put into policy that non-lethal AWS and other alternatives be considered before deployment of LAWS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5D4D3265-5F7F-584A-9A2F-CA2EF7783CBC}"/>
              </a:ext>
            </a:extLst>
          </p:cNvPr>
          <p:cNvSpPr/>
          <p:nvPr/>
        </p:nvSpPr>
        <p:spPr>
          <a:xfrm>
            <a:off x="1252528" y="82146"/>
            <a:ext cx="1296144" cy="171691"/>
          </a:xfrm>
          <a:prstGeom prst="homePlat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Definition &amp; Scope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A00DDF08-8783-9EAD-32D7-5F6BADB299D6}"/>
              </a:ext>
            </a:extLst>
          </p:cNvPr>
          <p:cNvSpPr/>
          <p:nvPr/>
        </p:nvSpPr>
        <p:spPr>
          <a:xfrm>
            <a:off x="2521577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/>
              <a:t>Arguments for</a:t>
            </a:r>
            <a:endParaRPr lang="en-GB" sz="1000" dirty="0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DC566D6F-68F0-EB8E-127A-3C3335833F87}"/>
              </a:ext>
            </a:extLst>
          </p:cNvPr>
          <p:cNvSpPr/>
          <p:nvPr/>
        </p:nvSpPr>
        <p:spPr>
          <a:xfrm>
            <a:off x="3790626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/>
              <a:t>Arguments against</a:t>
            </a:r>
            <a:endParaRPr lang="en-GB" sz="1000" dirty="0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4A6ED1C-FC45-A3C5-0C2B-6DF4FF8794D1}"/>
              </a:ext>
            </a:extLst>
          </p:cNvPr>
          <p:cNvSpPr/>
          <p:nvPr/>
        </p:nvSpPr>
        <p:spPr>
          <a:xfrm>
            <a:off x="5059675" y="82146"/>
            <a:ext cx="1296144" cy="171691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 dirty="0"/>
              <a:t>Policies </a:t>
            </a:r>
            <a:r>
              <a:rPr lang="en-GB" sz="1000" b="1"/>
              <a:t>&amp; Regulation</a:t>
            </a:r>
            <a:endParaRPr lang="en-GB" sz="1000" b="1" dirty="0"/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77786DF2-5101-3A6F-4CF2-82E4FF9C3883}"/>
              </a:ext>
            </a:extLst>
          </p:cNvPr>
          <p:cNvSpPr/>
          <p:nvPr/>
        </p:nvSpPr>
        <p:spPr>
          <a:xfrm>
            <a:off x="6328724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Conclusion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E7655A0F-79ED-FBE6-B34D-7A499C71B96F}"/>
              </a:ext>
            </a:extLst>
          </p:cNvPr>
          <p:cNvSpPr/>
          <p:nvPr/>
        </p:nvSpPr>
        <p:spPr>
          <a:xfrm>
            <a:off x="7597773" y="82146"/>
            <a:ext cx="1296144" cy="171691"/>
          </a:xfrm>
          <a:prstGeom prst="chevron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bg1"/>
                </a:solidFill>
              </a:rPr>
              <a:t>References</a:t>
            </a:r>
            <a:endParaRPr lang="en-GB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838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5FE74-D2D1-AC1B-22B4-D1B76354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BD51F-3348-5EEA-3FB4-16EF584E0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Autonomous Weapon Systems: </a:t>
            </a:r>
            <a:r>
              <a:rPr lang="en-gb" dirty="0"/>
              <a:t>Ethical reasons for its development and deployment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73885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71FFB-84B5-823A-6988-596D3502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D210B-AA2C-4C54-AAF6-A9D27A3EA8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1796"/>
            <a:ext cx="10360501" cy="475153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AWS in future warfare seems inevitable – each country must protect its citizens</a:t>
            </a:r>
          </a:p>
          <a:p>
            <a:r>
              <a:rPr lang="en-GB" dirty="0"/>
              <a:t>AWS could be the most ethically responsible choice under certain conditions where harm to combatants and non-combatants is minimised</a:t>
            </a:r>
          </a:p>
          <a:p>
            <a:r>
              <a:rPr lang="en-GB" dirty="0"/>
              <a:t>Issues relating to moral vacuums and accountability will not necessarily be expanded by introduction of AWS</a:t>
            </a:r>
          </a:p>
          <a:p>
            <a:r>
              <a:rPr lang="en-GB" dirty="0"/>
              <a:t>Human dignity, on balance, may not be undermined by AWS</a:t>
            </a:r>
          </a:p>
          <a:p>
            <a:r>
              <a:rPr lang="en-GB" dirty="0"/>
              <a:t>With these factors considered, AWS should be seen as ethically permissible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5D4D3265-5F7F-584A-9A2F-CA2EF7783CBC}"/>
              </a:ext>
            </a:extLst>
          </p:cNvPr>
          <p:cNvSpPr/>
          <p:nvPr/>
        </p:nvSpPr>
        <p:spPr>
          <a:xfrm>
            <a:off x="1252528" y="82146"/>
            <a:ext cx="1296144" cy="171691"/>
          </a:xfrm>
          <a:prstGeom prst="homePlat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Definition &amp; Scope</a:t>
            </a:r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A00DDF08-8783-9EAD-32D7-5F6BADB299D6}"/>
              </a:ext>
            </a:extLst>
          </p:cNvPr>
          <p:cNvSpPr/>
          <p:nvPr/>
        </p:nvSpPr>
        <p:spPr>
          <a:xfrm>
            <a:off x="2521577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/>
              <a:t>Arguments for</a:t>
            </a:r>
            <a:endParaRPr lang="en-GB" sz="1000" dirty="0"/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DC566D6F-68F0-EB8E-127A-3C3335833F87}"/>
              </a:ext>
            </a:extLst>
          </p:cNvPr>
          <p:cNvSpPr/>
          <p:nvPr/>
        </p:nvSpPr>
        <p:spPr>
          <a:xfrm>
            <a:off x="3790626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/>
              <a:t>Arguments against</a:t>
            </a:r>
            <a:endParaRPr lang="en-GB" sz="1000" dirty="0"/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4A6ED1C-FC45-A3C5-0C2B-6DF4FF8794D1}"/>
              </a:ext>
            </a:extLst>
          </p:cNvPr>
          <p:cNvSpPr/>
          <p:nvPr/>
        </p:nvSpPr>
        <p:spPr>
          <a:xfrm>
            <a:off x="5059675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Policies &amp; Regulation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77786DF2-5101-3A6F-4CF2-82E4FF9C3883}"/>
              </a:ext>
            </a:extLst>
          </p:cNvPr>
          <p:cNvSpPr/>
          <p:nvPr/>
        </p:nvSpPr>
        <p:spPr>
          <a:xfrm>
            <a:off x="6328724" y="82146"/>
            <a:ext cx="1296144" cy="171691"/>
          </a:xfrm>
          <a:prstGeom prst="chevr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/>
              <a:t>Conclusion</a:t>
            </a:r>
            <a:endParaRPr lang="en-GB" sz="1000" b="1" dirty="0"/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E7655A0F-79ED-FBE6-B34D-7A499C71B96F}"/>
              </a:ext>
            </a:extLst>
          </p:cNvPr>
          <p:cNvSpPr/>
          <p:nvPr/>
        </p:nvSpPr>
        <p:spPr>
          <a:xfrm>
            <a:off x="7597773" y="82146"/>
            <a:ext cx="1296144" cy="171691"/>
          </a:xfrm>
          <a:prstGeom prst="chevron">
            <a:avLst/>
          </a:prstGeom>
          <a:solidFill>
            <a:schemeClr val="tx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>
                <a:solidFill>
                  <a:schemeClr val="bg1"/>
                </a:solidFill>
              </a:rPr>
              <a:t>References</a:t>
            </a:r>
            <a:endParaRPr lang="en-GB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1855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5FE74-D2D1-AC1B-22B4-D1B763543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8BD51F-3348-5EEA-3FB4-16EF584E04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b="1" dirty="0"/>
              <a:t>Autonomous Weapon Systems: </a:t>
            </a:r>
            <a:r>
              <a:rPr lang="en-gb" dirty="0"/>
              <a:t>Ethical reasons for its development and deployment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77962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9A569-9402-6ACC-1BE3-D2CDB7E96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 (page 1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D6BCB-1E57-19DC-1772-C15466BF3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57188" indent="-357188">
              <a:buFont typeface="+mj-lt"/>
              <a:buAutoNum type="arabicPeriod"/>
            </a:pPr>
            <a:r>
              <a:rPr lang="en-GB" sz="1400" dirty="0"/>
              <a:t>Sharkey, A. 2018. Autonomous weapon systems, killer robots, and human dignity. </a:t>
            </a:r>
            <a:r>
              <a:rPr lang="en-GB" sz="1400" i="1" dirty="0"/>
              <a:t>Ethics and Information Technology</a:t>
            </a:r>
            <a:r>
              <a:rPr lang="en-GB" sz="1400" dirty="0"/>
              <a:t>. </a:t>
            </a:r>
            <a:r>
              <a:rPr lang="en-GB" sz="1400" b="1" dirty="0"/>
              <a:t>21</a:t>
            </a:r>
            <a:r>
              <a:rPr lang="en-GB" sz="1400" dirty="0"/>
              <a:t>(2), pp. 75-87</a:t>
            </a:r>
          </a:p>
          <a:p>
            <a:pPr marL="357188" indent="-357188">
              <a:buFont typeface="+mj-lt"/>
              <a:buAutoNum type="arabicPeriod"/>
            </a:pPr>
            <a:r>
              <a:rPr lang="en-GB" sz="1400" dirty="0" err="1"/>
              <a:t>Riesen</a:t>
            </a:r>
            <a:r>
              <a:rPr lang="en-GB" sz="1400" dirty="0"/>
              <a:t>, E. 2022. The Moral Case for the Development and Use of Autonomous Weapon Systems. </a:t>
            </a:r>
            <a:r>
              <a:rPr lang="en-GB" sz="1400" i="1" dirty="0"/>
              <a:t>Journal of Military Ethics</a:t>
            </a:r>
            <a:r>
              <a:rPr lang="en-GB" sz="1400" dirty="0"/>
              <a:t>. </a:t>
            </a:r>
            <a:r>
              <a:rPr lang="en-GB" sz="1400" b="1" dirty="0"/>
              <a:t>21</a:t>
            </a:r>
            <a:r>
              <a:rPr lang="en-GB" sz="1400" dirty="0"/>
              <a:t>(2), pp. 132-150</a:t>
            </a:r>
          </a:p>
          <a:p>
            <a:pPr marL="357188" indent="-357188">
              <a:buFont typeface="+mj-lt"/>
              <a:buAutoNum type="arabicPeriod"/>
            </a:pPr>
            <a:r>
              <a:rPr lang="en-GB" sz="1400" dirty="0"/>
              <a:t>Jeffries, A. 2014. Should A Robot Decide When To Kill?. [Online]. [Accessed 19 August 2023]. Available from: https://www.theverge.com/2014/1/28/5339246/war-machines-ethics-of-robots-on-the-battlefield </a:t>
            </a:r>
          </a:p>
          <a:p>
            <a:pPr marL="357188" indent="-357188">
              <a:buFont typeface="+mj-lt"/>
              <a:buAutoNum type="arabicPeriod"/>
            </a:pPr>
            <a:r>
              <a:rPr lang="en-GB" sz="1400" dirty="0"/>
              <a:t>United Nations. 2005. 2005 World Summit Outcome Document. Paragraph 138.</a:t>
            </a:r>
          </a:p>
          <a:p>
            <a:pPr marL="357188" indent="-357188">
              <a:buFont typeface="+mj-lt"/>
              <a:buAutoNum type="arabicPeriod"/>
            </a:pPr>
            <a:r>
              <a:rPr lang="en-GB" sz="1400" dirty="0"/>
              <a:t>Sharkey, N. 2010. Saying ‘No!’ to Lethal Autonomous Targeting. </a:t>
            </a:r>
            <a:r>
              <a:rPr lang="en-GB" sz="1400" i="1" dirty="0"/>
              <a:t>Journal of Military Ethics</a:t>
            </a:r>
            <a:r>
              <a:rPr lang="en-GB" sz="1400" dirty="0"/>
              <a:t>. </a:t>
            </a:r>
            <a:r>
              <a:rPr lang="en-GB" sz="1400" b="1" dirty="0"/>
              <a:t>9</a:t>
            </a:r>
            <a:r>
              <a:rPr lang="en-GB" sz="1400" dirty="0"/>
              <a:t>(4), pp. 369-383</a:t>
            </a:r>
          </a:p>
          <a:p>
            <a:pPr marL="357188" indent="-357188">
              <a:buFont typeface="+mj-lt"/>
              <a:buAutoNum type="arabicPeriod"/>
            </a:pPr>
            <a:r>
              <a:rPr lang="en-GB" sz="1400" dirty="0" err="1"/>
              <a:t>Shieman</a:t>
            </a:r>
            <a:r>
              <a:rPr lang="en-GB" sz="1400" dirty="0"/>
              <a:t>, K. 2022. The Soldier’s Share: Considering Narrow Responsibility for Lethal Autonomous Weapons. </a:t>
            </a:r>
            <a:r>
              <a:rPr lang="en-GB" sz="1400" i="1" dirty="0"/>
              <a:t>Journal of Military Ethics</a:t>
            </a:r>
            <a:r>
              <a:rPr lang="en-GB" sz="1400" dirty="0"/>
              <a:t>. </a:t>
            </a:r>
            <a:r>
              <a:rPr lang="en-GB" sz="1400" b="1" dirty="0"/>
              <a:t>21</a:t>
            </a:r>
            <a:r>
              <a:rPr lang="en-GB" sz="1400" dirty="0"/>
              <a:t>(3-4), pp.228-245</a:t>
            </a:r>
          </a:p>
          <a:p>
            <a:pPr marL="357188" indent="-357188">
              <a:buFont typeface="+mj-lt"/>
              <a:buAutoNum type="arabicPeriod"/>
            </a:pPr>
            <a:r>
              <a:rPr lang="en-GB" sz="1400" dirty="0"/>
              <a:t>IAI. 2019. HARPY NG Anti Radiation Loitering Weapon System. [Online]. [Accessed 19 August 2023]. Available from: https://www.iai.co.il/sites/default/files/2023-06/HARPY%20Brochure.pdf</a:t>
            </a:r>
          </a:p>
          <a:p>
            <a:pPr marL="357188" indent="-357188">
              <a:buFont typeface="+mj-lt"/>
              <a:buAutoNum type="arabicPeriod"/>
            </a:pPr>
            <a:r>
              <a:rPr lang="en-GB" sz="1400" dirty="0"/>
              <a:t>U.S. Department of Veteran Affairs. 2023. PTSD: National </a:t>
            </a:r>
            <a:r>
              <a:rPr lang="en-GB" sz="1400" dirty="0" err="1"/>
              <a:t>Center</a:t>
            </a:r>
            <a:r>
              <a:rPr lang="en-GB" sz="1400" dirty="0"/>
              <a:t> for PTSD. [Online]. [Accessed 19 August 2023]. Available from:  https://www.ptsd.va.gov/understand/common/common_veterans.asp#:~:text=At%20some%20point%20in%20their,of%20100%2C%20or%206%25</a:t>
            </a:r>
          </a:p>
          <a:p>
            <a:pPr marL="357188" indent="-357188">
              <a:buFont typeface="+mj-lt"/>
              <a:buAutoNum type="arabicPeriod"/>
            </a:pPr>
            <a:r>
              <a:rPr lang="en-GB" sz="1400" dirty="0"/>
              <a:t>Goldberg, M. 2010. Death and Injury Rates of U.S. Military Personnel in Iraq. </a:t>
            </a:r>
            <a:r>
              <a:rPr lang="en-GB" sz="1400" i="1" dirty="0"/>
              <a:t>Military Medicine</a:t>
            </a:r>
            <a:r>
              <a:rPr lang="en-GB" sz="1400" dirty="0"/>
              <a:t>. </a:t>
            </a:r>
            <a:r>
              <a:rPr lang="en-GB" sz="1400" b="1" dirty="0"/>
              <a:t>175</a:t>
            </a:r>
            <a:r>
              <a:rPr lang="en-GB" sz="1400" dirty="0"/>
              <a:t>(4), pp. 220-226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97BF74C6-7B29-F9AC-2C98-30DAABC0CC71}"/>
              </a:ext>
            </a:extLst>
          </p:cNvPr>
          <p:cNvSpPr/>
          <p:nvPr/>
        </p:nvSpPr>
        <p:spPr>
          <a:xfrm>
            <a:off x="1252528" y="82146"/>
            <a:ext cx="1296144" cy="171691"/>
          </a:xfrm>
          <a:prstGeom prst="homePlat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Definition </a:t>
            </a:r>
            <a:r>
              <a:rPr lang="en-GB" sz="1000"/>
              <a:t>&amp; Scope</a:t>
            </a:r>
            <a:endParaRPr lang="en-GB" sz="1000" dirty="0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9CF9D685-2F13-F6F0-42D9-D8CCF91C4248}"/>
              </a:ext>
            </a:extLst>
          </p:cNvPr>
          <p:cNvSpPr/>
          <p:nvPr/>
        </p:nvSpPr>
        <p:spPr>
          <a:xfrm>
            <a:off x="2521577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Arguments for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719367E1-81F7-D0F7-1F78-0211D03E96E4}"/>
              </a:ext>
            </a:extLst>
          </p:cNvPr>
          <p:cNvSpPr/>
          <p:nvPr/>
        </p:nvSpPr>
        <p:spPr>
          <a:xfrm>
            <a:off x="3790626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Arguments against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A0DCACE0-0852-51AD-81BF-F88F7C0E6C4F}"/>
              </a:ext>
            </a:extLst>
          </p:cNvPr>
          <p:cNvSpPr/>
          <p:nvPr/>
        </p:nvSpPr>
        <p:spPr>
          <a:xfrm>
            <a:off x="5059675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Policies &amp; Regulation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7D70206C-C414-497F-0CE0-6E2DC66307C3}"/>
              </a:ext>
            </a:extLst>
          </p:cNvPr>
          <p:cNvSpPr/>
          <p:nvPr/>
        </p:nvSpPr>
        <p:spPr>
          <a:xfrm>
            <a:off x="6328724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Conclusion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FE91F34C-4942-63C3-796E-01551B4F41D8}"/>
              </a:ext>
            </a:extLst>
          </p:cNvPr>
          <p:cNvSpPr/>
          <p:nvPr/>
        </p:nvSpPr>
        <p:spPr>
          <a:xfrm>
            <a:off x="7597773" y="82146"/>
            <a:ext cx="1296144" cy="171691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</a:rPr>
              <a:t>References</a:t>
            </a:r>
            <a:endParaRPr lang="en-GB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268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36754-90F3-9A0C-B1AC-1B86B9044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 (page 2 of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03857-8F4F-6F3C-6091-21C16BBDC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700808"/>
            <a:ext cx="10360501" cy="4462272"/>
          </a:xfrm>
        </p:spPr>
        <p:txBody>
          <a:bodyPr>
            <a:normAutofit/>
          </a:bodyPr>
          <a:lstStyle/>
          <a:p>
            <a:pPr marL="357188" indent="-357188">
              <a:buFont typeface="+mj-lt"/>
              <a:buAutoNum type="arabicPeriod" startAt="10"/>
            </a:pPr>
            <a:r>
              <a:rPr lang="en-GB" sz="1400" dirty="0"/>
              <a:t>Arkin, R. 2010. The Case for Ethical Autonomy in Unmanned Systems. </a:t>
            </a:r>
            <a:r>
              <a:rPr lang="en-GB" sz="1400" i="1" dirty="0"/>
              <a:t>Journal of Military Ethics</a:t>
            </a:r>
            <a:r>
              <a:rPr lang="en-GB" sz="1400" dirty="0"/>
              <a:t>. </a:t>
            </a:r>
            <a:r>
              <a:rPr lang="en-GB" sz="1400" b="1" dirty="0"/>
              <a:t>9</a:t>
            </a:r>
            <a:r>
              <a:rPr lang="en-GB" sz="1400" dirty="0"/>
              <a:t>(4), pp. 332-341</a:t>
            </a:r>
          </a:p>
          <a:p>
            <a:pPr marL="357188" indent="-357188">
              <a:buFont typeface="+mj-lt"/>
              <a:buAutoNum type="arabicPeriod" startAt="10"/>
            </a:pPr>
            <a:r>
              <a:rPr lang="en-GB" sz="1400" dirty="0"/>
              <a:t>Emery, J. 2021. Algorithms, AI, and Ethics of War. </a:t>
            </a:r>
            <a:r>
              <a:rPr lang="en-GB" sz="1400" i="1" dirty="0"/>
              <a:t>A Journal of Social Justice</a:t>
            </a:r>
            <a:r>
              <a:rPr lang="en-GB" sz="1400" dirty="0"/>
              <a:t>. </a:t>
            </a:r>
            <a:r>
              <a:rPr lang="en-GB" sz="1400" b="1" dirty="0"/>
              <a:t>33</a:t>
            </a:r>
            <a:r>
              <a:rPr lang="en-GB" sz="1400" dirty="0"/>
              <a:t>(2), pp. 205-212</a:t>
            </a:r>
          </a:p>
          <a:p>
            <a:pPr marL="357188" indent="-357188">
              <a:buFont typeface="+mj-lt"/>
              <a:buAutoNum type="arabicPeriod" startAt="10"/>
            </a:pPr>
            <a:r>
              <a:rPr lang="en-GB" sz="1400" dirty="0" err="1"/>
              <a:t>Nissenbaum</a:t>
            </a:r>
            <a:r>
              <a:rPr lang="en-GB" sz="1400" dirty="0"/>
              <a:t>, H. 1996. Accountability in a computerized society. </a:t>
            </a:r>
            <a:r>
              <a:rPr lang="en-GB" sz="1400" i="1" dirty="0"/>
              <a:t>Science and Engineering Ethics</a:t>
            </a:r>
            <a:r>
              <a:rPr lang="en-GB" sz="1400" dirty="0"/>
              <a:t>. </a:t>
            </a:r>
            <a:r>
              <a:rPr lang="en-GB" sz="1400" b="1" dirty="0"/>
              <a:t>2</a:t>
            </a:r>
            <a:r>
              <a:rPr lang="en-GB" sz="1400" dirty="0"/>
              <a:t>, pp. 25-42</a:t>
            </a:r>
          </a:p>
          <a:p>
            <a:pPr marL="357188" indent="-357188">
              <a:buFont typeface="+mj-lt"/>
              <a:buAutoNum type="arabicPeriod" startAt="10"/>
            </a:pPr>
            <a:r>
              <a:rPr lang="en-GB" sz="1400" dirty="0"/>
              <a:t>International Committee of the Red Cross. 1977. Protocol Additional to the Geneva Conventions of 12 August 1949, and Relating to the Protection of Victims of International Armed Conflicts. [Online]. [Accessed 19 August 2023]. Available from: https://treaties.un.org/doc/Publication/UNTS/Volume%201125/volume-1125-I-17512-English.pdf</a:t>
            </a:r>
          </a:p>
          <a:p>
            <a:pPr marL="357188" indent="-357188">
              <a:buFont typeface="+mj-lt"/>
              <a:buAutoNum type="arabicPeriod" startAt="10"/>
            </a:pPr>
            <a:r>
              <a:rPr lang="en-GB" sz="1400" dirty="0"/>
              <a:t>Simpson, T. &amp; Müller, V. 2016. Just War and Robots’ Killings. </a:t>
            </a:r>
            <a:r>
              <a:rPr lang="en-GB" sz="1400" i="1" dirty="0"/>
              <a:t>The Philosophical Quarterly</a:t>
            </a:r>
            <a:r>
              <a:rPr lang="en-GB" sz="1400" dirty="0"/>
              <a:t>. </a:t>
            </a:r>
            <a:r>
              <a:rPr lang="en-GB" sz="1400" b="1" dirty="0"/>
              <a:t>66</a:t>
            </a:r>
            <a:r>
              <a:rPr lang="en-GB" sz="1400" dirty="0"/>
              <a:t>(263), pp. 302-322</a:t>
            </a:r>
          </a:p>
          <a:p>
            <a:pPr marL="357188" indent="-357188">
              <a:buFont typeface="+mj-lt"/>
              <a:buAutoNum type="arabicPeriod" startAt="10"/>
            </a:pPr>
            <a:r>
              <a:rPr lang="en-GB" sz="1400" dirty="0"/>
              <a:t>Kahn, L. 2022. Lethal autonomous weapon systems and respect for human dignity. </a:t>
            </a:r>
            <a:r>
              <a:rPr lang="en-GB" sz="1400" i="1" dirty="0"/>
              <a:t>Frontiers in Big Data</a:t>
            </a:r>
            <a:r>
              <a:rPr lang="en-GB" sz="1400" dirty="0"/>
              <a:t>. </a:t>
            </a:r>
            <a:r>
              <a:rPr lang="en-GB" sz="1400" b="1" dirty="0"/>
              <a:t>5</a:t>
            </a:r>
            <a:endParaRPr lang="en-GB" sz="1400" dirty="0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C1D3E910-9E26-C92C-5ED2-EC28C0127076}"/>
              </a:ext>
            </a:extLst>
          </p:cNvPr>
          <p:cNvSpPr/>
          <p:nvPr/>
        </p:nvSpPr>
        <p:spPr>
          <a:xfrm>
            <a:off x="1252528" y="82146"/>
            <a:ext cx="1296144" cy="171691"/>
          </a:xfrm>
          <a:prstGeom prst="homePlate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Definition </a:t>
            </a:r>
            <a:r>
              <a:rPr lang="en-GB" sz="1000"/>
              <a:t>&amp; Scope</a:t>
            </a:r>
            <a:endParaRPr lang="en-GB" sz="1000" dirty="0"/>
          </a:p>
        </p:txBody>
      </p:sp>
      <p:sp>
        <p:nvSpPr>
          <p:cNvPr id="5" name="Arrow: Chevron 4">
            <a:extLst>
              <a:ext uri="{FF2B5EF4-FFF2-40B4-BE49-F238E27FC236}">
                <a16:creationId xmlns:a16="http://schemas.microsoft.com/office/drawing/2014/main" id="{4E1226EC-5398-1AF5-4332-A085B2070592}"/>
              </a:ext>
            </a:extLst>
          </p:cNvPr>
          <p:cNvSpPr/>
          <p:nvPr/>
        </p:nvSpPr>
        <p:spPr>
          <a:xfrm>
            <a:off x="2521577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Arguments for</a:t>
            </a:r>
          </a:p>
        </p:txBody>
      </p:sp>
      <p:sp>
        <p:nvSpPr>
          <p:cNvPr id="6" name="Arrow: Chevron 5">
            <a:extLst>
              <a:ext uri="{FF2B5EF4-FFF2-40B4-BE49-F238E27FC236}">
                <a16:creationId xmlns:a16="http://schemas.microsoft.com/office/drawing/2014/main" id="{51F5ACBA-28A9-91F3-8B5C-7416EED61724}"/>
              </a:ext>
            </a:extLst>
          </p:cNvPr>
          <p:cNvSpPr/>
          <p:nvPr/>
        </p:nvSpPr>
        <p:spPr>
          <a:xfrm>
            <a:off x="3790626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Arguments against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8CCED676-043B-4116-B885-1E0E0A7FB1CB}"/>
              </a:ext>
            </a:extLst>
          </p:cNvPr>
          <p:cNvSpPr/>
          <p:nvPr/>
        </p:nvSpPr>
        <p:spPr>
          <a:xfrm>
            <a:off x="5059675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Policies &amp; Regulation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18EC778-96AE-82AB-D6FB-4BB918E6E717}"/>
              </a:ext>
            </a:extLst>
          </p:cNvPr>
          <p:cNvSpPr/>
          <p:nvPr/>
        </p:nvSpPr>
        <p:spPr>
          <a:xfrm>
            <a:off x="6328724" y="82146"/>
            <a:ext cx="1296144" cy="171691"/>
          </a:xfrm>
          <a:prstGeom prst="chevron">
            <a:avLst/>
          </a:prstGeom>
          <a:solidFill>
            <a:schemeClr val="tx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dirty="0"/>
              <a:t>Conclusion</a:t>
            </a: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1172A245-5B3A-82F2-3562-7E1E507608A5}"/>
              </a:ext>
            </a:extLst>
          </p:cNvPr>
          <p:cNvSpPr/>
          <p:nvPr/>
        </p:nvSpPr>
        <p:spPr>
          <a:xfrm>
            <a:off x="7597773" y="82146"/>
            <a:ext cx="1296144" cy="171691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000" b="1">
                <a:solidFill>
                  <a:schemeClr val="bg1"/>
                </a:solidFill>
              </a:rPr>
              <a:t>References</a:t>
            </a:r>
            <a:endParaRPr lang="en-GB" sz="1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270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1201</TotalTime>
  <Words>1918</Words>
  <Application>Microsoft Office PowerPoint</Application>
  <PresentationFormat>Custom</PresentationFormat>
  <Paragraphs>184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Tech 16x9</vt:lpstr>
      <vt:lpstr>Autonomous Weapon Systems: Ethical reasons for its development and deployment</vt:lpstr>
      <vt:lpstr>Structure of Discussion</vt:lpstr>
      <vt:lpstr>Definition of Autonomous Weapon Systems (AWS) in the context of this discussion</vt:lpstr>
      <vt:lpstr>Arguments for the development and deployment of AWS</vt:lpstr>
      <vt:lpstr>It is the moral responsibility for a country to ensure safety for its citizens</vt:lpstr>
      <vt:lpstr>AWS can save lives and prevent harm, resulting in an ethical requirement to have AWS as an option</vt:lpstr>
      <vt:lpstr>AWS can reduce risk of harm to non-combatants</vt:lpstr>
      <vt:lpstr>Arguments against the development and deployment of AWS and responses</vt:lpstr>
      <vt:lpstr>When accidents happen, distributed accountability will lead to moral vacuums</vt:lpstr>
      <vt:lpstr>Response: When accidents happen, distributed accountability will lead to moral vacuums</vt:lpstr>
      <vt:lpstr>AWS undermines human dignity</vt:lpstr>
      <vt:lpstr>Response: AWS undermines human dignity</vt:lpstr>
      <vt:lpstr>Suggested policies and regulation</vt:lpstr>
      <vt:lpstr>Suggested policies and regulation</vt:lpstr>
      <vt:lpstr>Conclusion</vt:lpstr>
      <vt:lpstr>Conclusion</vt:lpstr>
      <vt:lpstr>References</vt:lpstr>
      <vt:lpstr>References (page 1 of 2)</vt:lpstr>
      <vt:lpstr>Reference (page 2 of 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Weapon Systems: Ethical reasons for its development and deployment</dc:title>
  <dc:creator>Wesley Chiu</dc:creator>
  <cp:lastModifiedBy>Wesley Chiu</cp:lastModifiedBy>
  <cp:revision>4</cp:revision>
  <dcterms:created xsi:type="dcterms:W3CDTF">2023-08-19T20:08:57Z</dcterms:created>
  <dcterms:modified xsi:type="dcterms:W3CDTF">2023-08-20T18:00:29Z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