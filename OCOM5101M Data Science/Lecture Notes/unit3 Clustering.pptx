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30"/>
  </p:notesMasterIdLst>
  <p:handoutMasterIdLst>
    <p:handoutMasterId r:id="rId131"/>
  </p:handoutMasterIdLst>
  <p:sldIdLst>
    <p:sldId id="697" r:id="rId5"/>
    <p:sldId id="515" r:id="rId6"/>
    <p:sldId id="778" r:id="rId7"/>
    <p:sldId id="698" r:id="rId8"/>
    <p:sldId id="699" r:id="rId9"/>
    <p:sldId id="700" r:id="rId10"/>
    <p:sldId id="701" r:id="rId11"/>
    <p:sldId id="702" r:id="rId12"/>
    <p:sldId id="703" r:id="rId13"/>
    <p:sldId id="704" r:id="rId14"/>
    <p:sldId id="715" r:id="rId15"/>
    <p:sldId id="716" r:id="rId16"/>
    <p:sldId id="717" r:id="rId17"/>
    <p:sldId id="718" r:id="rId18"/>
    <p:sldId id="719" r:id="rId19"/>
    <p:sldId id="720" r:id="rId20"/>
    <p:sldId id="721" r:id="rId21"/>
    <p:sldId id="729" r:id="rId22"/>
    <p:sldId id="730" r:id="rId23"/>
    <p:sldId id="731" r:id="rId24"/>
    <p:sldId id="732" r:id="rId25"/>
    <p:sldId id="733" r:id="rId26"/>
    <p:sldId id="790" r:id="rId27"/>
    <p:sldId id="791" r:id="rId28"/>
    <p:sldId id="792" r:id="rId29"/>
    <p:sldId id="793" r:id="rId30"/>
    <p:sldId id="794" r:id="rId31"/>
    <p:sldId id="795" r:id="rId32"/>
    <p:sldId id="739" r:id="rId33"/>
    <p:sldId id="740" r:id="rId34"/>
    <p:sldId id="741" r:id="rId35"/>
    <p:sldId id="742" r:id="rId36"/>
    <p:sldId id="797" r:id="rId37"/>
    <p:sldId id="743" r:id="rId38"/>
    <p:sldId id="796" r:id="rId39"/>
    <p:sldId id="744" r:id="rId40"/>
    <p:sldId id="745" r:id="rId41"/>
    <p:sldId id="746" r:id="rId42"/>
    <p:sldId id="747" r:id="rId43"/>
    <p:sldId id="748" r:id="rId44"/>
    <p:sldId id="749" r:id="rId45"/>
    <p:sldId id="750" r:id="rId46"/>
    <p:sldId id="751" r:id="rId47"/>
    <p:sldId id="752" r:id="rId48"/>
    <p:sldId id="753" r:id="rId49"/>
    <p:sldId id="754" r:id="rId50"/>
    <p:sldId id="755" r:id="rId51"/>
    <p:sldId id="756" r:id="rId52"/>
    <p:sldId id="757" r:id="rId53"/>
    <p:sldId id="675" r:id="rId54"/>
    <p:sldId id="676" r:id="rId55"/>
    <p:sldId id="677" r:id="rId56"/>
    <p:sldId id="678" r:id="rId57"/>
    <p:sldId id="679" r:id="rId58"/>
    <p:sldId id="680" r:id="rId59"/>
    <p:sldId id="681" r:id="rId60"/>
    <p:sldId id="771" r:id="rId61"/>
    <p:sldId id="776" r:id="rId62"/>
    <p:sldId id="663" r:id="rId63"/>
    <p:sldId id="779" r:id="rId64"/>
    <p:sldId id="798" r:id="rId65"/>
    <p:sldId id="780" r:id="rId66"/>
    <p:sldId id="781" r:id="rId67"/>
    <p:sldId id="782" r:id="rId68"/>
    <p:sldId id="783" r:id="rId69"/>
    <p:sldId id="784" r:id="rId70"/>
    <p:sldId id="785" r:id="rId71"/>
    <p:sldId id="786" r:id="rId72"/>
    <p:sldId id="787" r:id="rId73"/>
    <p:sldId id="788" r:id="rId74"/>
    <p:sldId id="664" r:id="rId75"/>
    <p:sldId id="665" r:id="rId76"/>
    <p:sldId id="668" r:id="rId77"/>
    <p:sldId id="758" r:id="rId78"/>
    <p:sldId id="759" r:id="rId79"/>
    <p:sldId id="760" r:id="rId80"/>
    <p:sldId id="761" r:id="rId81"/>
    <p:sldId id="762" r:id="rId82"/>
    <p:sldId id="763" r:id="rId83"/>
    <p:sldId id="764" r:id="rId84"/>
    <p:sldId id="765" r:id="rId85"/>
    <p:sldId id="766" r:id="rId86"/>
    <p:sldId id="767" r:id="rId87"/>
    <p:sldId id="768" r:id="rId88"/>
    <p:sldId id="643" r:id="rId89"/>
    <p:sldId id="644" r:id="rId90"/>
    <p:sldId id="645" r:id="rId91"/>
    <p:sldId id="646" r:id="rId92"/>
    <p:sldId id="601" r:id="rId93"/>
    <p:sldId id="602" r:id="rId94"/>
    <p:sldId id="670" r:id="rId95"/>
    <p:sldId id="604" r:id="rId96"/>
    <p:sldId id="605" r:id="rId97"/>
    <p:sldId id="607" r:id="rId98"/>
    <p:sldId id="608" r:id="rId99"/>
    <p:sldId id="609" r:id="rId100"/>
    <p:sldId id="772" r:id="rId101"/>
    <p:sldId id="799" r:id="rId102"/>
    <p:sldId id="690" r:id="rId103"/>
    <p:sldId id="612" r:id="rId104"/>
    <p:sldId id="613" r:id="rId105"/>
    <p:sldId id="691" r:id="rId106"/>
    <p:sldId id="683" r:id="rId107"/>
    <p:sldId id="616" r:id="rId108"/>
    <p:sldId id="617" r:id="rId109"/>
    <p:sldId id="685" r:id="rId110"/>
    <p:sldId id="774" r:id="rId111"/>
    <p:sldId id="777" r:id="rId112"/>
    <p:sldId id="619" r:id="rId113"/>
    <p:sldId id="620" r:id="rId114"/>
    <p:sldId id="622" r:id="rId115"/>
    <p:sldId id="684" r:id="rId116"/>
    <p:sldId id="636" r:id="rId117"/>
    <p:sldId id="637" r:id="rId118"/>
    <p:sldId id="638" r:id="rId119"/>
    <p:sldId id="623" r:id="rId120"/>
    <p:sldId id="624" r:id="rId121"/>
    <p:sldId id="696" r:id="rId122"/>
    <p:sldId id="625" r:id="rId123"/>
    <p:sldId id="626" r:id="rId124"/>
    <p:sldId id="629" r:id="rId125"/>
    <p:sldId id="695" r:id="rId126"/>
    <p:sldId id="694" r:id="rId127"/>
    <p:sldId id="640" r:id="rId128"/>
    <p:sldId id="789" r:id="rId129"/>
  </p:sldIdLst>
  <p:sldSz cx="12192000" cy="6858000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3300"/>
    <a:srgbClr val="916F40"/>
    <a:srgbClr val="2B2113"/>
    <a:srgbClr val="2A8487"/>
    <a:srgbClr val="1C5A61"/>
    <a:srgbClr val="0C6D9C"/>
    <a:srgbClr val="FF00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20" autoAdjust="0"/>
    <p:restoredTop sz="94752" autoAdjust="0"/>
  </p:normalViewPr>
  <p:slideViewPr>
    <p:cSldViewPr>
      <p:cViewPr varScale="1">
        <p:scale>
          <a:sx n="115" d="100"/>
          <a:sy n="115" d="100"/>
        </p:scale>
        <p:origin x="690" y="108"/>
      </p:cViewPr>
      <p:guideLst>
        <p:guide orient="horz" pos="2160"/>
        <p:guide pos="36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  <p:sld r:id="rId71" collapse="1"/>
      <p:sld r:id="rId72" collapse="1"/>
      <p:sld r:id="rId73" collapse="1"/>
      <p:sld r:id="rId74" collapse="1"/>
      <p:sld r:id="rId75" collapse="1"/>
      <p:sld r:id="rId76" collapse="1"/>
      <p:sld r:id="rId77" collapse="1"/>
      <p:sld r:id="rId78" collapse="1"/>
      <p:sld r:id="rId79" collapse="1"/>
      <p:sld r:id="rId80" collapse="1"/>
      <p:sld r:id="rId81" collapse="1"/>
      <p:sld r:id="rId82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8932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viewProps" Target="viewProps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26" Type="http://schemas.openxmlformats.org/officeDocument/2006/relationships/slide" Target="slides/slide122.xml"/><Relationship Id="rId13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16" Type="http://schemas.openxmlformats.org/officeDocument/2006/relationships/slide" Target="slides/slide112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slide" Target="slides/slide107.xml"/><Relationship Id="rId13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30" Type="http://schemas.openxmlformats.org/officeDocument/2006/relationships/notesMaster" Target="notesMasters/notesMaster1.xml"/><Relationship Id="rId13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handoutMaster" Target="handoutMasters/handout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7.xml"/><Relationship Id="rId18" Type="http://schemas.openxmlformats.org/officeDocument/2006/relationships/slide" Target="slides/slide23.xml"/><Relationship Id="rId26" Type="http://schemas.openxmlformats.org/officeDocument/2006/relationships/slide" Target="slides/slide31.xml"/><Relationship Id="rId39" Type="http://schemas.openxmlformats.org/officeDocument/2006/relationships/slide" Target="slides/slide45.xml"/><Relationship Id="rId21" Type="http://schemas.openxmlformats.org/officeDocument/2006/relationships/slide" Target="slides/slide26.xml"/><Relationship Id="rId34" Type="http://schemas.openxmlformats.org/officeDocument/2006/relationships/slide" Target="slides/slide39.xml"/><Relationship Id="rId42" Type="http://schemas.openxmlformats.org/officeDocument/2006/relationships/slide" Target="slides/slide48.xml"/><Relationship Id="rId47" Type="http://schemas.openxmlformats.org/officeDocument/2006/relationships/slide" Target="slides/slide53.xml"/><Relationship Id="rId50" Type="http://schemas.openxmlformats.org/officeDocument/2006/relationships/slide" Target="slides/slide56.xml"/><Relationship Id="rId55" Type="http://schemas.openxmlformats.org/officeDocument/2006/relationships/slide" Target="slides/slide63.xml"/><Relationship Id="rId63" Type="http://schemas.openxmlformats.org/officeDocument/2006/relationships/slide" Target="slides/slide72.xml"/><Relationship Id="rId68" Type="http://schemas.openxmlformats.org/officeDocument/2006/relationships/slide" Target="slides/slide81.xml"/><Relationship Id="rId76" Type="http://schemas.openxmlformats.org/officeDocument/2006/relationships/slide" Target="slides/slide92.xml"/><Relationship Id="rId7" Type="http://schemas.openxmlformats.org/officeDocument/2006/relationships/slide" Target="slides/slide10.xml"/><Relationship Id="rId71" Type="http://schemas.openxmlformats.org/officeDocument/2006/relationships/slide" Target="slides/slide85.xml"/><Relationship Id="rId2" Type="http://schemas.openxmlformats.org/officeDocument/2006/relationships/slide" Target="slides/slide5.xml"/><Relationship Id="rId16" Type="http://schemas.openxmlformats.org/officeDocument/2006/relationships/slide" Target="slides/slide21.xml"/><Relationship Id="rId29" Type="http://schemas.openxmlformats.org/officeDocument/2006/relationships/slide" Target="slides/slide34.xml"/><Relationship Id="rId11" Type="http://schemas.openxmlformats.org/officeDocument/2006/relationships/slide" Target="slides/slide15.xml"/><Relationship Id="rId24" Type="http://schemas.openxmlformats.org/officeDocument/2006/relationships/slide" Target="slides/slide29.xml"/><Relationship Id="rId32" Type="http://schemas.openxmlformats.org/officeDocument/2006/relationships/slide" Target="slides/slide37.xml"/><Relationship Id="rId37" Type="http://schemas.openxmlformats.org/officeDocument/2006/relationships/slide" Target="slides/slide43.xml"/><Relationship Id="rId40" Type="http://schemas.openxmlformats.org/officeDocument/2006/relationships/slide" Target="slides/slide46.xml"/><Relationship Id="rId45" Type="http://schemas.openxmlformats.org/officeDocument/2006/relationships/slide" Target="slides/slide51.xml"/><Relationship Id="rId53" Type="http://schemas.openxmlformats.org/officeDocument/2006/relationships/slide" Target="slides/slide61.xml"/><Relationship Id="rId58" Type="http://schemas.openxmlformats.org/officeDocument/2006/relationships/slide" Target="slides/slide66.xml"/><Relationship Id="rId66" Type="http://schemas.openxmlformats.org/officeDocument/2006/relationships/slide" Target="slides/slide79.xml"/><Relationship Id="rId74" Type="http://schemas.openxmlformats.org/officeDocument/2006/relationships/slide" Target="slides/slide89.xml"/><Relationship Id="rId79" Type="http://schemas.openxmlformats.org/officeDocument/2006/relationships/slide" Target="slides/slide102.xml"/><Relationship Id="rId5" Type="http://schemas.openxmlformats.org/officeDocument/2006/relationships/slide" Target="slides/slide8.xml"/><Relationship Id="rId61" Type="http://schemas.openxmlformats.org/officeDocument/2006/relationships/slide" Target="slides/slide69.xml"/><Relationship Id="rId82" Type="http://schemas.openxmlformats.org/officeDocument/2006/relationships/slide" Target="slides/slide106.xml"/><Relationship Id="rId10" Type="http://schemas.openxmlformats.org/officeDocument/2006/relationships/slide" Target="slides/slide14.xml"/><Relationship Id="rId19" Type="http://schemas.openxmlformats.org/officeDocument/2006/relationships/slide" Target="slides/slide24.xml"/><Relationship Id="rId31" Type="http://schemas.openxmlformats.org/officeDocument/2006/relationships/slide" Target="slides/slide36.xml"/><Relationship Id="rId44" Type="http://schemas.openxmlformats.org/officeDocument/2006/relationships/slide" Target="slides/slide50.xml"/><Relationship Id="rId52" Type="http://schemas.openxmlformats.org/officeDocument/2006/relationships/slide" Target="slides/slide60.xml"/><Relationship Id="rId60" Type="http://schemas.openxmlformats.org/officeDocument/2006/relationships/slide" Target="slides/slide68.xml"/><Relationship Id="rId65" Type="http://schemas.openxmlformats.org/officeDocument/2006/relationships/slide" Target="slides/slide78.xml"/><Relationship Id="rId73" Type="http://schemas.openxmlformats.org/officeDocument/2006/relationships/slide" Target="slides/slide88.xml"/><Relationship Id="rId78" Type="http://schemas.openxmlformats.org/officeDocument/2006/relationships/slide" Target="slides/slide101.xml"/><Relationship Id="rId81" Type="http://schemas.openxmlformats.org/officeDocument/2006/relationships/slide" Target="slides/slide105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9.xml"/><Relationship Id="rId22" Type="http://schemas.openxmlformats.org/officeDocument/2006/relationships/slide" Target="slides/slide27.xml"/><Relationship Id="rId27" Type="http://schemas.openxmlformats.org/officeDocument/2006/relationships/slide" Target="slides/slide32.xml"/><Relationship Id="rId30" Type="http://schemas.openxmlformats.org/officeDocument/2006/relationships/slide" Target="slides/slide35.xml"/><Relationship Id="rId35" Type="http://schemas.openxmlformats.org/officeDocument/2006/relationships/slide" Target="slides/slide41.xml"/><Relationship Id="rId43" Type="http://schemas.openxmlformats.org/officeDocument/2006/relationships/slide" Target="slides/slide49.xml"/><Relationship Id="rId48" Type="http://schemas.openxmlformats.org/officeDocument/2006/relationships/slide" Target="slides/slide54.xml"/><Relationship Id="rId56" Type="http://schemas.openxmlformats.org/officeDocument/2006/relationships/slide" Target="slides/slide64.xml"/><Relationship Id="rId64" Type="http://schemas.openxmlformats.org/officeDocument/2006/relationships/slide" Target="slides/slide73.xml"/><Relationship Id="rId69" Type="http://schemas.openxmlformats.org/officeDocument/2006/relationships/slide" Target="slides/slide82.xml"/><Relationship Id="rId77" Type="http://schemas.openxmlformats.org/officeDocument/2006/relationships/slide" Target="slides/slide100.xml"/><Relationship Id="rId8" Type="http://schemas.openxmlformats.org/officeDocument/2006/relationships/slide" Target="slides/slide11.xml"/><Relationship Id="rId51" Type="http://schemas.openxmlformats.org/officeDocument/2006/relationships/slide" Target="slides/slide59.xml"/><Relationship Id="rId72" Type="http://schemas.openxmlformats.org/officeDocument/2006/relationships/slide" Target="slides/slide86.xml"/><Relationship Id="rId80" Type="http://schemas.openxmlformats.org/officeDocument/2006/relationships/slide" Target="slides/slide104.xml"/><Relationship Id="rId3" Type="http://schemas.openxmlformats.org/officeDocument/2006/relationships/slide" Target="slides/slide6.xml"/><Relationship Id="rId12" Type="http://schemas.openxmlformats.org/officeDocument/2006/relationships/slide" Target="slides/slide16.xml"/><Relationship Id="rId17" Type="http://schemas.openxmlformats.org/officeDocument/2006/relationships/slide" Target="slides/slide22.xml"/><Relationship Id="rId25" Type="http://schemas.openxmlformats.org/officeDocument/2006/relationships/slide" Target="slides/slide30.xml"/><Relationship Id="rId33" Type="http://schemas.openxmlformats.org/officeDocument/2006/relationships/slide" Target="slides/slide38.xml"/><Relationship Id="rId38" Type="http://schemas.openxmlformats.org/officeDocument/2006/relationships/slide" Target="slides/slide44.xml"/><Relationship Id="rId46" Type="http://schemas.openxmlformats.org/officeDocument/2006/relationships/slide" Target="slides/slide52.xml"/><Relationship Id="rId59" Type="http://schemas.openxmlformats.org/officeDocument/2006/relationships/slide" Target="slides/slide67.xml"/><Relationship Id="rId67" Type="http://schemas.openxmlformats.org/officeDocument/2006/relationships/slide" Target="slides/slide80.xml"/><Relationship Id="rId20" Type="http://schemas.openxmlformats.org/officeDocument/2006/relationships/slide" Target="slides/slide25.xml"/><Relationship Id="rId41" Type="http://schemas.openxmlformats.org/officeDocument/2006/relationships/slide" Target="slides/slide47.xml"/><Relationship Id="rId54" Type="http://schemas.openxmlformats.org/officeDocument/2006/relationships/slide" Target="slides/slide62.xml"/><Relationship Id="rId62" Type="http://schemas.openxmlformats.org/officeDocument/2006/relationships/slide" Target="slides/slide70.xml"/><Relationship Id="rId70" Type="http://schemas.openxmlformats.org/officeDocument/2006/relationships/slide" Target="slides/slide84.xml"/><Relationship Id="rId75" Type="http://schemas.openxmlformats.org/officeDocument/2006/relationships/slide" Target="slides/slide90.xml"/><Relationship Id="rId1" Type="http://schemas.openxmlformats.org/officeDocument/2006/relationships/slide" Target="slides/slide4.xml"/><Relationship Id="rId6" Type="http://schemas.openxmlformats.org/officeDocument/2006/relationships/slide" Target="slides/slide9.xml"/><Relationship Id="rId15" Type="http://schemas.openxmlformats.org/officeDocument/2006/relationships/slide" Target="slides/slide20.xml"/><Relationship Id="rId23" Type="http://schemas.openxmlformats.org/officeDocument/2006/relationships/slide" Target="slides/slide28.xml"/><Relationship Id="rId28" Type="http://schemas.openxmlformats.org/officeDocument/2006/relationships/slide" Target="slides/slide33.xml"/><Relationship Id="rId36" Type="http://schemas.openxmlformats.org/officeDocument/2006/relationships/slide" Target="slides/slide42.xml"/><Relationship Id="rId49" Type="http://schemas.openxmlformats.org/officeDocument/2006/relationships/slide" Target="slides/slide55.xml"/><Relationship Id="rId57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540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474" y="4416111"/>
            <a:ext cx="5143848" cy="41808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805" tIns="48406" rIns="96805" bIns="48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161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2275" y="706438"/>
            <a:ext cx="6169025" cy="3470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3270745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700088"/>
            <a:ext cx="6189663" cy="3482975"/>
          </a:xfrm>
          <a:solidFill>
            <a:srgbClr val="FFFFFF"/>
          </a:solidFill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78" y="4416111"/>
            <a:ext cx="5142244" cy="418081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572" tIns="45782" rIns="91572" bIns="45782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802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706438"/>
            <a:ext cx="6169025" cy="3470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63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706438"/>
            <a:ext cx="6169025" cy="3470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213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02840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000">
                <a:latin typeface="Perpetua" panose="02020502060401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000">
                <a:latin typeface="Perpetua" panose="02020502060401020303" pitchFamily="18" charset="0"/>
              </a:defRPr>
            </a:lvl1pPr>
            <a:lvl2pPr>
              <a:defRPr sz="2600">
                <a:latin typeface="Perpetua" panose="02020502060401020303" pitchFamily="18" charset="0"/>
              </a:defRPr>
            </a:lvl2pPr>
            <a:lvl3pPr>
              <a:defRPr sz="2400">
                <a:latin typeface="Perpetua" panose="02020502060401020303" pitchFamily="18" charset="0"/>
              </a:defRPr>
            </a:lvl3pPr>
            <a:lvl4pPr>
              <a:defRPr sz="2200">
                <a:latin typeface="Perpetua" panose="02020502060401020303" pitchFamily="18" charset="0"/>
              </a:defRPr>
            </a:lvl4pPr>
            <a:lvl5pPr>
              <a:defRPr>
                <a:latin typeface="Perpetua" panose="02020502060401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337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53097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1092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1128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5484" y="1143000"/>
            <a:ext cx="5444067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5484" y="3810000"/>
            <a:ext cx="5444067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7931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1486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152400"/>
            <a:ext cx="1104053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8218" y="1143000"/>
            <a:ext cx="1109133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406400" y="838200"/>
            <a:ext cx="113792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solidFill>
              <a:srgbClr val="916F40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 sz="1400" dirty="0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 sz="1400"/>
            </a:p>
          </p:txBody>
        </p:sp>
      </p:grp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609600" y="6541985"/>
            <a:ext cx="1625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400" b="0" dirty="0">
                <a:latin typeface="Perpetua" panose="02020502060401020303" pitchFamily="18" charset="0"/>
              </a:rPr>
              <a:t>3/24/2021	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1273225" y="6541985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z="1400" smtClean="0">
                <a:latin typeface="Perpetua" panose="02020502060401020303" pitchFamily="18" charset="0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en-US" sz="1400" dirty="0">
              <a:latin typeface="Perpetua" panose="02020502060401020303" pitchFamily="18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2216912" y="6541984"/>
            <a:ext cx="6502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b="0" dirty="0">
                <a:latin typeface="Perpetua" panose="02020502060401020303" pitchFamily="18" charset="0"/>
              </a:rPr>
              <a:t>Introduction to Data Mining, 2nd Edition   Tan, Steinbach, </a:t>
            </a:r>
            <a:r>
              <a:rPr lang="en-US" sz="1400" b="0" dirty="0" err="1">
                <a:latin typeface="Perpetua" panose="02020502060401020303" pitchFamily="18" charset="0"/>
              </a:rPr>
              <a:t>Karpatne</a:t>
            </a:r>
            <a:r>
              <a:rPr lang="en-US" sz="1400" b="0" dirty="0">
                <a:latin typeface="Perpetua" panose="02020502060401020303" pitchFamily="18" charset="0"/>
              </a:rPr>
              <a:t>, Kumar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61" r:id="rId7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Perpetua" panose="02020502060401020303" pitchFamily="18" charset="0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916F40"/>
        </a:buClr>
        <a:buSzPct val="120000"/>
        <a:buFont typeface="Arial" panose="020B0604020202020204" pitchFamily="34" charset="0"/>
        <a:buChar char="•"/>
        <a:defRPr sz="3000">
          <a:solidFill>
            <a:schemeClr val="tx1"/>
          </a:solidFill>
          <a:latin typeface="Perpetua" panose="02020502060401020303" pitchFamily="18" charset="0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916F40"/>
        </a:buClr>
        <a:buSzPct val="100000"/>
        <a:buFont typeface="Arial" charset="0"/>
        <a:buChar char="–"/>
        <a:defRPr sz="2600">
          <a:solidFill>
            <a:schemeClr val="tx1"/>
          </a:solidFill>
          <a:latin typeface="Perpetua" panose="02020502060401020303" pitchFamily="18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916F40"/>
        </a:buClr>
        <a:buSzPct val="70000"/>
        <a:buFont typeface="Wingdings" pitchFamily="2" charset="2"/>
        <a:buChar char="u"/>
        <a:defRPr sz="2200">
          <a:solidFill>
            <a:schemeClr val="tx1"/>
          </a:solidFill>
          <a:latin typeface="Perpetua" panose="02020502060401020303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0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2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3.png"/><Relationship Id="rId9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1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2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3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54.e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2.w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9.wmf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76.png"/><Relationship Id="rId4" Type="http://schemas.openxmlformats.org/officeDocument/2006/relationships/oleObject" Target="../embeddings/oleObject9.bin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82.emf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e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79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emf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0.wmf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8.wmf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789843D6-5D71-F648-B934-E7A09F737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081" y="3145703"/>
            <a:ext cx="2719837" cy="2719837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2EF999E9-F033-AD4D-AA2A-CF33C0E29C7A}"/>
              </a:ext>
            </a:extLst>
          </p:cNvPr>
          <p:cNvSpPr txBox="1">
            <a:spLocks/>
          </p:cNvSpPr>
          <p:nvPr/>
        </p:nvSpPr>
        <p:spPr>
          <a:xfrm>
            <a:off x="838200" y="44318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 ODL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25772D-D5EB-5B45-993D-0F66FC44248B}"/>
              </a:ext>
            </a:extLst>
          </p:cNvPr>
          <p:cNvCxnSpPr/>
          <p:nvPr/>
        </p:nvCxnSpPr>
        <p:spPr>
          <a:xfrm>
            <a:off x="914400" y="1295400"/>
            <a:ext cx="10287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0C31CA-136E-D84E-AB88-866EA1C6DBD3}"/>
              </a:ext>
            </a:extLst>
          </p:cNvPr>
          <p:cNvSpPr txBox="1"/>
          <p:nvPr/>
        </p:nvSpPr>
        <p:spPr>
          <a:xfrm>
            <a:off x="990599" y="1600510"/>
            <a:ext cx="1021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</a:t>
            </a:r>
            <a:r>
              <a:rPr lang="en-US" sz="24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</a:t>
            </a:r>
          </a:p>
          <a:p>
            <a:pPr algn="ctr"/>
            <a:endParaRPr lang="en-US" sz="24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1</a:t>
            </a:r>
            <a:endParaRPr lang="en-US" sz="24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94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152400"/>
            <a:ext cx="11040533" cy="980420"/>
          </a:xfrm>
        </p:spPr>
        <p:txBody>
          <a:bodyPr/>
          <a:lstStyle/>
          <a:p>
            <a:pPr algn="ctr"/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Cluster Analysis: </a:t>
            </a:r>
            <a:r>
              <a:rPr lang="en-US" altLang="en-US" dirty="0" smtClean="0"/>
              <a:t>Concepts and </a:t>
            </a:r>
            <a:r>
              <a:rPr lang="en-US" altLang="en-US" dirty="0"/>
              <a:t>Algorithms</a:t>
            </a:r>
            <a:endParaRPr lang="en-US" altLang="en-US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81000" y="2895600"/>
            <a:ext cx="113538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rm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3200" b="0" dirty="0" smtClean="0">
                <a:latin typeface="Perpetua" panose="02020502060401020303" pitchFamily="18" charset="0"/>
              </a:rPr>
              <a:t>Presentation is based on the slides provided by</a:t>
            </a:r>
            <a:endParaRPr lang="en-US" altLang="en-US" sz="3200" b="0" dirty="0" smtClean="0">
              <a:latin typeface="Perpetua" panose="02020502060401020303" pitchFamily="18" charset="0"/>
            </a:endParaRP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3200" b="0" dirty="0" smtClean="0">
                <a:latin typeface="Perpetua" panose="02020502060401020303" pitchFamily="18" charset="0"/>
              </a:rPr>
              <a:t>Intro. Data Mining Book authors: </a:t>
            </a:r>
            <a:r>
              <a:rPr lang="en-US" altLang="en-US" sz="2800" b="0" dirty="0" smtClean="0">
                <a:latin typeface="Perpetua" panose="02020502060401020303" pitchFamily="18" charset="0"/>
              </a:rPr>
              <a:t>Tan</a:t>
            </a:r>
            <a:r>
              <a:rPr lang="en-US" altLang="en-US" sz="2800" b="0" dirty="0">
                <a:latin typeface="Perpetua" panose="02020502060401020303" pitchFamily="18" charset="0"/>
              </a:rPr>
              <a:t>, Steinbach, </a:t>
            </a:r>
            <a:r>
              <a:rPr lang="en-US" altLang="en-US" sz="2800" b="0" dirty="0" smtClean="0">
                <a:latin typeface="Perpetua" panose="02020502060401020303" pitchFamily="18" charset="0"/>
              </a:rPr>
              <a:t>Kumar</a:t>
            </a:r>
            <a:endParaRPr lang="en-US" altLang="en-US" sz="1600" b="0" dirty="0">
              <a:latin typeface="Perpetua" panose="02020502060401020303" pitchFamily="18" charset="0"/>
            </a:endParaRPr>
          </a:p>
        </p:txBody>
      </p:sp>
      <p:grpSp>
        <p:nvGrpSpPr>
          <p:cNvPr id="2052" name="Group 7"/>
          <p:cNvGrpSpPr>
            <a:grpSpLocks/>
          </p:cNvGrpSpPr>
          <p:nvPr/>
        </p:nvGrpSpPr>
        <p:grpSpPr bwMode="auto">
          <a:xfrm>
            <a:off x="381000" y="1676400"/>
            <a:ext cx="11430000" cy="152400"/>
            <a:chOff x="264" y="788"/>
            <a:chExt cx="5232" cy="124"/>
          </a:xfrm>
        </p:grpSpPr>
        <p:sp>
          <p:nvSpPr>
            <p:cNvPr id="2053" name="Rectangle 8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solidFill>
              <a:srgbClr val="916F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54" name="Rectangle 9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2286000" y="6400800"/>
            <a:ext cx="6248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Introduction to Data Mining, 2nd Edition   Tan, Steinbach, </a:t>
            </a:r>
            <a:r>
              <a:rPr lang="en-US" dirty="0" err="1">
                <a:latin typeface="Perpetua" panose="02020502060401020303" pitchFamily="18" charset="0"/>
              </a:rPr>
              <a:t>Karpatne</a:t>
            </a:r>
            <a:r>
              <a:rPr lang="en-US" dirty="0">
                <a:latin typeface="Perpetua" panose="02020502060401020303" pitchFamily="18" charset="0"/>
              </a:rPr>
              <a:t>, Kumar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Outline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 smtClean="0"/>
              <a:t>Notion of Clusters</a:t>
            </a:r>
          </a:p>
          <a:p>
            <a:r>
              <a:rPr lang="en-GB" dirty="0" smtClean="0"/>
              <a:t>Types of Clusters</a:t>
            </a:r>
            <a:endParaRPr lang="en-GB" dirty="0"/>
          </a:p>
          <a:p>
            <a:endParaRPr lang="en-GB" dirty="0" smtClean="0"/>
          </a:p>
          <a:p>
            <a:r>
              <a:rPr lang="en-GB" dirty="0" smtClean="0"/>
              <a:t>Partitional Clustering</a:t>
            </a:r>
          </a:p>
          <a:p>
            <a:pPr lvl="1"/>
            <a:r>
              <a:rPr lang="en-GB" dirty="0" smtClean="0"/>
              <a:t>K-means</a:t>
            </a:r>
          </a:p>
          <a:p>
            <a:pPr lvl="1"/>
            <a:r>
              <a:rPr lang="en-GB" dirty="0" smtClean="0"/>
              <a:t>K-means++</a:t>
            </a:r>
          </a:p>
          <a:p>
            <a:pPr lvl="1"/>
            <a:r>
              <a:rPr lang="en-GB" dirty="0" smtClean="0"/>
              <a:t>Bisecting K-means</a:t>
            </a:r>
          </a:p>
          <a:p>
            <a:pPr lvl="1"/>
            <a:r>
              <a:rPr lang="en-GB" dirty="0" smtClean="0"/>
              <a:t>Strengths and Limitations</a:t>
            </a:r>
          </a:p>
          <a:p>
            <a:pPr lvl="1"/>
            <a:endParaRPr lang="en-GB" dirty="0" smtClean="0"/>
          </a:p>
          <a:p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Hierarchical Clustering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Agglomerative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Divisive</a:t>
            </a:r>
          </a:p>
          <a:p>
            <a:pPr lvl="1"/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Inter-Cluster </a:t>
            </a:r>
            <a:r>
              <a:rPr lang="en-US" altLang="en-US" dirty="0" smtClean="0">
                <a:solidFill>
                  <a:schemeClr val="bg1">
                    <a:lumMod val="65000"/>
                  </a:schemeClr>
                </a:solidFill>
              </a:rPr>
              <a:t>Distance</a:t>
            </a:r>
          </a:p>
          <a:p>
            <a:pPr lvl="1"/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Strength and Limitation</a:t>
            </a:r>
            <a:endParaRPr lang="en-GB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457200" lvl="1" indent="0">
              <a:buNone/>
            </a:pPr>
            <a:endParaRPr lang="en-GB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Cluster Validity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Cohesion </a:t>
            </a:r>
          </a:p>
          <a:p>
            <a:pPr lvl="1"/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Separation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Silhouette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48218" y="1066800"/>
            <a:ext cx="11091333" cy="24384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41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Notion of a Cluster can be Ambiguous</a:t>
            </a:r>
          </a:p>
        </p:txBody>
      </p:sp>
      <p:grpSp>
        <p:nvGrpSpPr>
          <p:cNvPr id="6147" name="Group 91"/>
          <p:cNvGrpSpPr>
            <a:grpSpLocks/>
          </p:cNvGrpSpPr>
          <p:nvPr/>
        </p:nvGrpSpPr>
        <p:grpSpPr bwMode="auto">
          <a:xfrm>
            <a:off x="2209801" y="1905001"/>
            <a:ext cx="3344863" cy="1509713"/>
            <a:chOff x="432" y="1200"/>
            <a:chExt cx="2107" cy="951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How many clusters?</a:t>
              </a:r>
              <a:endParaRPr lang="en-US" altLang="en-US" sz="1800" b="0"/>
            </a:p>
          </p:txBody>
        </p:sp>
      </p:grpSp>
    </p:spTree>
    <p:extLst>
      <p:ext uri="{BB962C8B-B14F-4D97-AF65-F5344CB8AC3E}">
        <p14:creationId xmlns:p14="http://schemas.microsoft.com/office/powerpoint/2010/main" val="318326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6208651" y="1793875"/>
            <a:ext cx="3344863" cy="1401763"/>
            <a:chOff x="432" y="2592"/>
            <a:chExt cx="2107" cy="883"/>
          </a:xfrm>
        </p:grpSpPr>
        <p:grpSp>
          <p:nvGrpSpPr>
            <p:cNvPr id="6173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 dirty="0">
                  <a:cs typeface="Times New Roman" pitchFamily="18" charset="0"/>
                </a:rPr>
                <a:t>Two Clusters</a:t>
              </a:r>
              <a:r>
                <a:rPr lang="en-US" altLang="en-US" sz="1800" b="0" dirty="0"/>
                <a:t> </a:t>
              </a:r>
            </a:p>
          </p:txBody>
        </p:sp>
      </p:grp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Notion of a Cluster can be Ambiguous</a:t>
            </a:r>
          </a:p>
        </p:txBody>
      </p:sp>
      <p:grpSp>
        <p:nvGrpSpPr>
          <p:cNvPr id="6147" name="Group 91"/>
          <p:cNvGrpSpPr>
            <a:grpSpLocks/>
          </p:cNvGrpSpPr>
          <p:nvPr/>
        </p:nvGrpSpPr>
        <p:grpSpPr bwMode="auto">
          <a:xfrm>
            <a:off x="2209801" y="1905001"/>
            <a:ext cx="3344863" cy="1509713"/>
            <a:chOff x="432" y="1200"/>
            <a:chExt cx="2107" cy="951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How many clusters?</a:t>
              </a:r>
              <a:endParaRPr lang="en-US" altLang="en-US" sz="1800" b="0"/>
            </a:p>
          </p:txBody>
        </p:sp>
      </p:grpSp>
    </p:spTree>
    <p:extLst>
      <p:ext uri="{BB962C8B-B14F-4D97-AF65-F5344CB8AC3E}">
        <p14:creationId xmlns:p14="http://schemas.microsoft.com/office/powerpoint/2010/main" val="211084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6208651" y="1793875"/>
            <a:ext cx="3344863" cy="1401763"/>
            <a:chOff x="432" y="2592"/>
            <a:chExt cx="2107" cy="883"/>
          </a:xfrm>
        </p:grpSpPr>
        <p:grpSp>
          <p:nvGrpSpPr>
            <p:cNvPr id="6173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 dirty="0">
                  <a:cs typeface="Times New Roman" pitchFamily="18" charset="0"/>
                </a:rPr>
                <a:t>Two Clusters</a:t>
              </a:r>
              <a:r>
                <a:rPr lang="en-US" altLang="en-US" sz="1800" b="0" dirty="0"/>
                <a:t> </a:t>
              </a:r>
            </a:p>
          </p:txBody>
        </p:sp>
      </p:grp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Notion of a Cluster can be Ambiguous</a:t>
            </a:r>
          </a:p>
        </p:txBody>
      </p:sp>
      <p:grpSp>
        <p:nvGrpSpPr>
          <p:cNvPr id="6147" name="Group 91"/>
          <p:cNvGrpSpPr>
            <a:grpSpLocks/>
          </p:cNvGrpSpPr>
          <p:nvPr/>
        </p:nvGrpSpPr>
        <p:grpSpPr bwMode="auto">
          <a:xfrm>
            <a:off x="2209801" y="1905001"/>
            <a:ext cx="3344863" cy="1509713"/>
            <a:chOff x="432" y="1200"/>
            <a:chExt cx="2107" cy="951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How many clusters?</a:t>
              </a:r>
              <a:endParaRPr lang="en-US" altLang="en-US" sz="1800" b="0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2319591" y="4013063"/>
            <a:ext cx="3344862" cy="1401763"/>
            <a:chOff x="3125" y="2592"/>
            <a:chExt cx="2107" cy="883"/>
          </a:xfrm>
        </p:grpSpPr>
        <p:grpSp>
          <p:nvGrpSpPr>
            <p:cNvPr id="6195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6197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8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9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0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204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5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6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7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8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9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0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1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2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3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4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5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6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96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 dirty="0">
                  <a:cs typeface="Times New Roman" pitchFamily="18" charset="0"/>
                </a:rPr>
                <a:t>Four Clusters</a:t>
              </a:r>
              <a:r>
                <a:rPr lang="en-US" altLang="en-US" sz="1800" b="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001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6208651" y="1793875"/>
            <a:ext cx="3344863" cy="1401763"/>
            <a:chOff x="432" y="2592"/>
            <a:chExt cx="2107" cy="883"/>
          </a:xfrm>
        </p:grpSpPr>
        <p:grpSp>
          <p:nvGrpSpPr>
            <p:cNvPr id="6173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6175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6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7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8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9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0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1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2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3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4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5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6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7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8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89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0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1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2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3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4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74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 dirty="0">
                  <a:cs typeface="Times New Roman" pitchFamily="18" charset="0"/>
                </a:rPr>
                <a:t>Two Clusters</a:t>
              </a:r>
              <a:r>
                <a:rPr lang="en-US" altLang="en-US" sz="1800" b="0" dirty="0"/>
                <a:t> </a:t>
              </a:r>
            </a:p>
          </p:txBody>
        </p:sp>
      </p:grpSp>
      <p:grpSp>
        <p:nvGrpSpPr>
          <p:cNvPr id="8" name="Group 92"/>
          <p:cNvGrpSpPr>
            <a:grpSpLocks/>
          </p:cNvGrpSpPr>
          <p:nvPr/>
        </p:nvGrpSpPr>
        <p:grpSpPr bwMode="auto">
          <a:xfrm>
            <a:off x="6484938" y="4106863"/>
            <a:ext cx="3344862" cy="1509713"/>
            <a:chOff x="3125" y="1200"/>
            <a:chExt cx="2107" cy="951"/>
          </a:xfrm>
        </p:grpSpPr>
        <p:grpSp>
          <p:nvGrpSpPr>
            <p:cNvPr id="6151" name="Group 24"/>
            <p:cNvGrpSpPr>
              <a:grpSpLocks/>
            </p:cNvGrpSpPr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6153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4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5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56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160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1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2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3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4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5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6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7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8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69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0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1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72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52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 dirty="0">
                  <a:cs typeface="Times New Roman" pitchFamily="18" charset="0"/>
                </a:rPr>
                <a:t>Six Clusters</a:t>
              </a:r>
              <a:r>
                <a:rPr lang="en-US" altLang="en-US" sz="1600" b="0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Notion of a Cluster can be Ambiguous</a:t>
            </a:r>
          </a:p>
        </p:txBody>
      </p:sp>
      <p:grpSp>
        <p:nvGrpSpPr>
          <p:cNvPr id="6147" name="Group 91"/>
          <p:cNvGrpSpPr>
            <a:grpSpLocks/>
          </p:cNvGrpSpPr>
          <p:nvPr/>
        </p:nvGrpSpPr>
        <p:grpSpPr bwMode="auto">
          <a:xfrm>
            <a:off x="2209801" y="1905001"/>
            <a:ext cx="3344863" cy="1509713"/>
            <a:chOff x="432" y="1200"/>
            <a:chExt cx="2107" cy="951"/>
          </a:xfrm>
        </p:grpSpPr>
        <p:grpSp>
          <p:nvGrpSpPr>
            <p:cNvPr id="621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6219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0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1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2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3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4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5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6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7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8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29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0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1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2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3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4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5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6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7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38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218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>
                  <a:cs typeface="Times New Roman" pitchFamily="18" charset="0"/>
                </a:rPr>
                <a:t>How many clusters?</a:t>
              </a:r>
              <a:endParaRPr lang="en-US" altLang="en-US" sz="1800" b="0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2319591" y="4013063"/>
            <a:ext cx="3344862" cy="1401763"/>
            <a:chOff x="3125" y="2592"/>
            <a:chExt cx="2107" cy="883"/>
          </a:xfrm>
        </p:grpSpPr>
        <p:grpSp>
          <p:nvGrpSpPr>
            <p:cNvPr id="6195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6197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8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199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0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204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5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6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7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8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09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0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1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2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3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4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5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16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96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800" b="0" dirty="0">
                  <a:cs typeface="Times New Roman" pitchFamily="18" charset="0"/>
                </a:rPr>
                <a:t>Four Clusters</a:t>
              </a:r>
              <a:r>
                <a:rPr lang="en-US" altLang="en-US" sz="1800" b="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078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Types of </a:t>
            </a:r>
            <a:r>
              <a:rPr lang="en-US" altLang="en-US" dirty="0" err="1"/>
              <a:t>Clusterings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FF0000"/>
                </a:solidFill>
              </a:rPr>
              <a:t>clustering</a:t>
            </a:r>
            <a:r>
              <a:rPr lang="en-US" altLang="en-US" dirty="0"/>
              <a:t> is a set of clusters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Important distinction between </a:t>
            </a:r>
            <a:r>
              <a:rPr lang="en-US" altLang="en-US" dirty="0">
                <a:solidFill>
                  <a:srgbClr val="FF0000"/>
                </a:solidFill>
              </a:rPr>
              <a:t>hierarchical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partitional</a:t>
            </a:r>
            <a:r>
              <a:rPr lang="en-US" altLang="en-US" dirty="0">
                <a:solidFill>
                  <a:srgbClr val="FFCC00"/>
                </a:solidFill>
              </a:rPr>
              <a:t> </a:t>
            </a:r>
            <a:r>
              <a:rPr lang="en-US" altLang="en-US" dirty="0"/>
              <a:t>sets of clusters </a:t>
            </a:r>
            <a:endParaRPr lang="en-US" altLang="en-US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1200" dirty="0">
              <a:solidFill>
                <a:srgbClr val="FFCC00"/>
              </a:solidFill>
            </a:endParaRPr>
          </a:p>
          <a:p>
            <a:pPr marL="850900" lvl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Partitional Clustering</a:t>
            </a:r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A division of data objects into non-overlapping subsets (clusters)</a:t>
            </a:r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endParaRPr lang="en-US" altLang="en-US" sz="600" dirty="0">
              <a:solidFill>
                <a:srgbClr val="FFCC00"/>
              </a:solidFill>
            </a:endParaRPr>
          </a:p>
          <a:p>
            <a:pPr marL="850900" lvl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Hierarchical clustering</a:t>
            </a:r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A set of nested clusters organized as a hierarchical tree </a:t>
            </a:r>
          </a:p>
        </p:txBody>
      </p:sp>
    </p:spTree>
    <p:extLst>
      <p:ext uri="{BB962C8B-B14F-4D97-AF65-F5344CB8AC3E}">
        <p14:creationId xmlns:p14="http://schemas.microsoft.com/office/powerpoint/2010/main" val="50317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Partitional Clustering</a:t>
            </a:r>
          </a:p>
        </p:txBody>
      </p:sp>
      <p:sp>
        <p:nvSpPr>
          <p:cNvPr id="8195" name="Freeform 4"/>
          <p:cNvSpPr>
            <a:spLocks/>
          </p:cNvSpPr>
          <p:nvPr/>
        </p:nvSpPr>
        <p:spPr bwMode="auto">
          <a:xfrm>
            <a:off x="2778125" y="2517775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" name="Freeform 5"/>
          <p:cNvSpPr>
            <a:spLocks/>
          </p:cNvSpPr>
          <p:nvPr/>
        </p:nvSpPr>
        <p:spPr bwMode="auto">
          <a:xfrm>
            <a:off x="2778125" y="2716214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Freeform 7"/>
          <p:cNvSpPr>
            <a:spLocks/>
          </p:cNvSpPr>
          <p:nvPr/>
        </p:nvSpPr>
        <p:spPr bwMode="auto">
          <a:xfrm>
            <a:off x="3074989" y="26193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Freeform 9"/>
          <p:cNvSpPr>
            <a:spLocks/>
          </p:cNvSpPr>
          <p:nvPr/>
        </p:nvSpPr>
        <p:spPr bwMode="auto">
          <a:xfrm>
            <a:off x="3644901" y="182562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1" name="Freeform 10"/>
          <p:cNvSpPr>
            <a:spLocks/>
          </p:cNvSpPr>
          <p:nvPr/>
        </p:nvSpPr>
        <p:spPr bwMode="auto">
          <a:xfrm>
            <a:off x="3875089" y="2020889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Freeform 11"/>
          <p:cNvSpPr>
            <a:spLocks/>
          </p:cNvSpPr>
          <p:nvPr/>
        </p:nvSpPr>
        <p:spPr bwMode="auto">
          <a:xfrm>
            <a:off x="397192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3" name="Freeform 12"/>
          <p:cNvSpPr>
            <a:spLocks/>
          </p:cNvSpPr>
          <p:nvPr/>
        </p:nvSpPr>
        <p:spPr bwMode="auto">
          <a:xfrm>
            <a:off x="437197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Freeform 13"/>
          <p:cNvSpPr>
            <a:spLocks/>
          </p:cNvSpPr>
          <p:nvPr/>
        </p:nvSpPr>
        <p:spPr bwMode="auto">
          <a:xfrm>
            <a:off x="4171950" y="2117725"/>
            <a:ext cx="96838" cy="103188"/>
          </a:xfrm>
          <a:custGeom>
            <a:avLst/>
            <a:gdLst>
              <a:gd name="T0" fmla="*/ 2147483647 w 61"/>
              <a:gd name="T1" fmla="*/ 2147483647 h 65"/>
              <a:gd name="T2" fmla="*/ 2147483647 w 61"/>
              <a:gd name="T3" fmla="*/ 2147483647 h 65"/>
              <a:gd name="T4" fmla="*/ 2147483647 w 61"/>
              <a:gd name="T5" fmla="*/ 2147483647 h 65"/>
              <a:gd name="T6" fmla="*/ 2147483647 w 61"/>
              <a:gd name="T7" fmla="*/ 2147483647 h 65"/>
              <a:gd name="T8" fmla="*/ 2147483647 w 61"/>
              <a:gd name="T9" fmla="*/ 2147483647 h 65"/>
              <a:gd name="T10" fmla="*/ 0 w 61"/>
              <a:gd name="T11" fmla="*/ 2147483647 h 65"/>
              <a:gd name="T12" fmla="*/ 0 w 61"/>
              <a:gd name="T13" fmla="*/ 2147483647 h 65"/>
              <a:gd name="T14" fmla="*/ 2147483647 w 61"/>
              <a:gd name="T15" fmla="*/ 2147483647 h 65"/>
              <a:gd name="T16" fmla="*/ 2147483647 w 61"/>
              <a:gd name="T17" fmla="*/ 0 h 65"/>
              <a:gd name="T18" fmla="*/ 2147483647 w 61"/>
              <a:gd name="T19" fmla="*/ 2147483647 h 65"/>
              <a:gd name="T20" fmla="*/ 2147483647 w 61"/>
              <a:gd name="T21" fmla="*/ 2147483647 h 65"/>
              <a:gd name="T22" fmla="*/ 2147483647 w 61"/>
              <a:gd name="T23" fmla="*/ 2147483647 h 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5"/>
              <a:gd name="T38" fmla="*/ 61 w 61"/>
              <a:gd name="T39" fmla="*/ 65 h 6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5" name="Freeform 14"/>
          <p:cNvSpPr>
            <a:spLocks/>
          </p:cNvSpPr>
          <p:nvPr/>
        </p:nvSpPr>
        <p:spPr bwMode="auto">
          <a:xfrm>
            <a:off x="4171950" y="1724025"/>
            <a:ext cx="96838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7" name="Freeform 16"/>
          <p:cNvSpPr>
            <a:spLocks/>
          </p:cNvSpPr>
          <p:nvPr/>
        </p:nvSpPr>
        <p:spPr bwMode="auto">
          <a:xfrm>
            <a:off x="3074989" y="2220914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Freeform 19"/>
          <p:cNvSpPr>
            <a:spLocks/>
          </p:cNvSpPr>
          <p:nvPr/>
        </p:nvSpPr>
        <p:spPr bwMode="auto">
          <a:xfrm>
            <a:off x="3244851" y="199072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Text Box 20"/>
          <p:cNvSpPr txBox="1">
            <a:spLocks noChangeArrowheads="1"/>
          </p:cNvSpPr>
          <p:nvPr/>
        </p:nvSpPr>
        <p:spPr bwMode="auto">
          <a:xfrm>
            <a:off x="2514600" y="5562601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Original Points</a:t>
            </a:r>
          </a:p>
        </p:txBody>
      </p:sp>
      <p:sp>
        <p:nvSpPr>
          <p:cNvPr id="8214" name="Text Box 21"/>
          <p:cNvSpPr txBox="1">
            <a:spLocks noChangeArrowheads="1"/>
          </p:cNvSpPr>
          <p:nvPr/>
        </p:nvSpPr>
        <p:spPr bwMode="auto">
          <a:xfrm>
            <a:off x="7010400" y="5562608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A Partitional  Clustering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5525541" y="2119111"/>
            <a:ext cx="522835" cy="213967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5733"/>
          <a:stretch/>
        </p:blipFill>
        <p:spPr>
          <a:xfrm>
            <a:off x="6228802" y="1178528"/>
            <a:ext cx="3375660" cy="202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9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Partitional Clustering</a:t>
            </a:r>
          </a:p>
        </p:txBody>
      </p:sp>
      <p:sp>
        <p:nvSpPr>
          <p:cNvPr id="8195" name="Freeform 4"/>
          <p:cNvSpPr>
            <a:spLocks/>
          </p:cNvSpPr>
          <p:nvPr/>
        </p:nvSpPr>
        <p:spPr bwMode="auto">
          <a:xfrm>
            <a:off x="2778125" y="2517775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" name="Freeform 5"/>
          <p:cNvSpPr>
            <a:spLocks/>
          </p:cNvSpPr>
          <p:nvPr/>
        </p:nvSpPr>
        <p:spPr bwMode="auto">
          <a:xfrm>
            <a:off x="2778125" y="2716214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7" name="Freeform 6"/>
          <p:cNvSpPr>
            <a:spLocks/>
          </p:cNvSpPr>
          <p:nvPr/>
        </p:nvSpPr>
        <p:spPr bwMode="auto">
          <a:xfrm>
            <a:off x="3475039" y="4711701"/>
            <a:ext cx="96837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0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6"/>
                </a:lnTo>
                <a:lnTo>
                  <a:pt x="43" y="59"/>
                </a:lnTo>
                <a:lnTo>
                  <a:pt x="24" y="62"/>
                </a:lnTo>
                <a:lnTo>
                  <a:pt x="9" y="53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0"/>
                </a:lnTo>
                <a:lnTo>
                  <a:pt x="55" y="13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Freeform 7"/>
          <p:cNvSpPr>
            <a:spLocks/>
          </p:cNvSpPr>
          <p:nvPr/>
        </p:nvSpPr>
        <p:spPr bwMode="auto">
          <a:xfrm>
            <a:off x="3074989" y="26193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9" name="Freeform 8"/>
          <p:cNvSpPr>
            <a:spLocks/>
          </p:cNvSpPr>
          <p:nvPr/>
        </p:nvSpPr>
        <p:spPr bwMode="auto">
          <a:xfrm>
            <a:off x="3475039" y="3914775"/>
            <a:ext cx="96837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5" y="46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Freeform 9"/>
          <p:cNvSpPr>
            <a:spLocks/>
          </p:cNvSpPr>
          <p:nvPr/>
        </p:nvSpPr>
        <p:spPr bwMode="auto">
          <a:xfrm>
            <a:off x="3644901" y="182562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1" name="Freeform 10"/>
          <p:cNvSpPr>
            <a:spLocks/>
          </p:cNvSpPr>
          <p:nvPr/>
        </p:nvSpPr>
        <p:spPr bwMode="auto">
          <a:xfrm>
            <a:off x="3875089" y="2020889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2" name="Freeform 11"/>
          <p:cNvSpPr>
            <a:spLocks/>
          </p:cNvSpPr>
          <p:nvPr/>
        </p:nvSpPr>
        <p:spPr bwMode="auto">
          <a:xfrm>
            <a:off x="397192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3" name="Freeform 12"/>
          <p:cNvSpPr>
            <a:spLocks/>
          </p:cNvSpPr>
          <p:nvPr/>
        </p:nvSpPr>
        <p:spPr bwMode="auto">
          <a:xfrm>
            <a:off x="4371975" y="2317750"/>
            <a:ext cx="96838" cy="101600"/>
          </a:xfrm>
          <a:custGeom>
            <a:avLst/>
            <a:gdLst>
              <a:gd name="T0" fmla="*/ 2147483647 w 61"/>
              <a:gd name="T1" fmla="*/ 2147483647 h 64"/>
              <a:gd name="T2" fmla="*/ 2147483647 w 61"/>
              <a:gd name="T3" fmla="*/ 2147483647 h 64"/>
              <a:gd name="T4" fmla="*/ 2147483647 w 61"/>
              <a:gd name="T5" fmla="*/ 2147483647 h 64"/>
              <a:gd name="T6" fmla="*/ 2147483647 w 61"/>
              <a:gd name="T7" fmla="*/ 2147483647 h 64"/>
              <a:gd name="T8" fmla="*/ 2147483647 w 61"/>
              <a:gd name="T9" fmla="*/ 2147483647 h 64"/>
              <a:gd name="T10" fmla="*/ 0 w 61"/>
              <a:gd name="T11" fmla="*/ 2147483647 h 64"/>
              <a:gd name="T12" fmla="*/ 0 w 61"/>
              <a:gd name="T13" fmla="*/ 2147483647 h 64"/>
              <a:gd name="T14" fmla="*/ 2147483647 w 61"/>
              <a:gd name="T15" fmla="*/ 2147483647 h 64"/>
              <a:gd name="T16" fmla="*/ 2147483647 w 61"/>
              <a:gd name="T17" fmla="*/ 0 h 64"/>
              <a:gd name="T18" fmla="*/ 2147483647 w 61"/>
              <a:gd name="T19" fmla="*/ 2147483647 h 64"/>
              <a:gd name="T20" fmla="*/ 2147483647 w 61"/>
              <a:gd name="T21" fmla="*/ 2147483647 h 64"/>
              <a:gd name="T22" fmla="*/ 2147483647 w 61"/>
              <a:gd name="T23" fmla="*/ 2147483647 h 6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4"/>
              <a:gd name="T38" fmla="*/ 61 w 61"/>
              <a:gd name="T39" fmla="*/ 64 h 6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Freeform 13"/>
          <p:cNvSpPr>
            <a:spLocks/>
          </p:cNvSpPr>
          <p:nvPr/>
        </p:nvSpPr>
        <p:spPr bwMode="auto">
          <a:xfrm>
            <a:off x="4171950" y="2117725"/>
            <a:ext cx="96838" cy="103188"/>
          </a:xfrm>
          <a:custGeom>
            <a:avLst/>
            <a:gdLst>
              <a:gd name="T0" fmla="*/ 2147483647 w 61"/>
              <a:gd name="T1" fmla="*/ 2147483647 h 65"/>
              <a:gd name="T2" fmla="*/ 2147483647 w 61"/>
              <a:gd name="T3" fmla="*/ 2147483647 h 65"/>
              <a:gd name="T4" fmla="*/ 2147483647 w 61"/>
              <a:gd name="T5" fmla="*/ 2147483647 h 65"/>
              <a:gd name="T6" fmla="*/ 2147483647 w 61"/>
              <a:gd name="T7" fmla="*/ 2147483647 h 65"/>
              <a:gd name="T8" fmla="*/ 2147483647 w 61"/>
              <a:gd name="T9" fmla="*/ 2147483647 h 65"/>
              <a:gd name="T10" fmla="*/ 0 w 61"/>
              <a:gd name="T11" fmla="*/ 2147483647 h 65"/>
              <a:gd name="T12" fmla="*/ 0 w 61"/>
              <a:gd name="T13" fmla="*/ 2147483647 h 65"/>
              <a:gd name="T14" fmla="*/ 2147483647 w 61"/>
              <a:gd name="T15" fmla="*/ 2147483647 h 65"/>
              <a:gd name="T16" fmla="*/ 2147483647 w 61"/>
              <a:gd name="T17" fmla="*/ 0 h 65"/>
              <a:gd name="T18" fmla="*/ 2147483647 w 61"/>
              <a:gd name="T19" fmla="*/ 2147483647 h 65"/>
              <a:gd name="T20" fmla="*/ 2147483647 w 61"/>
              <a:gd name="T21" fmla="*/ 2147483647 h 65"/>
              <a:gd name="T22" fmla="*/ 2147483647 w 61"/>
              <a:gd name="T23" fmla="*/ 2147483647 h 6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5"/>
              <a:gd name="T38" fmla="*/ 61 w 61"/>
              <a:gd name="T39" fmla="*/ 65 h 6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5" name="Freeform 14"/>
          <p:cNvSpPr>
            <a:spLocks/>
          </p:cNvSpPr>
          <p:nvPr/>
        </p:nvSpPr>
        <p:spPr bwMode="auto">
          <a:xfrm>
            <a:off x="4171950" y="1724025"/>
            <a:ext cx="96838" cy="96838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6" name="Freeform 15"/>
          <p:cNvSpPr>
            <a:spLocks/>
          </p:cNvSpPr>
          <p:nvPr/>
        </p:nvSpPr>
        <p:spPr bwMode="auto">
          <a:xfrm>
            <a:off x="4868864" y="4711701"/>
            <a:ext cx="103187" cy="98425"/>
          </a:xfrm>
          <a:custGeom>
            <a:avLst/>
            <a:gdLst>
              <a:gd name="T0" fmla="*/ 2147483647 w 65"/>
              <a:gd name="T1" fmla="*/ 2147483647 h 62"/>
              <a:gd name="T2" fmla="*/ 2147483647 w 65"/>
              <a:gd name="T3" fmla="*/ 2147483647 h 62"/>
              <a:gd name="T4" fmla="*/ 2147483647 w 65"/>
              <a:gd name="T5" fmla="*/ 2147483647 h 62"/>
              <a:gd name="T6" fmla="*/ 2147483647 w 65"/>
              <a:gd name="T7" fmla="*/ 2147483647 h 62"/>
              <a:gd name="T8" fmla="*/ 2147483647 w 65"/>
              <a:gd name="T9" fmla="*/ 2147483647 h 62"/>
              <a:gd name="T10" fmla="*/ 0 w 65"/>
              <a:gd name="T11" fmla="*/ 2147483647 h 62"/>
              <a:gd name="T12" fmla="*/ 0 w 65"/>
              <a:gd name="T13" fmla="*/ 2147483647 h 62"/>
              <a:gd name="T14" fmla="*/ 2147483647 w 65"/>
              <a:gd name="T15" fmla="*/ 2147483647 h 62"/>
              <a:gd name="T16" fmla="*/ 2147483647 w 65"/>
              <a:gd name="T17" fmla="*/ 0 h 62"/>
              <a:gd name="T18" fmla="*/ 2147483647 w 65"/>
              <a:gd name="T19" fmla="*/ 0 h 62"/>
              <a:gd name="T20" fmla="*/ 2147483647 w 65"/>
              <a:gd name="T21" fmla="*/ 2147483647 h 62"/>
              <a:gd name="T22" fmla="*/ 2147483647 w 65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5"/>
              <a:gd name="T37" fmla="*/ 0 h 62"/>
              <a:gd name="T38" fmla="*/ 65 w 65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5" h="62">
                <a:moveTo>
                  <a:pt x="65" y="31"/>
                </a:moveTo>
                <a:lnTo>
                  <a:pt x="58" y="46"/>
                </a:lnTo>
                <a:lnTo>
                  <a:pt x="46" y="59"/>
                </a:lnTo>
                <a:lnTo>
                  <a:pt x="28" y="62"/>
                </a:lnTo>
                <a:lnTo>
                  <a:pt x="12" y="53"/>
                </a:lnTo>
                <a:lnTo>
                  <a:pt x="0" y="40"/>
                </a:lnTo>
                <a:lnTo>
                  <a:pt x="0" y="22"/>
                </a:lnTo>
                <a:lnTo>
                  <a:pt x="12" y="7"/>
                </a:lnTo>
                <a:lnTo>
                  <a:pt x="28" y="0"/>
                </a:lnTo>
                <a:lnTo>
                  <a:pt x="46" y="0"/>
                </a:lnTo>
                <a:lnTo>
                  <a:pt x="58" y="13"/>
                </a:lnTo>
                <a:lnTo>
                  <a:pt x="65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7" name="Freeform 16"/>
          <p:cNvSpPr>
            <a:spLocks/>
          </p:cNvSpPr>
          <p:nvPr/>
        </p:nvSpPr>
        <p:spPr bwMode="auto">
          <a:xfrm>
            <a:off x="3074989" y="2220914"/>
            <a:ext cx="96837" cy="96837"/>
          </a:xfrm>
          <a:custGeom>
            <a:avLst/>
            <a:gdLst>
              <a:gd name="T0" fmla="*/ 2147483647 w 61"/>
              <a:gd name="T1" fmla="*/ 2147483647 h 61"/>
              <a:gd name="T2" fmla="*/ 2147483647 w 61"/>
              <a:gd name="T3" fmla="*/ 2147483647 h 61"/>
              <a:gd name="T4" fmla="*/ 2147483647 w 61"/>
              <a:gd name="T5" fmla="*/ 2147483647 h 61"/>
              <a:gd name="T6" fmla="*/ 2147483647 w 61"/>
              <a:gd name="T7" fmla="*/ 2147483647 h 61"/>
              <a:gd name="T8" fmla="*/ 2147483647 w 61"/>
              <a:gd name="T9" fmla="*/ 2147483647 h 61"/>
              <a:gd name="T10" fmla="*/ 0 w 61"/>
              <a:gd name="T11" fmla="*/ 2147483647 h 61"/>
              <a:gd name="T12" fmla="*/ 0 w 61"/>
              <a:gd name="T13" fmla="*/ 2147483647 h 61"/>
              <a:gd name="T14" fmla="*/ 2147483647 w 61"/>
              <a:gd name="T15" fmla="*/ 2147483647 h 61"/>
              <a:gd name="T16" fmla="*/ 2147483647 w 61"/>
              <a:gd name="T17" fmla="*/ 0 h 61"/>
              <a:gd name="T18" fmla="*/ 2147483647 w 61"/>
              <a:gd name="T19" fmla="*/ 2147483647 h 61"/>
              <a:gd name="T20" fmla="*/ 2147483647 w 61"/>
              <a:gd name="T21" fmla="*/ 2147483647 h 61"/>
              <a:gd name="T22" fmla="*/ 2147483647 w 61"/>
              <a:gd name="T23" fmla="*/ 2147483647 h 6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1"/>
              <a:gd name="T38" fmla="*/ 61 w 61"/>
              <a:gd name="T39" fmla="*/ 61 h 6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8" name="Freeform 17"/>
          <p:cNvSpPr>
            <a:spLocks/>
          </p:cNvSpPr>
          <p:nvPr/>
        </p:nvSpPr>
        <p:spPr bwMode="auto">
          <a:xfrm>
            <a:off x="2747964" y="441007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9"/>
                </a:lnTo>
                <a:lnTo>
                  <a:pt x="43" y="62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10"/>
                </a:lnTo>
                <a:lnTo>
                  <a:pt x="25" y="0"/>
                </a:lnTo>
                <a:lnTo>
                  <a:pt x="43" y="3"/>
                </a:lnTo>
                <a:lnTo>
                  <a:pt x="56" y="16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9" name="Freeform 18"/>
          <p:cNvSpPr>
            <a:spLocks/>
          </p:cNvSpPr>
          <p:nvPr/>
        </p:nvSpPr>
        <p:spPr bwMode="auto">
          <a:xfrm>
            <a:off x="2778125" y="5008564"/>
            <a:ext cx="96838" cy="98425"/>
          </a:xfrm>
          <a:custGeom>
            <a:avLst/>
            <a:gdLst>
              <a:gd name="T0" fmla="*/ 2147483647 w 61"/>
              <a:gd name="T1" fmla="*/ 2147483647 h 62"/>
              <a:gd name="T2" fmla="*/ 2147483647 w 61"/>
              <a:gd name="T3" fmla="*/ 2147483647 h 62"/>
              <a:gd name="T4" fmla="*/ 2147483647 w 61"/>
              <a:gd name="T5" fmla="*/ 2147483647 h 62"/>
              <a:gd name="T6" fmla="*/ 2147483647 w 61"/>
              <a:gd name="T7" fmla="*/ 2147483647 h 62"/>
              <a:gd name="T8" fmla="*/ 2147483647 w 61"/>
              <a:gd name="T9" fmla="*/ 2147483647 h 62"/>
              <a:gd name="T10" fmla="*/ 0 w 61"/>
              <a:gd name="T11" fmla="*/ 2147483647 h 62"/>
              <a:gd name="T12" fmla="*/ 0 w 61"/>
              <a:gd name="T13" fmla="*/ 2147483647 h 62"/>
              <a:gd name="T14" fmla="*/ 2147483647 w 61"/>
              <a:gd name="T15" fmla="*/ 2147483647 h 62"/>
              <a:gd name="T16" fmla="*/ 2147483647 w 61"/>
              <a:gd name="T17" fmla="*/ 0 h 62"/>
              <a:gd name="T18" fmla="*/ 2147483647 w 61"/>
              <a:gd name="T19" fmla="*/ 2147483647 h 62"/>
              <a:gd name="T20" fmla="*/ 2147483647 w 61"/>
              <a:gd name="T21" fmla="*/ 2147483647 h 62"/>
              <a:gd name="T22" fmla="*/ 2147483647 w 61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1"/>
              <a:gd name="T37" fmla="*/ 0 h 62"/>
              <a:gd name="T38" fmla="*/ 61 w 61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59"/>
                </a:lnTo>
                <a:lnTo>
                  <a:pt x="24" y="62"/>
                </a:lnTo>
                <a:lnTo>
                  <a:pt x="9" y="56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Freeform 19"/>
          <p:cNvSpPr>
            <a:spLocks/>
          </p:cNvSpPr>
          <p:nvPr/>
        </p:nvSpPr>
        <p:spPr bwMode="auto">
          <a:xfrm>
            <a:off x="3244851" y="1990726"/>
            <a:ext cx="98425" cy="98425"/>
          </a:xfrm>
          <a:custGeom>
            <a:avLst/>
            <a:gdLst>
              <a:gd name="T0" fmla="*/ 2147483647 w 62"/>
              <a:gd name="T1" fmla="*/ 2147483647 h 62"/>
              <a:gd name="T2" fmla="*/ 2147483647 w 62"/>
              <a:gd name="T3" fmla="*/ 2147483647 h 62"/>
              <a:gd name="T4" fmla="*/ 2147483647 w 62"/>
              <a:gd name="T5" fmla="*/ 2147483647 h 62"/>
              <a:gd name="T6" fmla="*/ 2147483647 w 62"/>
              <a:gd name="T7" fmla="*/ 2147483647 h 62"/>
              <a:gd name="T8" fmla="*/ 2147483647 w 62"/>
              <a:gd name="T9" fmla="*/ 2147483647 h 62"/>
              <a:gd name="T10" fmla="*/ 0 w 62"/>
              <a:gd name="T11" fmla="*/ 2147483647 h 62"/>
              <a:gd name="T12" fmla="*/ 0 w 62"/>
              <a:gd name="T13" fmla="*/ 2147483647 h 62"/>
              <a:gd name="T14" fmla="*/ 2147483647 w 62"/>
              <a:gd name="T15" fmla="*/ 2147483647 h 62"/>
              <a:gd name="T16" fmla="*/ 2147483647 w 62"/>
              <a:gd name="T17" fmla="*/ 0 h 62"/>
              <a:gd name="T18" fmla="*/ 2147483647 w 62"/>
              <a:gd name="T19" fmla="*/ 2147483647 h 62"/>
              <a:gd name="T20" fmla="*/ 2147483647 w 62"/>
              <a:gd name="T21" fmla="*/ 2147483647 h 62"/>
              <a:gd name="T22" fmla="*/ 2147483647 w 62"/>
              <a:gd name="T23" fmla="*/ 2147483647 h 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62"/>
              <a:gd name="T37" fmla="*/ 0 h 62"/>
              <a:gd name="T38" fmla="*/ 62 w 62"/>
              <a:gd name="T39" fmla="*/ 62 h 6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1" name="Text Box 20"/>
          <p:cNvSpPr txBox="1">
            <a:spLocks noChangeArrowheads="1"/>
          </p:cNvSpPr>
          <p:nvPr/>
        </p:nvSpPr>
        <p:spPr bwMode="auto">
          <a:xfrm>
            <a:off x="2514600" y="5562601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Original Points</a:t>
            </a:r>
          </a:p>
        </p:txBody>
      </p:sp>
      <p:sp>
        <p:nvSpPr>
          <p:cNvPr id="8214" name="Text Box 21"/>
          <p:cNvSpPr txBox="1">
            <a:spLocks noChangeArrowheads="1"/>
          </p:cNvSpPr>
          <p:nvPr/>
        </p:nvSpPr>
        <p:spPr bwMode="auto">
          <a:xfrm>
            <a:off x="7010400" y="5562608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A Partitional  Clustering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5525541" y="2119111"/>
            <a:ext cx="522835" cy="213967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4" name="Right Arrow 23"/>
          <p:cNvSpPr/>
          <p:nvPr/>
        </p:nvSpPr>
        <p:spPr bwMode="auto">
          <a:xfrm>
            <a:off x="5638253" y="4434234"/>
            <a:ext cx="522835" cy="213967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5733"/>
          <a:stretch/>
        </p:blipFill>
        <p:spPr>
          <a:xfrm>
            <a:off x="6228802" y="1178528"/>
            <a:ext cx="3375660" cy="202187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/>
          <a:srcRect t="52609"/>
          <a:stretch/>
        </p:blipFill>
        <p:spPr>
          <a:xfrm>
            <a:off x="6187729" y="3655476"/>
            <a:ext cx="3375660" cy="216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1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1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86000" y="1447801"/>
            <a:ext cx="2819400" cy="1643061"/>
            <a:chOff x="533400" y="3264939"/>
            <a:chExt cx="2819400" cy="1643061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9217" name="Group 9216"/>
          <p:cNvGrpSpPr/>
          <p:nvPr/>
        </p:nvGrpSpPr>
        <p:grpSpPr>
          <a:xfrm>
            <a:off x="7407281" y="1007226"/>
            <a:ext cx="2133600" cy="2268392"/>
            <a:chOff x="5220494" y="3599008"/>
            <a:chExt cx="2133600" cy="2268392"/>
          </a:xfrm>
        </p:grpSpPr>
        <p:sp>
          <p:nvSpPr>
            <p:cNvPr id="5" name="TextBox 4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2209801" y="3886201"/>
            <a:ext cx="2819400" cy="1643061"/>
            <a:chOff x="541338" y="3140497"/>
            <a:chExt cx="2819400" cy="1643061"/>
          </a:xfrm>
        </p:grpSpPr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36"/>
            <p:cNvSpPr/>
            <p:nvPr/>
          </p:nvSpPr>
          <p:spPr bwMode="auto">
            <a:xfrm rot="5400000">
              <a:off x="2041057" y="3497099"/>
              <a:ext cx="719186" cy="1117420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 rot="2569901">
              <a:off x="610330" y="3724824"/>
              <a:ext cx="1409295" cy="717578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541338" y="3140497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467600" y="3597320"/>
            <a:ext cx="2133600" cy="2270081"/>
            <a:chOff x="5220494" y="3597319"/>
            <a:chExt cx="2133600" cy="2270081"/>
          </a:xfrm>
        </p:grpSpPr>
        <p:sp>
          <p:nvSpPr>
            <p:cNvPr id="46" name="TextBox 45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51" name="Straight Connector 50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Straight Connector 51"/>
            <p:cNvCxnSpPr/>
            <p:nvPr/>
          </p:nvCxnSpPr>
          <p:spPr bwMode="auto">
            <a:xfrm>
              <a:off x="6515894" y="4614446"/>
              <a:ext cx="538111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/>
            <p:cNvCxnSpPr/>
            <p:nvPr/>
          </p:nvCxnSpPr>
          <p:spPr bwMode="auto">
            <a:xfrm>
              <a:off x="6768945" y="3885319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Straight Connector 54"/>
            <p:cNvCxnSpPr/>
            <p:nvPr/>
          </p:nvCxnSpPr>
          <p:spPr bwMode="auto">
            <a:xfrm>
              <a:off x="5583171" y="3885319"/>
              <a:ext cx="11880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Straight Connector 55"/>
            <p:cNvCxnSpPr/>
            <p:nvPr/>
          </p:nvCxnSpPr>
          <p:spPr bwMode="auto">
            <a:xfrm>
              <a:off x="6154402" y="3597319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Straight Connector 58"/>
            <p:cNvCxnSpPr/>
            <p:nvPr/>
          </p:nvCxnSpPr>
          <p:spPr bwMode="auto">
            <a:xfrm>
              <a:off x="6515894" y="4613565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Straight Connector 59"/>
            <p:cNvCxnSpPr/>
            <p:nvPr/>
          </p:nvCxnSpPr>
          <p:spPr bwMode="auto">
            <a:xfrm>
              <a:off x="5870071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/>
            <p:cNvCxnSpPr/>
            <p:nvPr/>
          </p:nvCxnSpPr>
          <p:spPr bwMode="auto">
            <a:xfrm>
              <a:off x="5334000" y="4614446"/>
              <a:ext cx="538111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/>
            <p:nvPr/>
          </p:nvCxnSpPr>
          <p:spPr bwMode="auto">
            <a:xfrm>
              <a:off x="5334000" y="4613565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5591484" y="3885319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752600" y="5791201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Non-traditional Hierarchical Clustering</a:t>
            </a: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7086600" y="5791201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Dendrogram</a:t>
            </a:r>
          </a:p>
        </p:txBody>
      </p:sp>
    </p:spTree>
    <p:extLst>
      <p:ext uri="{BB962C8B-B14F-4D97-AF65-F5344CB8AC3E}">
        <p14:creationId xmlns:p14="http://schemas.microsoft.com/office/powerpoint/2010/main" val="41157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Other Distinctions Between Sets of Clusters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Exclusive versus </a:t>
            </a:r>
            <a:r>
              <a:rPr lang="en-US" altLang="en-US" dirty="0" smtClean="0"/>
              <a:t>non-exclusive</a:t>
            </a:r>
          </a:p>
          <a:p>
            <a:pPr marL="850900" lvl="1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In non-exclusive </a:t>
            </a:r>
            <a:r>
              <a:rPr lang="en-US" altLang="en-US" dirty="0" err="1"/>
              <a:t>clusterings</a:t>
            </a:r>
            <a:r>
              <a:rPr lang="en-US" altLang="en-US" dirty="0"/>
              <a:t>, points may belong to multiple clusters.</a:t>
            </a:r>
          </a:p>
          <a:p>
            <a:pPr marL="850900" lvl="1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 smtClean="0"/>
              <a:t>Fuzzy </a:t>
            </a:r>
            <a:r>
              <a:rPr lang="en-US" altLang="en-US" dirty="0"/>
              <a:t>clustering  (one type of non-exclusive) 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In fuzzy clustering, a point belongs to every cluster with some weight between 0 and 1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Weights must sum to 1</a:t>
            </a:r>
          </a:p>
          <a:p>
            <a:pPr marL="857250" lvl="2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dirty="0"/>
              <a:t>Probabilistic clustering has similar characteristics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en-US" dirty="0"/>
              <a:t>Partial versus complete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In some cases, we only want to cluster some of the data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3734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Types of Clusters</a:t>
            </a:r>
          </a:p>
        </p:txBody>
      </p:sp>
      <p:sp>
        <p:nvSpPr>
          <p:cNvPr id="1126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 Well-separated clusters</a:t>
            </a:r>
          </a:p>
          <a:p>
            <a:endParaRPr lang="en-US" altLang="en-US" sz="2400" dirty="0"/>
          </a:p>
          <a:p>
            <a:r>
              <a:rPr lang="en-US" altLang="en-US" sz="2400" dirty="0"/>
              <a:t> Prototype-based clusters</a:t>
            </a:r>
          </a:p>
          <a:p>
            <a:endParaRPr lang="en-US" altLang="en-US" sz="2400" dirty="0"/>
          </a:p>
          <a:p>
            <a:r>
              <a:rPr lang="en-US" altLang="en-US" sz="2400" dirty="0"/>
              <a:t> Contiguity-based clusters</a:t>
            </a:r>
          </a:p>
          <a:p>
            <a:endParaRPr lang="en-US" altLang="en-US" sz="2400" dirty="0"/>
          </a:p>
          <a:p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</a:rPr>
              <a:t> Density-based clusters</a:t>
            </a:r>
          </a:p>
          <a:p>
            <a:endParaRPr lang="en-US" altLang="en-US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</a:rPr>
              <a:t>Described by an 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383018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Types of Clusters: Well-Separated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Well-Separated Clusters: </a:t>
            </a:r>
            <a:endParaRPr lang="en-US" altLang="en-US" dirty="0" smtClean="0"/>
          </a:p>
          <a:p>
            <a:pPr marL="850900" lvl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 smtClean="0"/>
              <a:t>A </a:t>
            </a:r>
            <a:r>
              <a:rPr lang="en-US" altLang="en-US" sz="2400" dirty="0"/>
              <a:t>cluster is a set of points such that any point in a cluster is closer (or more similar) to every other point in the cluster than to any point not in the cluster.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dirty="0"/>
          </a:p>
        </p:txBody>
      </p:sp>
      <p:sp>
        <p:nvSpPr>
          <p:cNvPr id="12292" name="Oval 4"/>
          <p:cNvSpPr>
            <a:spLocks noChangeAspect="1" noChangeArrowheads="1"/>
          </p:cNvSpPr>
          <p:nvPr/>
        </p:nvSpPr>
        <p:spPr bwMode="auto">
          <a:xfrm>
            <a:off x="2971800" y="4570413"/>
            <a:ext cx="1143000" cy="1143000"/>
          </a:xfrm>
          <a:prstGeom prst="ellipse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3" name="Oval 5"/>
          <p:cNvSpPr>
            <a:spLocks noChangeAspect="1" noChangeArrowheads="1"/>
          </p:cNvSpPr>
          <p:nvPr/>
        </p:nvSpPr>
        <p:spPr bwMode="auto">
          <a:xfrm>
            <a:off x="7542213" y="4570413"/>
            <a:ext cx="1143000" cy="1143000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4" name="Oval 6"/>
          <p:cNvSpPr>
            <a:spLocks noChangeAspect="1" noChangeArrowheads="1"/>
          </p:cNvSpPr>
          <p:nvPr/>
        </p:nvSpPr>
        <p:spPr bwMode="auto">
          <a:xfrm>
            <a:off x="5030788" y="2971800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4495800" y="5791201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3 well-separated clusters</a:t>
            </a:r>
          </a:p>
        </p:txBody>
      </p:sp>
    </p:spTree>
    <p:extLst>
      <p:ext uri="{BB962C8B-B14F-4D97-AF65-F5344CB8AC3E}">
        <p14:creationId xmlns:p14="http://schemas.microsoft.com/office/powerpoint/2010/main" val="18248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Types of Clusters: Prototype-Based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Prototype-based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 </a:t>
            </a:r>
            <a:r>
              <a:rPr lang="en-US" altLang="en-US" sz="2400" dirty="0"/>
              <a:t>A cluster is a set of objects such that an object in a cluster is closer (more similar) to the prototype or  “center” of a cluster, than to the center of any other cluster 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The center of a cluster is often </a:t>
            </a:r>
            <a:endParaRPr lang="en-US" altLang="en-US" sz="2400" dirty="0" smtClean="0"/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 smtClean="0"/>
              <a:t>a </a:t>
            </a:r>
            <a:r>
              <a:rPr lang="en-US" altLang="en-US" sz="2200" dirty="0">
                <a:solidFill>
                  <a:srgbClr val="FF0000"/>
                </a:solidFill>
              </a:rPr>
              <a:t>centroid</a:t>
            </a:r>
            <a:r>
              <a:rPr lang="en-US" altLang="en-US" sz="2200" dirty="0"/>
              <a:t>, the average of all the points in the cluster, or </a:t>
            </a:r>
            <a:endParaRPr lang="en-US" altLang="en-US" sz="2200" dirty="0" smtClean="0"/>
          </a:p>
          <a:p>
            <a:pPr marL="857250" lvl="2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 smtClean="0"/>
              <a:t>a </a:t>
            </a:r>
            <a:r>
              <a:rPr lang="en-US" altLang="en-US" sz="2200" dirty="0" err="1">
                <a:solidFill>
                  <a:srgbClr val="FF0000"/>
                </a:solidFill>
              </a:rPr>
              <a:t>medoid</a:t>
            </a:r>
            <a:r>
              <a:rPr lang="en-US" altLang="en-US" sz="2200" dirty="0"/>
              <a:t>, the most “representative” point of a cluster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dirty="0"/>
          </a:p>
        </p:txBody>
      </p:sp>
      <p:sp>
        <p:nvSpPr>
          <p:cNvPr id="13316" name="Oval 4"/>
          <p:cNvSpPr>
            <a:spLocks noChangeAspect="1" noChangeArrowheads="1"/>
          </p:cNvSpPr>
          <p:nvPr/>
        </p:nvSpPr>
        <p:spPr bwMode="auto">
          <a:xfrm>
            <a:off x="2667000" y="4191000"/>
            <a:ext cx="1371600" cy="1371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7" name="Oval 5"/>
          <p:cNvSpPr>
            <a:spLocks noChangeAspect="1" noChangeArrowheads="1"/>
          </p:cNvSpPr>
          <p:nvPr/>
        </p:nvSpPr>
        <p:spPr bwMode="auto">
          <a:xfrm>
            <a:off x="4038600" y="4191000"/>
            <a:ext cx="1371600" cy="1371600"/>
          </a:xfrm>
          <a:prstGeom prst="ellipse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8" name="Oval 6"/>
          <p:cNvSpPr>
            <a:spLocks noChangeAspect="1" noChangeArrowheads="1"/>
          </p:cNvSpPr>
          <p:nvPr/>
        </p:nvSpPr>
        <p:spPr bwMode="auto">
          <a:xfrm>
            <a:off x="6846888" y="4329114"/>
            <a:ext cx="1166812" cy="1100137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19" name="Oval 7"/>
          <p:cNvSpPr>
            <a:spLocks noChangeAspect="1" noChangeArrowheads="1"/>
          </p:cNvSpPr>
          <p:nvPr/>
        </p:nvSpPr>
        <p:spPr bwMode="auto">
          <a:xfrm>
            <a:off x="8218488" y="4329114"/>
            <a:ext cx="1166812" cy="1100137"/>
          </a:xfrm>
          <a:prstGeom prst="ellipse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4495800" y="5791201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4 center-based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168316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Types of Clusters: Contiguity-Based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Contiguous Cluster (Nearest neighbor or Transitive)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A cluster is a set of points such that a point in a cluster is closer (or more similar) to one or more other points in the cluster than to any point not in the cluster.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altLang="en-US" sz="2400" dirty="0"/>
          </a:p>
        </p:txBody>
      </p:sp>
      <p:grpSp>
        <p:nvGrpSpPr>
          <p:cNvPr id="14340" name="Group 15"/>
          <p:cNvGrpSpPr>
            <a:grpSpLocks/>
          </p:cNvGrpSpPr>
          <p:nvPr/>
        </p:nvGrpSpPr>
        <p:grpSpPr bwMode="auto">
          <a:xfrm>
            <a:off x="1905000" y="3810000"/>
            <a:ext cx="8534400" cy="1219200"/>
            <a:chOff x="950" y="2544"/>
            <a:chExt cx="4106" cy="576"/>
          </a:xfrm>
        </p:grpSpPr>
        <p:sp>
          <p:nvSpPr>
            <p:cNvPr id="14342" name="Freeform 4" descr="Large grid"/>
            <p:cNvSpPr>
              <a:spLocks noChangeAspect="1"/>
            </p:cNvSpPr>
            <p:nvPr/>
          </p:nvSpPr>
          <p:spPr bwMode="auto">
            <a:xfrm>
              <a:off x="950" y="2552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99CC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5" descr="Large grid"/>
            <p:cNvSpPr>
              <a:spLocks noChangeAspect="1"/>
            </p:cNvSpPr>
            <p:nvPr/>
          </p:nvSpPr>
          <p:spPr bwMode="auto">
            <a:xfrm>
              <a:off x="1061" y="2618"/>
              <a:ext cx="267" cy="459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9 h 744"/>
                <a:gd name="T10" fmla="*/ 27 w 432"/>
                <a:gd name="T11" fmla="*/ 45 h 744"/>
                <a:gd name="T12" fmla="*/ 27 w 432"/>
                <a:gd name="T13" fmla="*/ 64 h 744"/>
                <a:gd name="T14" fmla="*/ 22 w 432"/>
                <a:gd name="T15" fmla="*/ 64 h 744"/>
                <a:gd name="T16" fmla="*/ 0 w 432"/>
                <a:gd name="T17" fmla="*/ 67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rnd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6" descr="Large grid"/>
            <p:cNvSpPr>
              <a:spLocks noChangeAspect="1"/>
            </p:cNvSpPr>
            <p:nvPr/>
          </p:nvSpPr>
          <p:spPr bwMode="auto">
            <a:xfrm>
              <a:off x="1195" y="2663"/>
              <a:ext cx="267" cy="457"/>
            </a:xfrm>
            <a:custGeom>
              <a:avLst/>
              <a:gdLst>
                <a:gd name="T0" fmla="*/ 39 w 432"/>
                <a:gd name="T1" fmla="*/ 0 h 744"/>
                <a:gd name="T2" fmla="*/ 23 w 432"/>
                <a:gd name="T3" fmla="*/ 1 h 744"/>
                <a:gd name="T4" fmla="*/ 20 w 432"/>
                <a:gd name="T5" fmla="*/ 4 h 744"/>
                <a:gd name="T6" fmla="*/ 15 w 432"/>
                <a:gd name="T7" fmla="*/ 16 h 744"/>
                <a:gd name="T8" fmla="*/ 17 w 432"/>
                <a:gd name="T9" fmla="*/ 28 h 744"/>
                <a:gd name="T10" fmla="*/ 27 w 432"/>
                <a:gd name="T11" fmla="*/ 44 h 744"/>
                <a:gd name="T12" fmla="*/ 27 w 432"/>
                <a:gd name="T13" fmla="*/ 62 h 744"/>
                <a:gd name="T14" fmla="*/ 22 w 432"/>
                <a:gd name="T15" fmla="*/ 63 h 744"/>
                <a:gd name="T16" fmla="*/ 0 w 432"/>
                <a:gd name="T17" fmla="*/ 65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FF7C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Oval 7"/>
            <p:cNvSpPr>
              <a:spLocks noChangeAspect="1" noChangeArrowheads="1"/>
            </p:cNvSpPr>
            <p:nvPr/>
          </p:nvSpPr>
          <p:spPr bwMode="auto">
            <a:xfrm>
              <a:off x="2171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6" name="AutoShape 8"/>
            <p:cNvSpPr>
              <a:spLocks noChangeAspect="1" noChangeArrowheads="1"/>
            </p:cNvSpPr>
            <p:nvPr/>
          </p:nvSpPr>
          <p:spPr bwMode="auto">
            <a:xfrm rot="-5400000">
              <a:off x="1942" y="2382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Oval 9"/>
            <p:cNvSpPr>
              <a:spLocks noChangeAspect="1" noChangeArrowheads="1"/>
            </p:cNvSpPr>
            <p:nvPr/>
          </p:nvSpPr>
          <p:spPr bwMode="auto">
            <a:xfrm>
              <a:off x="2504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8" name="Line 10"/>
            <p:cNvSpPr>
              <a:spLocks noChangeAspect="1" noChangeShapeType="1"/>
            </p:cNvSpPr>
            <p:nvPr/>
          </p:nvSpPr>
          <p:spPr bwMode="auto">
            <a:xfrm>
              <a:off x="2305" y="2818"/>
              <a:ext cx="199" cy="0"/>
            </a:xfrm>
            <a:prstGeom prst="line">
              <a:avLst/>
            </a:prstGeom>
            <a:noFill/>
            <a:ln w="19050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Oval 11"/>
            <p:cNvSpPr>
              <a:spLocks noChangeAspect="1" noChangeArrowheads="1"/>
            </p:cNvSpPr>
            <p:nvPr/>
          </p:nvSpPr>
          <p:spPr bwMode="auto">
            <a:xfrm>
              <a:off x="4236" y="2633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0" name="Oval 12"/>
            <p:cNvSpPr>
              <a:spLocks noChangeAspect="1" noChangeArrowheads="1"/>
            </p:cNvSpPr>
            <p:nvPr/>
          </p:nvSpPr>
          <p:spPr bwMode="auto">
            <a:xfrm>
              <a:off x="4680" y="2633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1" name="Oval 13"/>
            <p:cNvSpPr>
              <a:spLocks noChangeAspect="1" noChangeArrowheads="1"/>
            </p:cNvSpPr>
            <p:nvPr/>
          </p:nvSpPr>
          <p:spPr bwMode="auto">
            <a:xfrm>
              <a:off x="2992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52" name="Oval 14"/>
            <p:cNvSpPr>
              <a:spLocks noChangeAspect="1" noChangeArrowheads="1"/>
            </p:cNvSpPr>
            <p:nvPr/>
          </p:nvSpPr>
          <p:spPr bwMode="auto">
            <a:xfrm>
              <a:off x="3391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4341" name="Text Box 16"/>
          <p:cNvSpPr txBox="1">
            <a:spLocks noChangeArrowheads="1"/>
          </p:cNvSpPr>
          <p:nvPr/>
        </p:nvSpPr>
        <p:spPr bwMode="auto">
          <a:xfrm>
            <a:off x="4495800" y="5791201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8 contiguous clusters</a:t>
            </a:r>
          </a:p>
        </p:txBody>
      </p:sp>
    </p:spTree>
    <p:extLst>
      <p:ext uri="{BB962C8B-B14F-4D97-AF65-F5344CB8AC3E}">
        <p14:creationId xmlns:p14="http://schemas.microsoft.com/office/powerpoint/2010/main" val="252698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Types of Clusters: Density-Based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Density-based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A cluster is a dense region of points, which is separated by low-density regions, from other regions of high density.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Used when the clusters are irregular or intertwined, and when noise and </a:t>
            </a:r>
            <a:r>
              <a:rPr lang="en-US" altLang="en-US" sz="2200" dirty="0">
                <a:solidFill>
                  <a:schemeClr val="accent5">
                    <a:lumMod val="25000"/>
                  </a:schemeClr>
                </a:solidFill>
              </a:rPr>
              <a:t>outliers are present</a:t>
            </a:r>
            <a:r>
              <a:rPr lang="en-US" altLang="en-US" sz="2200" dirty="0"/>
              <a:t>. </a:t>
            </a:r>
          </a:p>
        </p:txBody>
      </p:sp>
      <p:grpSp>
        <p:nvGrpSpPr>
          <p:cNvPr id="15364" name="Group 12"/>
          <p:cNvGrpSpPr>
            <a:grpSpLocks/>
          </p:cNvGrpSpPr>
          <p:nvPr/>
        </p:nvGrpSpPr>
        <p:grpSpPr bwMode="auto">
          <a:xfrm>
            <a:off x="1828800" y="3657600"/>
            <a:ext cx="8610600" cy="1676400"/>
            <a:chOff x="1056" y="3072"/>
            <a:chExt cx="3840" cy="720"/>
          </a:xfrm>
        </p:grpSpPr>
        <p:sp>
          <p:nvSpPr>
            <p:cNvPr id="15366" name="Rectangle 2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7" name="Oval 5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8" name="AutoShape 6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Oval 7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0" name="Oval 8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1" name="Oval 9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2" name="Oval 10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3" name="Oval 11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4495800" y="5791201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6 density-based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144334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Clustering Algorithms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K-means and its variants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Hierarchical clustering</a:t>
            </a:r>
          </a:p>
          <a:p>
            <a:pPr lvl="4"/>
            <a:endParaRPr lang="en-US" altLang="en-US" dirty="0"/>
          </a:p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Density-based clustering</a:t>
            </a:r>
          </a:p>
          <a:p>
            <a:pPr lvl="4"/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366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K-means Clustering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Partitional clustering approach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Number of clusters, K, </a:t>
            </a:r>
            <a:r>
              <a:rPr lang="en-US" altLang="en-US" sz="2400" b="1" dirty="0"/>
              <a:t>must be specified</a:t>
            </a:r>
          </a:p>
        </p:txBody>
      </p:sp>
    </p:spTree>
    <p:extLst>
      <p:ext uri="{BB962C8B-B14F-4D97-AF65-F5344CB8AC3E}">
        <p14:creationId xmlns:p14="http://schemas.microsoft.com/office/powerpoint/2010/main" val="340449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K-means Clustering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 err="1"/>
              <a:t>Partitional</a:t>
            </a:r>
            <a:r>
              <a:rPr lang="en-US" altLang="en-US" sz="2400" dirty="0"/>
              <a:t> clustering approach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Number of clusters, K, </a:t>
            </a:r>
            <a:r>
              <a:rPr lang="en-US" altLang="en-US" sz="2400" b="1" dirty="0"/>
              <a:t>must be specified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Each cluster is associated with a </a:t>
            </a:r>
            <a:r>
              <a:rPr lang="en-US" altLang="en-US" sz="2400" b="1" dirty="0">
                <a:solidFill>
                  <a:srgbClr val="FFCC00"/>
                </a:solidFill>
              </a:rPr>
              <a:t>centroid</a:t>
            </a:r>
            <a:r>
              <a:rPr lang="en-US" altLang="en-US" sz="2400" dirty="0"/>
              <a:t> (center point) </a:t>
            </a:r>
          </a:p>
        </p:txBody>
      </p:sp>
    </p:spTree>
    <p:extLst>
      <p:ext uri="{BB962C8B-B14F-4D97-AF65-F5344CB8AC3E}">
        <p14:creationId xmlns:p14="http://schemas.microsoft.com/office/powerpoint/2010/main" val="156833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K-means Clustering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 err="1"/>
              <a:t>Partitional</a:t>
            </a:r>
            <a:r>
              <a:rPr lang="en-US" altLang="en-US" sz="2400" dirty="0"/>
              <a:t> clustering approach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Number of clusters, K, </a:t>
            </a:r>
            <a:r>
              <a:rPr lang="en-US" altLang="en-US" sz="2400" b="1" dirty="0"/>
              <a:t>must be specified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Each cluster is associated with a </a:t>
            </a:r>
            <a:r>
              <a:rPr lang="en-US" altLang="en-US" sz="2400" b="1" dirty="0">
                <a:solidFill>
                  <a:srgbClr val="FFCC00"/>
                </a:solidFill>
              </a:rPr>
              <a:t>centroid</a:t>
            </a:r>
            <a:r>
              <a:rPr lang="en-US" altLang="en-US" sz="2400" dirty="0"/>
              <a:t> (center point)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Each point is assigned to the cluster with the closest centroid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The basic algorithm is very simple</a:t>
            </a:r>
          </a:p>
        </p:txBody>
      </p:sp>
      <p:graphicFrame>
        <p:nvGraphicFramePr>
          <p:cNvPr id="21508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765738"/>
              </p:ext>
            </p:extLst>
          </p:nvPr>
        </p:nvGraphicFramePr>
        <p:xfrm>
          <a:off x="2017184" y="3767328"/>
          <a:ext cx="8153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72" name="Bitmap Image" r:id="rId3" imgW="9784928" imgH="3177815" progId="Paint.Picture">
                  <p:embed/>
                </p:oleObj>
              </mc:Choice>
              <mc:Fallback>
                <p:oleObj name="Bitmap Image" r:id="rId3" imgW="9784928" imgH="3177815" progId="Paint.Picture">
                  <p:embed/>
                  <p:pic>
                    <p:nvPicPr>
                      <p:cNvPr id="21508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2017184" y="3767328"/>
                        <a:ext cx="8153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223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272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222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91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455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09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202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Example of K-means Clustering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67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295400"/>
            <a:ext cx="79168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69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Example of K-means Clustering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2133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143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143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86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886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886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3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K-means Clustering – Details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Simple iterative algorithm.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Choose initial centroids; 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repeat {assign each point to a nearest centroid; re-compute cluster centroids} 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until centroids stop changing.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Initial centroids are often chosen randomly.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Clusters produced can vary from one run to another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The centroid is (typically) the mean of the points in the </a:t>
            </a:r>
            <a:r>
              <a:rPr lang="en-US" altLang="en-US" sz="2400" dirty="0" smtClean="0"/>
              <a:t>cluster.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6556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K-means Clustering – Details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Simple iterative algorithm.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Choose initial centroids; 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repeat {assign each point to a nearest centroid; re-compute cluster centroids} </a:t>
            </a:r>
          </a:p>
          <a:p>
            <a:pPr marL="10414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until centroids stop changing.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Initial centroids are often chosen randomly.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Clusters produced can vary from one run to another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The centroid is (typically) the mean of the points in the </a:t>
            </a:r>
            <a:r>
              <a:rPr lang="en-US" altLang="en-US" sz="2400" dirty="0" smtClean="0"/>
              <a:t>cluster.</a:t>
            </a:r>
            <a:endParaRPr lang="en-US" altLang="en-US" sz="2400" dirty="0"/>
          </a:p>
          <a:p>
            <a:pPr marL="533400" indent="-533400">
              <a:lnSpc>
                <a:spcPct val="90000"/>
              </a:lnSpc>
              <a:spcBef>
                <a:spcPts val="1200"/>
              </a:spcBef>
            </a:pPr>
            <a:r>
              <a:rPr lang="en-US" altLang="en-US" sz="2400" dirty="0" smtClean="0"/>
              <a:t>K-means </a:t>
            </a:r>
            <a:r>
              <a:rPr lang="en-US" altLang="en-US" sz="2400" dirty="0"/>
              <a:t>will converge for common proximity measures  with appropriately defined </a:t>
            </a:r>
            <a:r>
              <a:rPr lang="en-US" altLang="en-US" sz="2400" dirty="0" smtClean="0"/>
              <a:t>centroid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 smtClean="0"/>
              <a:t>Most of the convergence happens in the first few iterations.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 smtClean="0"/>
              <a:t>Often </a:t>
            </a:r>
            <a:r>
              <a:rPr lang="en-US" altLang="en-US" sz="1800" dirty="0"/>
              <a:t>the stopping condition is changed to ‘Until relatively few points change clusters’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Complexity is O( n * K * I * d )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/>
              <a:t>n = number of points, K = number of </a:t>
            </a:r>
            <a:r>
              <a:rPr lang="en-US" altLang="en-US" sz="1800" dirty="0" smtClean="0"/>
              <a:t>clusters,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dirty="0" smtClean="0"/>
              <a:t>I </a:t>
            </a:r>
            <a:r>
              <a:rPr lang="en-US" altLang="en-US" sz="1800" dirty="0"/>
              <a:t>= number of iterations, d = number of attributes</a:t>
            </a:r>
          </a:p>
        </p:txBody>
      </p:sp>
    </p:spTree>
    <p:extLst>
      <p:ext uri="{BB962C8B-B14F-4D97-AF65-F5344CB8AC3E}">
        <p14:creationId xmlns:p14="http://schemas.microsoft.com/office/powerpoint/2010/main" val="424061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 K-means 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48219" y="1143000"/>
                <a:ext cx="8062382" cy="312420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31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A common objective function is the sum of squared Euclidean distance for the cluster</a:t>
                </a:r>
              </a:p>
              <a:p>
                <a:pPr>
                  <a:lnSpc>
                    <a:spcPct val="90000"/>
                  </a:lnSpc>
                </a:pPr>
                <a:endParaRPr lang="en-GB" sz="31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3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1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sz="3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3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x</m:t>
                          </m:r>
                          <m:r>
                            <a:rPr lang="en-GB" sz="3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31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GB" sz="3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31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1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  <m:t>𝐦</m:t>
                                      </m:r>
                                    </m:e>
                                    <m:sub>
                                      <m:r>
                                        <a:rPr lang="en-GB" sz="3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3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GB" sz="3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𝐱</m:t>
                                  </m:r>
                                  <m:r>
                                    <a:rPr lang="en-GB" sz="3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sz="31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31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1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3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𝐦</m:t>
                        </m:r>
                      </m:e>
                      <m:sub>
                        <m:r>
                          <a:rPr lang="en-GB" sz="3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31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is the centroid of the cluster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sz="31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GB" altLang="en-US" sz="31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endParaRPr lang="en-US" altLang="en-US" sz="31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6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219" y="1143000"/>
                <a:ext cx="8062382" cy="3124200"/>
              </a:xfrm>
              <a:blipFill>
                <a:blip r:embed="rId2"/>
                <a:stretch>
                  <a:fillRect l="-1663" t="-72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" t="9289" r="7368" b="4020"/>
          <a:stretch/>
        </p:blipFill>
        <p:spPr>
          <a:xfrm>
            <a:off x="8735051" y="998253"/>
            <a:ext cx="3068303" cy="2000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8503" y="2957168"/>
            <a:ext cx="365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Cluster objective function for 1 attribute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8361646" y="6151867"/>
            <a:ext cx="3815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Cluster objective function for </a:t>
            </a:r>
            <a:r>
              <a:rPr lang="en-GB" dirty="0" smtClean="0"/>
              <a:t>2 attributes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3" t="8178" b="2259"/>
          <a:stretch/>
        </p:blipFill>
        <p:spPr>
          <a:xfrm>
            <a:off x="8735051" y="3806306"/>
            <a:ext cx="3439152" cy="235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2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 K-means 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48218" y="1143000"/>
                <a:ext cx="7986181" cy="518160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31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A common objective function is the sum of squared </a:t>
                </a:r>
                <a:r>
                  <a:rPr lang="en-US" altLang="en-US" sz="31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Euclidean distance for the </a:t>
                </a:r>
                <a:r>
                  <a:rPr lang="en-US" altLang="en-US" sz="31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cluster</a:t>
                </a:r>
              </a:p>
              <a:p>
                <a:pPr>
                  <a:lnSpc>
                    <a:spcPct val="90000"/>
                  </a:lnSpc>
                </a:pPr>
                <a:endParaRPr lang="en-GB" sz="31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3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1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sz="3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3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x</m:t>
                          </m:r>
                          <m:r>
                            <a:rPr lang="en-GB" sz="3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31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GB" sz="3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31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1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  <m:t>𝐦</m:t>
                                      </m:r>
                                    </m:e>
                                    <m:sub>
                                      <m:r>
                                        <a:rPr lang="en-GB" sz="3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3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GB" sz="3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𝐱</m:t>
                                  </m:r>
                                  <m:r>
                                    <a:rPr lang="en-GB" sz="3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3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sz="3100" dirty="0" smtClean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31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1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3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𝐦</m:t>
                        </m:r>
                      </m:e>
                      <m:sub>
                        <m:r>
                          <a:rPr lang="en-GB" sz="3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31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is the centroid of the cluster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sz="31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sz="3100" dirty="0" smtClean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sz="31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To obtain an objective function for the entire dataset we sum over all the clusters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GB" sz="3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32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GB" sz="32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GB" sz="32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3200" b="1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</m:e>
                                        <m:sub>
                                          <m:r>
                                            <a:rPr lang="en-GB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32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GB" sz="320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GB" sz="32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3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sz="3100" dirty="0" smtClean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6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218" y="1143000"/>
                <a:ext cx="7986181" cy="5181600"/>
              </a:xfrm>
              <a:blipFill>
                <a:blip r:embed="rId2"/>
                <a:stretch>
                  <a:fillRect l="-1679" t="-4353" r="-9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" t="9289" r="7368" b="4020"/>
          <a:stretch/>
        </p:blipFill>
        <p:spPr>
          <a:xfrm>
            <a:off x="8735051" y="998253"/>
            <a:ext cx="3068303" cy="2000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8503" y="2957168"/>
            <a:ext cx="365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Cluster objective function for 1 attribute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8361646" y="6151867"/>
            <a:ext cx="3815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Cluster objective function for </a:t>
            </a:r>
            <a:r>
              <a:rPr lang="en-GB" dirty="0" smtClean="0"/>
              <a:t>2 attributes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3" t="8178" b="2259"/>
          <a:stretch/>
        </p:blipFill>
        <p:spPr>
          <a:xfrm>
            <a:off x="8735051" y="3806306"/>
            <a:ext cx="3439152" cy="235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9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 K-means 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2800" dirty="0" smtClean="0"/>
                  <a:t>A common objective function is Sum of Squared Error (SSE)</a:t>
                </a:r>
              </a:p>
              <a:p>
                <a:pPr>
                  <a:lnSpc>
                    <a:spcPct val="90000"/>
                  </a:lnSpc>
                </a:pPr>
                <a:endParaRPr lang="en-US" altLang="en-US" sz="2800" dirty="0" smtClean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GB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GB" sz="24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1" i="0" smtClean="0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</m:e>
                                        <m:sub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GB" sz="240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GB" sz="24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sz="2400" i="1" dirty="0" smtClean="0"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sz="2800" dirty="0">
                    <a:ea typeface="+mn-ea"/>
                    <a:cs typeface="+mn-cs"/>
                  </a:rPr>
                  <a:t>Example  </a:t>
                </a:r>
                <a:endParaRPr lang="en-US" altLang="en-US" sz="2800" dirty="0" smtClean="0">
                  <a:ea typeface="+mn-ea"/>
                  <a:cs typeface="+mn-cs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400" dirty="0" smtClean="0">
                    <a:ea typeface="+mn-ea"/>
                    <a:cs typeface="+mn-cs"/>
                  </a:rPr>
                  <a:t>Let us assume that we have K=2 </a:t>
                </a:r>
                <a:r>
                  <a:rPr lang="en-US" altLang="en-US" sz="2400" dirty="0">
                    <a:ea typeface="+mn-ea"/>
                    <a:cs typeface="+mn-cs"/>
                  </a:rPr>
                  <a:t>clusters  with centroids </a:t>
                </a:r>
                <a14:m>
                  <m:oMath xmlns:m="http://schemas.openxmlformats.org/officeDocument/2006/math">
                    <m:r>
                      <a:rPr lang="en-GB" altLang="en-US" sz="240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𝐜</m:t>
                    </m:r>
                    <m:r>
                      <a:rPr lang="en-GB" altLang="en-US" sz="2400" b="0" i="0" smtClean="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US" altLang="en-US" sz="2400" dirty="0" smtClean="0"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r>
                      <a:rPr lang="en-GB" altLang="en-US" sz="240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GB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 smtClean="0">
                    <a:ea typeface="+mn-ea"/>
                    <a:cs typeface="+mn-cs"/>
                  </a:rPr>
                  <a:t>respectively, and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400" dirty="0" smtClean="0">
                    <a:ea typeface="+mn-ea"/>
                    <a:cs typeface="+mn-cs"/>
                  </a:rPr>
                  <a:t>3 </a:t>
                </a:r>
                <a:r>
                  <a:rPr lang="en-US" altLang="en-US" sz="2400" dirty="0">
                    <a:ea typeface="+mn-ea"/>
                    <a:cs typeface="+mn-cs"/>
                  </a:rPr>
                  <a:t>attributes </a:t>
                </a:r>
                <a14:m>
                  <m:oMath xmlns:m="http://schemas.openxmlformats.org/officeDocument/2006/math">
                    <m:r>
                      <a:rPr lang="en-GB" altLang="en-US" sz="2400" i="1" dirty="0" smtClean="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lang="en-GB" altLang="en-US" sz="2400" i="1" dirty="0" smtClean="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GB" altLang="en-US" sz="2400" i="1" dirty="0" smtClean="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𝑏</m:t>
                    </m:r>
                    <m:r>
                      <a:rPr lang="en-GB" altLang="en-US" sz="2400" i="1" dirty="0" smtClean="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GB" altLang="en-US" sz="2400" i="1" dirty="0" smtClean="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lang="en-US" altLang="en-US" sz="2400" dirty="0" smtClean="0">
                    <a:ea typeface="+mn-ea"/>
                    <a:cs typeface="+mn-cs"/>
                  </a:rPr>
                  <a:t> </a:t>
                </a:r>
                <a:r>
                  <a:rPr lang="en-US" altLang="en-US" sz="2400" dirty="0">
                    <a:ea typeface="+mn-ea"/>
                    <a:cs typeface="+mn-cs"/>
                  </a:rPr>
                  <a:t>where we 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sz="2400" i="1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altLang="en-US" sz="240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altLang="en-US" sz="240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j</m:t>
                        </m:r>
                      </m:sub>
                    </m:sSub>
                    <m:r>
                      <a:rPr lang="en-GB" altLang="en-US" sz="240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ctrlPr>
                          <a:rPr lang="en-GB" altLang="en-US" sz="2400" b="0" i="1" smtClean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en-US" sz="2400" b="0" i="1" smtClean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GB" altLang="en-US" sz="2400" b="0" i="1" smtClean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lang="en-GB" altLang="en-US" sz="2400" b="0" i="1" smtClean="0"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  <m:r>
                          <a:rPr lang="en-GB" altLang="en-US" sz="2400" b="0" i="1" smtClean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lang="en-GB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alt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alt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2400" dirty="0" smtClean="0">
                    <a:ea typeface="+mn-ea"/>
                    <a:cs typeface="+mn-cs"/>
                  </a:rPr>
                  <a:t>, and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800" dirty="0" smtClean="0"/>
                  <a:t>we </a:t>
                </a:r>
                <a:r>
                  <a:rPr lang="en-US" altLang="en-US" sz="2800" dirty="0"/>
                  <a:t>have 100  data </a:t>
                </a:r>
                <a:r>
                  <a:rPr lang="en-US" altLang="en-US" sz="2800" dirty="0" smtClean="0"/>
                  <a:t>points, the first </a:t>
                </a:r>
                <a:r>
                  <a:rPr lang="en-US" altLang="en-US" sz="2800" dirty="0"/>
                  <a:t>50 from cluster 1 and </a:t>
                </a:r>
                <a:r>
                  <a:rPr lang="en-US" altLang="en-US" sz="2800" dirty="0" smtClean="0"/>
                  <a:t>second 50 </a:t>
                </a:r>
                <a:r>
                  <a:rPr lang="en-US" altLang="en-US" sz="2800" dirty="0"/>
                  <a:t>from cluster </a:t>
                </a:r>
                <a:r>
                  <a:rPr lang="en-US" altLang="en-US" sz="2800" dirty="0" smtClean="0"/>
                  <a:t>2 then</a:t>
                </a:r>
                <a:endParaRPr lang="en-US" altLang="en-US" sz="2800" dirty="0">
                  <a:ea typeface="+mn-ea"/>
                  <a:cs typeface="+mn-cs"/>
                </a:endParaRPr>
              </a:p>
              <a:p>
                <a:pPr lvl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400" b="0" i="1" dirty="0" smtClean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90000"/>
                  </a:lnSpc>
                  <a:buNone/>
                </a:pPr>
                <a:endParaRPr lang="en-GB" sz="2400" b="0" i="1" dirty="0" smtClean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90000"/>
                  </a:lnSpc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+     </m:t>
                      </m:r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sz="2400" i="1" dirty="0"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6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5" t="-3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28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 K-means 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39895" y="952500"/>
                <a:ext cx="8018305" cy="5614416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GB" altLang="en-US" sz="6500" b="1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Arriving at an optimal centroid</a:t>
                </a:r>
                <a:endParaRPr lang="en-GB" altLang="en-US" sz="6500" b="1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65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We already </a:t>
                </a:r>
                <a:r>
                  <a:rPr lang="en-GB" sz="65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know </a:t>
                </a:r>
                <a:r>
                  <a:rPr lang="en-GB" sz="65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that we calculate the centroids via the </a:t>
                </a:r>
                <a:r>
                  <a:rPr lang="en-GB" sz="65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means of the cluster. </a:t>
                </a:r>
                <a:r>
                  <a:rPr lang="en-GB" sz="65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However we will see that this is </a:t>
                </a:r>
                <a:r>
                  <a:rPr lang="en-GB" sz="65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actually the </a:t>
                </a:r>
                <a:r>
                  <a:rPr lang="en-GB" sz="65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value that will cause the SSE to be minimal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𝐽</m:t>
                      </m:r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GB" sz="65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sz="65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x</m:t>
                          </m:r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65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sz="65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65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65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65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  <m:t>𝐦</m:t>
                                      </m:r>
                                    </m:e>
                                    <m:sub>
                                      <m:r>
                                        <a:rPr lang="en-GB" sz="65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65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GB" sz="65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𝐱</m:t>
                                  </m:r>
                                  <m:r>
                                    <a:rPr lang="en-GB" sz="65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sz="6500" dirty="0" smtClean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sz="64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To minimize a function we </a:t>
                </a:r>
                <a:r>
                  <a:rPr lang="en-US" altLang="en-US" sz="64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take </a:t>
                </a:r>
                <a:r>
                  <a:rPr lang="en-US" altLang="en-US" sz="64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its derivative </a:t>
                </a:r>
                <a:r>
                  <a:rPr lang="en-US" altLang="en-US" sz="64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and assign it to 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sz="64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When we have multi-variate function we use the gradient </a:t>
                </a:r>
                <a:endParaRPr lang="en-US" altLang="en-US" sz="6400" dirty="0" smtClean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sz="64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The gradient is </a:t>
                </a:r>
                <a:r>
                  <a:rPr lang="en-US" altLang="en-US" sz="64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a vector of all partial derivatives with respect to the different variables that we </a:t>
                </a:r>
                <a:r>
                  <a:rPr lang="en-US" altLang="en-US" sz="64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have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64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In our case we are taking the derivatives with respect to the components of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6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6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𝐦</m:t>
                        </m:r>
                      </m:e>
                      <m:sub>
                        <m:r>
                          <a:rPr lang="en-GB" sz="6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𝒊</m:t>
                        </m:r>
                      </m:sub>
                    </m:sSub>
                  </m:oMath>
                </a14:m>
                <a:endParaRPr lang="en-GB" sz="64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𝛻</m:t>
                      </m:r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𝐽</m:t>
                      </m:r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GB" sz="65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sz="65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𝐱</m:t>
                          </m:r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65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𝒊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GB" sz="65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65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65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𝐦</m:t>
                                  </m:r>
                                </m:e>
                                <m:sub>
                                  <m:r>
                                    <a:rPr lang="en-GB" sz="65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𝐱</m:t>
                              </m:r>
                            </m:e>
                          </m:d>
                        </m:e>
                      </m:nary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=0</m:t>
                      </m:r>
                    </m:oMath>
                  </m:oMathPara>
                </a14:m>
                <a:endParaRPr lang="en-GB" sz="65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0" dirty="0" smtClean="0">
                    <a:ea typeface="Times New Roman" panose="02020603050405020304" pitchFamily="18" charset="0"/>
                    <a:cs typeface="Calibri" panose="020F0502020204030204" pitchFamily="34" charset="0"/>
                  </a:rPr>
                  <a:t>Therefore, we have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GB" sz="65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GB" sz="65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𝐱</m:t>
                        </m:r>
                        <m:r>
                          <a:rPr lang="en-GB" sz="65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∈</m:t>
                        </m:r>
                        <m:sSub>
                          <m:sSubPr>
                            <m:ctrlPr>
                              <a:rPr lang="en-GB" sz="65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GB" sz="65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65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𝒊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GB" sz="65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GB" sz="65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𝐦</m:t>
                            </m:r>
                          </m:e>
                          <m:sub>
                            <m:r>
                              <a:rPr lang="en-GB" sz="65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GB" sz="65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GB" sz="65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a:rPr lang="en-GB" sz="65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𝐱</m:t>
                        </m:r>
                        <m:r>
                          <a:rPr lang="en-GB" sz="65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∈</m:t>
                        </m:r>
                        <m:sSub>
                          <m:sSubPr>
                            <m:ctrlPr>
                              <a:rPr lang="en-GB" sz="65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GB" sz="65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65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𝒊</m:t>
                            </m:r>
                          </m:sub>
                        </m:sSub>
                      </m:sub>
                      <m:sup/>
                      <m:e>
                        <m:r>
                          <a:rPr lang="en-GB" sz="65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𝐱</m:t>
                        </m:r>
                      </m:e>
                    </m:nary>
                  </m:oMath>
                </a14:m>
                <a:r>
                  <a:rPr lang="en-GB" sz="65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and hence </a:t>
                </a:r>
              </a:p>
              <a:p>
                <a:pPr marL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65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𝐦</m:t>
                          </m:r>
                        </m:e>
                        <m:sub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GB" sz="65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sz="65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𝐱</m:t>
                          </m:r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65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𝐱</m:t>
                          </m:r>
                        </m:e>
                      </m:nary>
                    </m:oMath>
                  </m:oMathPara>
                </a14:m>
                <a:endParaRPr lang="en-GB" sz="65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65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65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6500" b="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b>
                        <m:r>
                          <a:rPr lang="en-GB" sz="6500" b="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65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is the number of data points in cluster </a:t>
                </a:r>
                <a14:m>
                  <m:oMath xmlns:m="http://schemas.openxmlformats.org/officeDocument/2006/math">
                    <m:r>
                      <a:rPr lang="en-GB" sz="6500" b="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en-GB" sz="65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endParaRPr lang="en-GB" sz="65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650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𝐦</m:t>
                          </m:r>
                        </m:e>
                        <m:sub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en-GB" sz="65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sz="65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65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sz="65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𝐱</m:t>
                          </m:r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GB" sz="65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65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𝒊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GB" sz="65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𝐱</m:t>
                          </m:r>
                        </m:e>
                      </m:nary>
                    </m:oMath>
                  </m:oMathPara>
                </a14:m>
                <a:endParaRPr lang="en-GB" sz="6500" dirty="0"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GB" sz="6500" dirty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This confirms that the centroids should be assigned to the mean of the cluster in order to minimise the </a:t>
                </a:r>
                <a:r>
                  <a:rPr lang="en-GB" sz="6500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SSE</a:t>
                </a:r>
                <a:endParaRPr lang="en-GB" dirty="0"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6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895" y="952500"/>
                <a:ext cx="8018305" cy="5614416"/>
              </a:xfrm>
              <a:blipFill>
                <a:blip r:embed="rId2"/>
                <a:stretch>
                  <a:fillRect l="-532" t="-1629" r="-4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" t="9289" r="7368" b="4020"/>
          <a:stretch/>
        </p:blipFill>
        <p:spPr>
          <a:xfrm>
            <a:off x="8735051" y="998253"/>
            <a:ext cx="3068303" cy="2000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78503" y="2957168"/>
            <a:ext cx="365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Cluster objective function for 1 attribute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61646" y="6151867"/>
            <a:ext cx="3815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Cluster objective function for </a:t>
            </a:r>
            <a:r>
              <a:rPr lang="en-GB" dirty="0" smtClean="0"/>
              <a:t>2 attributes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3" t="8178" b="2259"/>
          <a:stretch/>
        </p:blipFill>
        <p:spPr>
          <a:xfrm>
            <a:off x="8735051" y="3806306"/>
            <a:ext cx="3439152" cy="235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0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 K-means 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2400" dirty="0"/>
                  <a:t>A common objective function (used with Euclidean distance measure) is Sum of Squared Error (SSE)</a:t>
                </a:r>
              </a:p>
              <a:p>
                <a:pPr marL="4572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GB"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GB" sz="20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b="1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</m:e>
                                        <m:sub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0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GB" sz="200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GB" sz="20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sz="2000" dirty="0" smtClean="0"/>
              </a:p>
              <a:p>
                <a:pPr lvl="1">
                  <a:lnSpc>
                    <a:spcPct val="90000"/>
                  </a:lnSpc>
                </a:pPr>
                <a:endParaRPr lang="en-US" altLang="en-US" sz="2000" dirty="0" smtClean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000" dirty="0" smtClean="0"/>
                  <a:t>For </a:t>
                </a:r>
                <a:r>
                  <a:rPr lang="en-US" altLang="en-US" sz="2000" dirty="0"/>
                  <a:t>each point, the error is the distance to the nearest cluster center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000" dirty="0"/>
                  <a:t>To get SSE, we square these errors and sum them.</a:t>
                </a:r>
              </a:p>
              <a:p>
                <a:pPr lvl="1">
                  <a:lnSpc>
                    <a:spcPct val="90000"/>
                  </a:lnSpc>
                </a:pPr>
                <a:endParaRPr lang="en-US" altLang="en-US" sz="2000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000" b="1" dirty="0"/>
                  <a:t>x</a:t>
                </a:r>
                <a:r>
                  <a:rPr lang="en-US" altLang="en-US" sz="2000" i="1" dirty="0"/>
                  <a:t> </a:t>
                </a:r>
                <a:r>
                  <a:rPr lang="en-US" altLang="en-US" sz="2000" dirty="0"/>
                  <a:t>is a data point in cluster </a:t>
                </a:r>
                <a:r>
                  <a:rPr lang="en-US" altLang="en-US" sz="2000" i="1" dirty="0"/>
                  <a:t>C</a:t>
                </a:r>
                <a:r>
                  <a:rPr lang="en-US" altLang="en-US" sz="2000" baseline="-25000" dirty="0"/>
                  <a:t>i </a:t>
                </a:r>
                <a:r>
                  <a:rPr lang="en-US" altLang="en-US" sz="2000" dirty="0"/>
                  <a:t>and </a:t>
                </a:r>
                <a:r>
                  <a:rPr lang="en-US" altLang="en-US" sz="2000" b="1" dirty="0" smtClean="0"/>
                  <a:t>m</a:t>
                </a:r>
                <a:r>
                  <a:rPr lang="en-US" altLang="en-US" sz="2000" i="1" baseline="-25000" dirty="0" smtClean="0"/>
                  <a:t>i</a:t>
                </a:r>
                <a:r>
                  <a:rPr lang="en-US" altLang="en-US" sz="2000" dirty="0" smtClean="0"/>
                  <a:t> </a:t>
                </a:r>
                <a:r>
                  <a:rPr lang="en-US" altLang="en-US" sz="2000" dirty="0"/>
                  <a:t>is the centroid (mean) for cluster </a:t>
                </a:r>
                <a:r>
                  <a:rPr lang="en-US" altLang="en-US" sz="2000" i="1" dirty="0"/>
                  <a:t>C</a:t>
                </a:r>
                <a:r>
                  <a:rPr lang="en-US" altLang="en-US" sz="2000" baseline="-25000" dirty="0"/>
                  <a:t>i</a:t>
                </a:r>
                <a:r>
                  <a:rPr lang="en-US" altLang="en-US" sz="2000" dirty="0"/>
                  <a:t> </a:t>
                </a:r>
                <a:endParaRPr lang="en-US" altLang="en-US" sz="1800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000" dirty="0"/>
                  <a:t>SSE improves in each iteration of K-means until it reaches a local or global minima. </a:t>
                </a:r>
              </a:p>
            </p:txBody>
          </p:sp>
        </mc:Choice>
        <mc:Fallback xmlns="">
          <p:sp>
            <p:nvSpPr>
              <p:cNvPr id="256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5" t="-3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01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Two different K-means Clusterings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4" y="990601"/>
            <a:ext cx="30432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133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 Box 7"/>
          <p:cNvSpPr txBox="1">
            <a:spLocks noChangeArrowheads="1"/>
          </p:cNvSpPr>
          <p:nvPr/>
        </p:nvSpPr>
        <p:spPr bwMode="auto">
          <a:xfrm>
            <a:off x="6934200" y="5881688"/>
            <a:ext cx="2743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Sub-optimal Clustering</a:t>
            </a:r>
          </a:p>
        </p:txBody>
      </p:sp>
      <p:pic>
        <p:nvPicPr>
          <p:cNvPr id="2663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32004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2971800" y="5881688"/>
            <a:ext cx="228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Optimal Clustering</a:t>
            </a:r>
          </a:p>
        </p:txBody>
      </p:sp>
      <p:sp>
        <p:nvSpPr>
          <p:cNvPr id="26633" name="Text Box 11"/>
          <p:cNvSpPr txBox="1">
            <a:spLocks noChangeArrowheads="1"/>
          </p:cNvSpPr>
          <p:nvPr/>
        </p:nvSpPr>
        <p:spPr bwMode="auto">
          <a:xfrm>
            <a:off x="6781800" y="1524001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262636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Importance of Choosing Initial Centroids …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143000"/>
            <a:ext cx="791686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143000"/>
            <a:ext cx="791686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143000"/>
            <a:ext cx="791686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143000"/>
            <a:ext cx="791686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701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143000"/>
            <a:ext cx="791686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85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Importance of Choosing Initial Centroids …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133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219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19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10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810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810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138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Importance of Choosing Initial Centroids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Depending on the choice of initial centroids, B and C may get merged or remain separate</a:t>
            </a:r>
          </a:p>
        </p:txBody>
      </p:sp>
    </p:spTree>
    <p:extLst>
      <p:ext uri="{BB962C8B-B14F-4D97-AF65-F5344CB8AC3E}">
        <p14:creationId xmlns:p14="http://schemas.microsoft.com/office/powerpoint/2010/main" val="294265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Problems with Selecting Initial Points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 dirty="0"/>
              <a:t>If there are K ‘real’ clusters then the chance of selecting one centroid from each cluster is small. 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Chance is relatively small when K is large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If clusters are the same size, n, then</a:t>
            </a:r>
            <a:br>
              <a:rPr lang="en-US" altLang="en-US" sz="2000" dirty="0"/>
            </a:b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en-US" sz="2000" dirty="0"/>
              <a:t/>
            </a:r>
            <a:br>
              <a:rPr lang="en-US" altLang="en-US" sz="2000" dirty="0"/>
            </a:br>
            <a:r>
              <a:rPr lang="en-US" altLang="en-US" sz="2000" dirty="0"/>
              <a:t/>
            </a:r>
            <a:br>
              <a:rPr lang="en-US" altLang="en-US" sz="2000" dirty="0"/>
            </a:br>
            <a:r>
              <a:rPr lang="en-US" altLang="en-US" sz="2000" dirty="0"/>
              <a:t/>
            </a:r>
            <a:br>
              <a:rPr lang="en-US" altLang="en-US" sz="2000" dirty="0"/>
            </a:b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For example, if K = 10, then probability = 10!/10</a:t>
            </a:r>
            <a:r>
              <a:rPr lang="en-US" altLang="en-US" sz="2000" baseline="30000" dirty="0"/>
              <a:t>10</a:t>
            </a:r>
            <a:r>
              <a:rPr lang="en-US" altLang="en-US" sz="2000" dirty="0"/>
              <a:t> = 0.00036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Sometimes the initial centroids will readjust themselves in ‘right’ way, and sometimes they don’t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Consider an example of five pairs of clusters</a:t>
            </a: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2286000" y="2857501"/>
          <a:ext cx="8001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6" name="Bitmap Image" r:id="rId3" imgW="9259102" imgH="960203" progId="Paint.Picture">
                  <p:embed/>
                </p:oleObj>
              </mc:Choice>
              <mc:Fallback>
                <p:oleObj name="Bitmap Image" r:id="rId3" imgW="9259102" imgH="960203" progId="Paint.Picture">
                  <p:embed/>
                  <p:pic>
                    <p:nvPicPr>
                      <p:cNvPr id="389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857501"/>
                        <a:ext cx="80010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229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10 Clusters Example</a:t>
            </a:r>
          </a:p>
        </p:txBody>
      </p:sp>
      <p:pic>
        <p:nvPicPr>
          <p:cNvPr id="399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2133601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2133601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2133601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154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28661" r="6615" b="28661"/>
          <a:stretch>
            <a:fillRect/>
          </a:stretch>
        </p:blipFill>
        <p:spPr bwMode="auto">
          <a:xfrm>
            <a:off x="2133601" y="1905000"/>
            <a:ext cx="82264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8"/>
          <p:cNvSpPr txBox="1">
            <a:spLocks noChangeArrowheads="1"/>
          </p:cNvSpPr>
          <p:nvPr/>
        </p:nvSpPr>
        <p:spPr bwMode="auto">
          <a:xfrm>
            <a:off x="2209800" y="5957888"/>
            <a:ext cx="800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Starting with two initial centroids in one cluster of each pair of clusters</a:t>
            </a:r>
          </a:p>
        </p:txBody>
      </p:sp>
    </p:spTree>
    <p:extLst>
      <p:ext uri="{BB962C8B-B14F-4D97-AF65-F5344CB8AC3E}">
        <p14:creationId xmlns:p14="http://schemas.microsoft.com/office/powerpoint/2010/main" val="41086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154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10 Clusters Example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063626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063626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502026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502026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2567" name="Text Box 7"/>
          <p:cNvSpPr txBox="1">
            <a:spLocks noChangeArrowheads="1"/>
          </p:cNvSpPr>
          <p:nvPr/>
        </p:nvSpPr>
        <p:spPr bwMode="auto">
          <a:xfrm>
            <a:off x="2209800" y="5957888"/>
            <a:ext cx="800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Starting with two initial centroids in one cluster of each pair of clusters</a:t>
            </a:r>
          </a:p>
        </p:txBody>
      </p:sp>
    </p:spTree>
    <p:extLst>
      <p:ext uri="{BB962C8B-B14F-4D97-AF65-F5344CB8AC3E}">
        <p14:creationId xmlns:p14="http://schemas.microsoft.com/office/powerpoint/2010/main" val="228901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10 Clusters Example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590800" y="5943600"/>
            <a:ext cx="7315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752600" y="5410200"/>
            <a:ext cx="876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Starting with some pairs of clusters having three initial centroids, while other have only one.</a:t>
            </a:r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1752601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1752601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1752601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359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6" t="30865" r="8267" b="30865"/>
          <a:stretch>
            <a:fillRect/>
          </a:stretch>
        </p:blipFill>
        <p:spPr bwMode="auto">
          <a:xfrm>
            <a:off x="1752601" y="1447800"/>
            <a:ext cx="8620125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734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359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10 Clusters Example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2590800" y="5943600"/>
            <a:ext cx="7315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209800" y="5957888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Starting with some pairs of clusters having three initial centroids, while other have only one.</a:t>
            </a: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990601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4" y="990601"/>
            <a:ext cx="3354387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352801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352801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365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Solutions to Initial Centroids Problem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Multiple runs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Helps, but probability is not on your side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Use some strategy to select the k initial centroids and then select among these initial centroids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Select most widely separated 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K-means++ is a robust way of doing this selection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Use hierarchical clustering to determine initial centroids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Bisecting K-means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Not as susceptible to initialization issues</a:t>
            </a:r>
          </a:p>
        </p:txBody>
      </p:sp>
    </p:spTree>
    <p:extLst>
      <p:ext uri="{BB962C8B-B14F-4D97-AF65-F5344CB8AC3E}">
        <p14:creationId xmlns:p14="http://schemas.microsoft.com/office/powerpoint/2010/main" val="286248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K-means++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33400" indent="-5334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2200" dirty="0" smtClean="0"/>
                  <a:t>This approach can be slower than random initialization, but very consistently produces better results in terms of SSE</a:t>
                </a:r>
              </a:p>
              <a:p>
                <a:pPr marL="1041400" lvl="1" indent="-5334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1800" dirty="0"/>
                  <a:t>The </a:t>
                </a:r>
                <a:r>
                  <a:rPr lang="en-US" altLang="en-US" sz="1800" dirty="0" smtClean="0"/>
                  <a:t>K-means</a:t>
                </a:r>
                <a:r>
                  <a:rPr lang="en-US" altLang="en-US" sz="1800" dirty="0"/>
                  <a:t>++ algorithm guarantees an approximation ratio </a:t>
                </a:r>
                <a:r>
                  <a:rPr lang="en-US" altLang="en-US" sz="1800" dirty="0" smtClean="0"/>
                  <a:t>O(log K) </a:t>
                </a:r>
                <a:r>
                  <a:rPr lang="en-US" altLang="en-US" sz="1800" dirty="0"/>
                  <a:t>in expectation, </a:t>
                </a:r>
                <a:r>
                  <a:rPr lang="en-US" altLang="en-US" sz="1800" dirty="0" smtClean="0"/>
                  <a:t>K </a:t>
                </a:r>
                <a:r>
                  <a:rPr lang="en-US" altLang="en-US" sz="1800" dirty="0"/>
                  <a:t>is the number of </a:t>
                </a:r>
                <a:r>
                  <a:rPr lang="en-US" altLang="en-US" sz="1800" dirty="0" smtClean="0"/>
                  <a:t>centers</a:t>
                </a:r>
              </a:p>
              <a:p>
                <a:pPr marL="508000" lvl="1" indent="0">
                  <a:lnSpc>
                    <a:spcPct val="90000"/>
                  </a:lnSpc>
                  <a:spcBef>
                    <a:spcPct val="20000"/>
                  </a:spcBef>
                  <a:buNone/>
                </a:pPr>
                <a:endParaRPr lang="en-US" altLang="en-US" sz="1800" dirty="0"/>
              </a:p>
              <a:p>
                <a:pPr marL="533400" indent="-5334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altLang="en-US" sz="2200" dirty="0"/>
                  <a:t/>
                </a:r>
                <a:br>
                  <a:rPr lang="en-US" altLang="en-US" sz="2200" dirty="0"/>
                </a:br>
                <a:endParaRPr lang="en-US" altLang="en-US" sz="1000" dirty="0"/>
              </a:p>
              <a:p>
                <a:pPr marL="0" indent="0">
                  <a:lnSpc>
                    <a:spcPct val="90000"/>
                  </a:lnSpc>
                  <a:spcBef>
                    <a:spcPct val="20000"/>
                  </a:spcBef>
                  <a:buNone/>
                </a:pPr>
                <a:r>
                  <a:rPr lang="en-US" altLang="en-US" sz="1800" dirty="0" smtClean="0">
                    <a:latin typeface="Perpetua" panose="02020502060401020303" pitchFamily="18" charset="0"/>
                  </a:rPr>
                  <a:t>Select </a:t>
                </a:r>
                <a:r>
                  <a:rPr lang="en-US" altLang="en-US" sz="1800" dirty="0">
                    <a:latin typeface="Perpetua" panose="02020502060401020303" pitchFamily="18" charset="0"/>
                  </a:rPr>
                  <a:t>an initial point at random to be the first centroid</a:t>
                </a:r>
              </a:p>
              <a:p>
                <a:pPr marL="0" indent="0">
                  <a:lnSpc>
                    <a:spcPct val="90000"/>
                  </a:lnSpc>
                  <a:spcBef>
                    <a:spcPct val="20000"/>
                  </a:spcBef>
                  <a:buNone/>
                </a:pPr>
                <a:r>
                  <a:rPr lang="en-US" altLang="en-US" sz="1800" dirty="0">
                    <a:latin typeface="Perpetua" panose="02020502060401020303" pitchFamily="18" charset="0"/>
                  </a:rPr>
                  <a:t>For </a:t>
                </a:r>
                <a:r>
                  <a:rPr lang="en-US" altLang="en-US" sz="1800" dirty="0" smtClean="0">
                    <a:latin typeface="Perpetua" panose="02020502060401020303" pitchFamily="18" charset="0"/>
                  </a:rPr>
                  <a:t>K </a:t>
                </a:r>
                <a:r>
                  <a:rPr lang="en-US" altLang="en-US" sz="1800" dirty="0">
                    <a:latin typeface="Perpetua" panose="02020502060401020303" pitchFamily="18" charset="0"/>
                  </a:rPr>
                  <a:t>– 1 steps</a:t>
                </a:r>
              </a:p>
              <a:p>
                <a:pPr marL="0" indent="0">
                  <a:lnSpc>
                    <a:spcPct val="90000"/>
                  </a:lnSpc>
                  <a:spcBef>
                    <a:spcPct val="20000"/>
                  </a:spcBef>
                  <a:buNone/>
                  <a:tabLst>
                    <a:tab pos="457200" algn="l"/>
                  </a:tabLst>
                </a:pPr>
                <a:r>
                  <a:rPr lang="en-US" altLang="en-US" sz="1800" dirty="0">
                    <a:latin typeface="Perpetua" panose="02020502060401020303" pitchFamily="18" charset="0"/>
                  </a:rPr>
                  <a:t>	For each of the N points, </a:t>
                </a:r>
                <a:r>
                  <a:rPr lang="en-US" altLang="en-US" sz="1800" b="1" dirty="0">
                    <a:latin typeface="Perpetua" panose="02020502060401020303" pitchFamily="18" charset="0"/>
                  </a:rPr>
                  <a:t>x</a:t>
                </a:r>
                <a:r>
                  <a:rPr lang="en-US" altLang="en-US" sz="1800" i="1" baseline="-25000" dirty="0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1800" dirty="0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en-US" sz="1800" i="1" dirty="0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dirty="0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 ≤ </a:t>
                </a:r>
                <a:r>
                  <a:rPr lang="en-US" altLang="en-US" sz="1800" i="1" dirty="0" err="1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en-US" sz="1800" i="1" dirty="0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dirty="0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≤ </a:t>
                </a:r>
                <a:r>
                  <a:rPr lang="en-US" altLang="en-US" sz="1800" dirty="0" smtClean="0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</a:p>
              <a:p>
                <a:pPr marL="0" indent="0">
                  <a:lnSpc>
                    <a:spcPct val="90000"/>
                  </a:lnSpc>
                  <a:spcBef>
                    <a:spcPct val="20000"/>
                  </a:spcBef>
                  <a:buNone/>
                  <a:tabLst>
                    <a:tab pos="457200" algn="l"/>
                  </a:tabLst>
                </a:pPr>
                <a:r>
                  <a:rPr lang="en-US" altLang="en-US" sz="1800" dirty="0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en-US" sz="1800" dirty="0" smtClean="0">
                    <a:latin typeface="Perpetua" panose="02020502060401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obtain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en-US" sz="180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en-US" sz="1800" i="1">
                                <a:latin typeface="Cambria Math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en-US" sz="1800" dirty="0">
                            <a:latin typeface="Perpetua" panose="02020502060401020303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altLang="en-US" sz="1800" baseline="30000" dirty="0">
                            <a:latin typeface="Perpetua" panose="02020502060401020303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Perpetua" panose="02020502060401020303" pitchFamily="18" charset="0"/>
                          </a:rPr>
                          <m:t>( </m:t>
                        </m:r>
                        <m:r>
                          <m:rPr>
                            <m:nor/>
                          </m:rPr>
                          <a:rPr lang="en-GB" altLang="en-US" sz="1800" b="1" i="0" dirty="0" smtClean="0">
                            <a:latin typeface="Perpetua" panose="02020502060401020303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en-US" sz="1800" i="1" baseline="-25000" dirty="0">
                            <a:latin typeface="Perpetua" panose="02020502060401020303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Perpetua" panose="02020502060401020303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en-US" sz="1800" b="1" dirty="0">
                            <a:latin typeface="Perpetua" panose="02020502060401020303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altLang="en-US" sz="1800" i="1" baseline="-25000" dirty="0">
                            <a:latin typeface="Perpetua" panose="02020502060401020303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en-US" sz="1800" dirty="0">
                            <a:latin typeface="Perpetua" panose="02020502060401020303" pitchFamily="18" charset="0"/>
                          </a:rPr>
                          <m:t> )</m:t>
                        </m:r>
                      </m:e>
                    </m:func>
                    <m:r>
                      <m:rPr>
                        <m:nor/>
                      </m:rPr>
                      <a:rPr lang="en-US" altLang="en-US" sz="1800">
                        <a:latin typeface="Perpetua" panose="02020502060401020303" pitchFamily="18" charset="0"/>
                      </a:rPr>
                      <m:t> </m:t>
                    </m:r>
                  </m:oMath>
                </a14:m>
                <a:r>
                  <a:rPr lang="en-GB" altLang="en-US" sz="1800" dirty="0" smtClean="0">
                    <a:latin typeface="Perpetua" panose="02020502060401020303" pitchFamily="18" charset="0"/>
                  </a:rPr>
                  <a:t> for </a:t>
                </a:r>
                <a:r>
                  <a:rPr lang="en-US" altLang="en-US" sz="1800" dirty="0" smtClean="0">
                    <a:latin typeface="Perpetua" panose="02020502060401020303" pitchFamily="18" charset="0"/>
                  </a:rPr>
                  <a:t>currently </a:t>
                </a:r>
                <a:r>
                  <a:rPr lang="en-US" altLang="en-US" sz="1800" dirty="0">
                    <a:latin typeface="Perpetua" panose="02020502060401020303" pitchFamily="18" charset="0"/>
                  </a:rPr>
                  <a:t>selected centroids, </a:t>
                </a:r>
                <a14:m>
                  <m:oMath xmlns:m="http://schemas.openxmlformats.org/officeDocument/2006/math">
                    <m:r>
                      <a:rPr lang="en-GB" altLang="en-US" sz="1800" b="1" i="0" dirty="0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altLang="en-US" sz="1800" i="0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1800" i="0" dirty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GB" altLang="en-US" sz="1800" b="1" i="0" dirty="0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altLang="en-US" sz="1800" i="1" baseline="-25000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US" sz="1800" i="1" baseline="-2500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 ≤ 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&lt; 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endParaRPr lang="en-GB" altLang="en-US" sz="1800" dirty="0" smtClean="0">
                  <a:latin typeface="Perpetua" panose="02020502060401020303" pitchFamily="18" charset="0"/>
                </a:endParaRPr>
              </a:p>
              <a:p>
                <a:pPr marL="0" indent="0">
                  <a:lnSpc>
                    <a:spcPct val="90000"/>
                  </a:lnSpc>
                  <a:spcBef>
                    <a:spcPct val="20000"/>
                  </a:spcBef>
                  <a:buNone/>
                  <a:tabLst>
                    <a:tab pos="457200" algn="l"/>
                  </a:tabLst>
                </a:pPr>
                <a:r>
                  <a:rPr lang="en-US" altLang="en-US" sz="1800" dirty="0" smtClean="0">
                    <a:latin typeface="Perpetua" panose="02020502060401020303" pitchFamily="18" charset="0"/>
                  </a:rPr>
                  <a:t>	Randomly </a:t>
                </a:r>
                <a:r>
                  <a:rPr lang="en-US" altLang="en-US" sz="1800" dirty="0">
                    <a:latin typeface="Perpetua" panose="02020502060401020303" pitchFamily="18" charset="0"/>
                  </a:rPr>
                  <a:t>select a new centroid by choosing a point with </a:t>
                </a:r>
                <a:r>
                  <a:rPr lang="en-US" altLang="en-US" sz="1800" dirty="0" smtClean="0">
                    <a:latin typeface="Perpetua" panose="02020502060401020303" pitchFamily="18" charset="0"/>
                  </a:rPr>
                  <a:t>probability proportional to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 sz="2000">
                                    <a:latin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en-US" sz="2000" i="1">
                                    <a:latin typeface="Cambria Math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r>
                              <m:rPr>
                                <m:nor/>
                              </m:rPr>
                              <a:rPr lang="en-US" altLang="en-US" sz="2000" dirty="0"/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en-US" sz="2000" baseline="30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en-US" sz="2000" dirty="0"/>
                              <m:t>( </m:t>
                            </m:r>
                            <m:r>
                              <m:rPr>
                                <m:nor/>
                              </m:rPr>
                              <a:rPr lang="en-GB" altLang="en-US" sz="2000" b="1" i="0" dirty="0" smtClean="0"/>
                              <m:t>m</m:t>
                            </m:r>
                            <m:r>
                              <m:rPr>
                                <m:nor/>
                              </m:rPr>
                              <a:rPr lang="en-US" altLang="en-US" sz="2000" i="1" baseline="-25000" dirty="0"/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en-US" sz="2000" dirty="0"/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altLang="en-US" sz="2000" b="1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en-US" sz="2000" i="1" baseline="-25000" dirty="0"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en-US" sz="2000" dirty="0"/>
                              <m:t> )</m:t>
                            </m:r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GB" alt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en-US" sz="2000">
                                        <a:latin typeface="Cambria Math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altLang="en-US" sz="2000" i="1">
                                        <a:latin typeface="Cambria Math"/>
                                      </a:rPr>
                                      <m:t>𝑗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m:rPr>
                                    <m:nor/>
                                  </m:rPr>
                                  <a:rPr lang="en-US" altLang="en-US" sz="2000" dirty="0"/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2000" baseline="30000" dirty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2000" dirty="0"/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GB" altLang="en-US" sz="2000" b="1" dirty="0"/>
                                  <m:t>m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2000" i="1" baseline="-25000" dirty="0"/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2000" dirty="0"/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2000" b="1" dirty="0"/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2000" i="1" baseline="-25000" dirty="0"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2000" dirty="0"/>
                                  <m:t> )</m:t>
                                </m:r>
                              </m:e>
                            </m:func>
                          </m:e>
                        </m:nary>
                      </m:den>
                    </m:f>
                  </m:oMath>
                </a14:m>
                <a:endParaRPr lang="en-US" altLang="en-US" sz="1800" dirty="0">
                  <a:latin typeface="Perpetua" panose="02020502060401020303" pitchFamily="18" charset="0"/>
                </a:endParaRPr>
              </a:p>
              <a:p>
                <a:pPr marL="50800" indent="0">
                  <a:lnSpc>
                    <a:spcPct val="90000"/>
                  </a:lnSpc>
                  <a:spcBef>
                    <a:spcPct val="20000"/>
                  </a:spcBef>
                  <a:buNone/>
                </a:pPr>
                <a:r>
                  <a:rPr lang="en-US" altLang="en-US" sz="1800" dirty="0">
                    <a:latin typeface="Perpetua" panose="02020502060401020303" pitchFamily="18" charset="0"/>
                  </a:rPr>
                  <a:t>End For</a:t>
                </a:r>
              </a:p>
            </p:txBody>
          </p:sp>
        </mc:Choice>
        <mc:Fallback xmlns="">
          <p:sp>
            <p:nvSpPr>
              <p:cNvPr id="21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5" t="-2824" r="-13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 bwMode="auto">
          <a:xfrm>
            <a:off x="990600" y="3849624"/>
            <a:ext cx="0" cy="12954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>
            <a:off x="1447800" y="4191000"/>
            <a:ext cx="0" cy="4572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508000" y="3154680"/>
            <a:ext cx="0" cy="25146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0811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Bisecting K-means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Bisecting K-means algorithm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Variant of K-means that can produce a partitional or a hierarchical clustering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 sz="2000" dirty="0"/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462013"/>
              </p:ext>
            </p:extLst>
          </p:nvPr>
        </p:nvGraphicFramePr>
        <p:xfrm>
          <a:off x="1680897" y="2590800"/>
          <a:ext cx="8694738" cy="259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1" name="Bitmap Image" r:id="rId3" imgW="8694360" imgH="3132000" progId="Paint.Picture">
                  <p:embed/>
                </p:oleObj>
              </mc:Choice>
              <mc:Fallback>
                <p:oleObj name="Bitmap Image" r:id="rId3" imgW="8694360" imgH="3132000" progId="Paint.Picture">
                  <p:embed/>
                  <p:pic>
                    <p:nvPicPr>
                      <p:cNvPr id="491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7029"/>
                      <a:stretch>
                        <a:fillRect/>
                      </a:stretch>
                    </p:blipFill>
                    <p:spPr bwMode="auto">
                      <a:xfrm>
                        <a:off x="1680897" y="2590800"/>
                        <a:ext cx="8694738" cy="259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947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5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6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6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6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076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35719" r="8928" b="35719"/>
          <a:stretch>
            <a:fillRect/>
          </a:stretch>
        </p:blipFill>
        <p:spPr bwMode="auto">
          <a:xfrm>
            <a:off x="1600200" y="2590801"/>
            <a:ext cx="9067800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8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Bisecting K-means Example</a:t>
            </a:r>
          </a:p>
        </p:txBody>
      </p:sp>
    </p:spTree>
    <p:extLst>
      <p:ext uri="{BB962C8B-B14F-4D97-AF65-F5344CB8AC3E}">
        <p14:creationId xmlns:p14="http://schemas.microsoft.com/office/powerpoint/2010/main" val="417365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Limitations of K-means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K-means has problems when clusters are of differing </a:t>
            </a:r>
          </a:p>
          <a:p>
            <a:pPr lvl="1"/>
            <a:r>
              <a:rPr lang="en-US" altLang="en-US" dirty="0"/>
              <a:t>Sizes</a:t>
            </a:r>
          </a:p>
          <a:p>
            <a:pPr lvl="1"/>
            <a:r>
              <a:rPr lang="en-US" altLang="en-US" dirty="0"/>
              <a:t>Densities</a:t>
            </a:r>
          </a:p>
          <a:p>
            <a:pPr lvl="1"/>
            <a:r>
              <a:rPr lang="en-US" altLang="en-US" dirty="0"/>
              <a:t>Non-globular shapes</a:t>
            </a:r>
          </a:p>
          <a:p>
            <a:endParaRPr lang="en-US" altLang="en-US" dirty="0"/>
          </a:p>
          <a:p>
            <a:r>
              <a:rPr lang="en-US" altLang="en-US" dirty="0"/>
              <a:t>K-means has problems when the data contains outliers.</a:t>
            </a:r>
          </a:p>
          <a:p>
            <a:pPr lvl="1"/>
            <a:r>
              <a:rPr lang="en-US" altLang="en-US" dirty="0"/>
              <a:t>One possible solution is to remove outliers before clustering</a:t>
            </a:r>
          </a:p>
        </p:txBody>
      </p:sp>
    </p:spTree>
    <p:extLst>
      <p:ext uri="{BB962C8B-B14F-4D97-AF65-F5344CB8AC3E}">
        <p14:creationId xmlns:p14="http://schemas.microsoft.com/office/powerpoint/2010/main" val="232446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Limitations of K-means: Differing Sizes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 sz="200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0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286000" y="4953001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1690631" name="Rectangle 7"/>
          <p:cNvSpPr>
            <a:spLocks noChangeArrowheads="1"/>
          </p:cNvSpPr>
          <p:nvPr/>
        </p:nvSpPr>
        <p:spPr bwMode="auto">
          <a:xfrm>
            <a:off x="6858000" y="4902201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34839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63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Limitations of K-means: Differing Density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 sz="200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286000" y="4953001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16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1655" name="Rectangle 7"/>
          <p:cNvSpPr>
            <a:spLocks noChangeArrowheads="1"/>
          </p:cNvSpPr>
          <p:nvPr/>
        </p:nvSpPr>
        <p:spPr bwMode="auto">
          <a:xfrm>
            <a:off x="6858000" y="4902201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416306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165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Limitations of K-means: Non-globular Shapes</a:t>
            </a: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2667000" y="4876801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26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2679" name="Rectangle 7"/>
          <p:cNvSpPr>
            <a:spLocks noChangeArrowheads="1"/>
          </p:cNvSpPr>
          <p:nvPr/>
        </p:nvSpPr>
        <p:spPr bwMode="auto">
          <a:xfrm>
            <a:off x="6858000" y="4902201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K-means (2 Clusters)</a:t>
            </a:r>
          </a:p>
        </p:txBody>
      </p:sp>
    </p:spTree>
    <p:extLst>
      <p:ext uri="{BB962C8B-B14F-4D97-AF65-F5344CB8AC3E}">
        <p14:creationId xmlns:p14="http://schemas.microsoft.com/office/powerpoint/2010/main" val="226977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267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Overcoming K-means Limitations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 sz="200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2286000" y="4572001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Original Points				K-means Clusters</a:t>
            </a:r>
          </a:p>
        </p:txBody>
      </p:sp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2286000" y="5334000"/>
            <a:ext cx="76962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b="0" dirty="0"/>
              <a:t>One solution is to find a large number of clusters such that each of them represents a part of a natural cluster. But these small clusters need to be put together in a post-processing step</a:t>
            </a:r>
            <a:r>
              <a:rPr lang="en-US" altLang="en-US" sz="16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954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Overcoming K-means Limitations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 sz="2000"/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286000" y="4648201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Original Points				K-means Clusters</a:t>
            </a:r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5240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4600" y="5257800"/>
            <a:ext cx="7772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0" dirty="0"/>
              <a:t>One solution is to find a large number of clusters such that each of them represents a part of a natural cluster. But these small clusters need to be put together in a post-processing step.</a:t>
            </a:r>
          </a:p>
        </p:txBody>
      </p:sp>
    </p:spTree>
    <p:extLst>
      <p:ext uri="{BB962C8B-B14F-4D97-AF65-F5344CB8AC3E}">
        <p14:creationId xmlns:p14="http://schemas.microsoft.com/office/powerpoint/2010/main" val="69103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Overcoming K-means Limitations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endParaRPr lang="en-US" altLang="en-US" sz="200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667000" y="4419601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192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4" y="1219200"/>
            <a:ext cx="42687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4600" y="5141893"/>
            <a:ext cx="7467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0" dirty="0"/>
              <a:t>One solution is to find a large number of clusters such that each of them represents a part of a natural cluster. But these small clusters need to be put together in a post-processing step.</a:t>
            </a:r>
          </a:p>
        </p:txBody>
      </p:sp>
    </p:spTree>
    <p:extLst>
      <p:ext uri="{BB962C8B-B14F-4D97-AF65-F5344CB8AC3E}">
        <p14:creationId xmlns:p14="http://schemas.microsoft.com/office/powerpoint/2010/main" val="9365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789843D6-5D71-F648-B934-E7A09F737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081" y="3145703"/>
            <a:ext cx="2719837" cy="2719837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2EF999E9-F033-AD4D-AA2A-CF33C0E29C7A}"/>
              </a:ext>
            </a:extLst>
          </p:cNvPr>
          <p:cNvSpPr txBox="1">
            <a:spLocks/>
          </p:cNvSpPr>
          <p:nvPr/>
        </p:nvSpPr>
        <p:spPr>
          <a:xfrm>
            <a:off x="838200" y="44318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Science ODL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25772D-D5EB-5B45-993D-0F66FC44248B}"/>
              </a:ext>
            </a:extLst>
          </p:cNvPr>
          <p:cNvCxnSpPr/>
          <p:nvPr/>
        </p:nvCxnSpPr>
        <p:spPr>
          <a:xfrm>
            <a:off x="914400" y="1295400"/>
            <a:ext cx="10287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0C31CA-136E-D84E-AB88-866EA1C6DBD3}"/>
              </a:ext>
            </a:extLst>
          </p:cNvPr>
          <p:cNvSpPr txBox="1"/>
          <p:nvPr/>
        </p:nvSpPr>
        <p:spPr>
          <a:xfrm>
            <a:off x="990599" y="1600510"/>
            <a:ext cx="1021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Analysis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 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76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Outline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18" y="990600"/>
            <a:ext cx="11091333" cy="5486400"/>
          </a:xfrm>
        </p:spPr>
        <p:txBody>
          <a:bodyPr>
            <a:normAutofit fontScale="62500" lnSpcReduction="20000"/>
          </a:bodyPr>
          <a:lstStyle/>
          <a:p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Notion of Clusters</a:t>
            </a:r>
          </a:p>
          <a:p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Types of Clusters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endParaRPr lang="en-GB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Partitional Clustering</a:t>
            </a:r>
          </a:p>
          <a:p>
            <a:pPr lvl="1"/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K-means</a:t>
            </a:r>
          </a:p>
          <a:p>
            <a:pPr lvl="1"/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K-means++</a:t>
            </a:r>
          </a:p>
          <a:p>
            <a:pPr lvl="1"/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Bisecting K-means</a:t>
            </a:r>
          </a:p>
          <a:p>
            <a:pPr lvl="1"/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Strengths and Limitations</a:t>
            </a:r>
          </a:p>
          <a:p>
            <a:pPr lvl="1"/>
            <a:endParaRPr lang="en-GB" dirty="0" smtClean="0"/>
          </a:p>
          <a:p>
            <a:r>
              <a:rPr lang="en-GB" dirty="0" smtClean="0"/>
              <a:t>Hierarchical Clustering</a:t>
            </a:r>
          </a:p>
          <a:p>
            <a:pPr lvl="1"/>
            <a:r>
              <a:rPr lang="en-GB" dirty="0" smtClean="0"/>
              <a:t>Agglomerative</a:t>
            </a:r>
          </a:p>
          <a:p>
            <a:pPr lvl="1"/>
            <a:r>
              <a:rPr lang="en-GB" dirty="0" smtClean="0"/>
              <a:t>Divisive</a:t>
            </a:r>
          </a:p>
          <a:p>
            <a:pPr lvl="1"/>
            <a:r>
              <a:rPr lang="en-US" altLang="en-US" dirty="0"/>
              <a:t>Inter-Cluster </a:t>
            </a:r>
            <a:r>
              <a:rPr lang="en-US" altLang="en-US" dirty="0" smtClean="0"/>
              <a:t>Distance</a:t>
            </a:r>
          </a:p>
          <a:p>
            <a:pPr lvl="1"/>
            <a:r>
              <a:rPr lang="en-US" dirty="0" smtClean="0"/>
              <a:t>Strengths and Limitations</a:t>
            </a:r>
            <a:endParaRPr lang="en-GB" dirty="0" smtClean="0"/>
          </a:p>
          <a:p>
            <a:pPr marL="457200" lvl="1" indent="0">
              <a:buNone/>
            </a:pPr>
            <a:endParaRPr lang="en-GB" dirty="0" smtClean="0"/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Cluster Validity</a:t>
            </a:r>
          </a:p>
          <a:p>
            <a:pPr lvl="1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Cohesion </a:t>
            </a:r>
          </a:p>
          <a:p>
            <a:pPr lvl="1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Separation</a:t>
            </a:r>
          </a:p>
          <a:p>
            <a:pPr lvl="1"/>
            <a:r>
              <a:rPr lang="en-GB" dirty="0" smtClean="0">
                <a:solidFill>
                  <a:schemeClr val="bg1">
                    <a:lumMod val="75000"/>
                  </a:schemeClr>
                </a:solidFill>
              </a:rPr>
              <a:t>Silhouette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48218" y="3505200"/>
            <a:ext cx="11091333" cy="16002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85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Produces a set of nested clusters organized as a hierarchical tree</a:t>
            </a:r>
          </a:p>
          <a:p>
            <a:r>
              <a:rPr lang="en-US" altLang="en-US"/>
              <a:t>Can be visualized as a dendrogram</a:t>
            </a:r>
          </a:p>
          <a:p>
            <a:pPr lvl="1"/>
            <a:r>
              <a:rPr lang="en-US" altLang="en-US"/>
              <a:t>A tree like diagram that records the sequences of merges or splits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1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647089" y="1795103"/>
            <a:ext cx="1903521" cy="973037"/>
            <a:chOff x="894488" y="3612241"/>
            <a:chExt cx="1903521" cy="973037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407281" y="2937064"/>
            <a:ext cx="2133600" cy="3385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GB" sz="1600" b="0" dirty="0"/>
              <a:t>p1      p2      p3      p4</a:t>
            </a:r>
          </a:p>
        </p:txBody>
      </p:sp>
    </p:spTree>
    <p:extLst>
      <p:ext uri="{BB962C8B-B14F-4D97-AF65-F5344CB8AC3E}">
        <p14:creationId xmlns:p14="http://schemas.microsoft.com/office/powerpoint/2010/main" val="342562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1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647089" y="1795103"/>
            <a:ext cx="1903521" cy="973037"/>
            <a:chOff x="894488" y="3612241"/>
            <a:chExt cx="1903521" cy="973037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407281" y="2022664"/>
            <a:ext cx="2133600" cy="1252954"/>
            <a:chOff x="5220494" y="4614446"/>
            <a:chExt cx="2133600" cy="1252954"/>
          </a:xfrm>
        </p:grpSpPr>
        <p:sp>
          <p:nvSpPr>
            <p:cNvPr id="22" name="TextBox 21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23" name="Straight Connector 22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1876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1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647089" y="1795102"/>
            <a:ext cx="1979587" cy="1156350"/>
            <a:chOff x="894488" y="3612241"/>
            <a:chExt cx="1979587" cy="1156350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407281" y="1294418"/>
            <a:ext cx="2133600" cy="1981200"/>
            <a:chOff x="5220494" y="3886200"/>
            <a:chExt cx="2133600" cy="1981200"/>
          </a:xfrm>
        </p:grpSpPr>
        <p:sp>
          <p:nvSpPr>
            <p:cNvPr id="22" name="TextBox 21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23" name="Straight Connector 22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30870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1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Traditional </a:t>
            </a: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4" name="Group 3"/>
          <p:cNvGrpSpPr/>
          <p:nvPr/>
        </p:nvGrpSpPr>
        <p:grpSpPr>
          <a:xfrm>
            <a:off x="2286000" y="1447801"/>
            <a:ext cx="2819400" cy="1643061"/>
            <a:chOff x="533400" y="3264939"/>
            <a:chExt cx="2819400" cy="1643061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9217" name="Group 9216"/>
          <p:cNvGrpSpPr/>
          <p:nvPr/>
        </p:nvGrpSpPr>
        <p:grpSpPr>
          <a:xfrm>
            <a:off x="7407281" y="1007226"/>
            <a:ext cx="2133600" cy="2268392"/>
            <a:chOff x="5220494" y="3599008"/>
            <a:chExt cx="2133600" cy="2268392"/>
          </a:xfrm>
        </p:grpSpPr>
        <p:sp>
          <p:nvSpPr>
            <p:cNvPr id="5" name="TextBox 4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33580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7407281" y="5527956"/>
            <a:ext cx="2133600" cy="3385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GB" sz="1600" b="0" dirty="0"/>
              <a:t>p1      p2      p3      p4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0"/>
            <a:ext cx="4419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Agglomerative</a:t>
            </a:r>
            <a:r>
              <a:rPr lang="en-US" altLang="en-US" sz="1800" dirty="0"/>
              <a:t>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Traditional </a:t>
            </a: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4" name="Group 3"/>
          <p:cNvGrpSpPr/>
          <p:nvPr/>
        </p:nvGrpSpPr>
        <p:grpSpPr>
          <a:xfrm>
            <a:off x="2286000" y="1447801"/>
            <a:ext cx="2819400" cy="1643061"/>
            <a:chOff x="533400" y="3264939"/>
            <a:chExt cx="2819400" cy="1643061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9217" name="Group 9216"/>
          <p:cNvGrpSpPr/>
          <p:nvPr/>
        </p:nvGrpSpPr>
        <p:grpSpPr>
          <a:xfrm>
            <a:off x="7407281" y="1007226"/>
            <a:ext cx="2133600" cy="2268392"/>
            <a:chOff x="5220494" y="3599008"/>
            <a:chExt cx="2133600" cy="2268392"/>
          </a:xfrm>
        </p:grpSpPr>
        <p:sp>
          <p:nvSpPr>
            <p:cNvPr id="5" name="TextBox 4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752600" y="5791201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Divisive</a:t>
            </a:r>
            <a:r>
              <a:rPr lang="en-US" altLang="en-US" sz="1800" dirty="0"/>
              <a:t> Hierarchical Clustering</a:t>
            </a: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7086600" y="5791200"/>
            <a:ext cx="3351600" cy="3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Traditional </a:t>
            </a: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45" name="Group 44"/>
          <p:cNvGrpSpPr/>
          <p:nvPr/>
        </p:nvGrpSpPr>
        <p:grpSpPr>
          <a:xfrm>
            <a:off x="2641547" y="4332943"/>
            <a:ext cx="1903521" cy="973037"/>
            <a:chOff x="894488" y="3612241"/>
            <a:chExt cx="1903521" cy="973037"/>
          </a:xfrm>
        </p:grpSpPr>
        <p:sp>
          <p:nvSpPr>
            <p:cNvPr id="47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51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7407281" y="3595232"/>
            <a:ext cx="2133600" cy="2271279"/>
            <a:chOff x="5220494" y="3596121"/>
            <a:chExt cx="2133600" cy="2271279"/>
          </a:xfrm>
        </p:grpSpPr>
        <p:sp>
          <p:nvSpPr>
            <p:cNvPr id="60" name="TextBox 59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67" name="Straight Connector 66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>
              <a:off x="5334000" y="3884121"/>
              <a:ext cx="1717965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>
              <a:off x="6192982" y="3596121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7051965" y="3886942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0"/>
            <a:ext cx="4419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Agglomerative</a:t>
            </a:r>
            <a:r>
              <a:rPr lang="en-US" altLang="en-US" sz="1800" dirty="0"/>
              <a:t>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Traditional </a:t>
            </a: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4" name="Group 3"/>
          <p:cNvGrpSpPr/>
          <p:nvPr/>
        </p:nvGrpSpPr>
        <p:grpSpPr>
          <a:xfrm>
            <a:off x="2286000" y="1447801"/>
            <a:ext cx="2819400" cy="1643061"/>
            <a:chOff x="533400" y="3264939"/>
            <a:chExt cx="2819400" cy="1643061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9217" name="Group 9216"/>
          <p:cNvGrpSpPr/>
          <p:nvPr/>
        </p:nvGrpSpPr>
        <p:grpSpPr>
          <a:xfrm>
            <a:off x="7407281" y="1007226"/>
            <a:ext cx="2133600" cy="2268392"/>
            <a:chOff x="5220494" y="3599008"/>
            <a:chExt cx="2133600" cy="2268392"/>
          </a:xfrm>
        </p:grpSpPr>
        <p:sp>
          <p:nvSpPr>
            <p:cNvPr id="5" name="TextBox 4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752600" y="5791201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Divisive</a:t>
            </a:r>
            <a:r>
              <a:rPr lang="en-US" altLang="en-US" sz="1800" dirty="0"/>
              <a:t> Hierarchical Clustering</a:t>
            </a: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7086600" y="5791200"/>
            <a:ext cx="3351600" cy="3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Traditional </a:t>
            </a: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45" name="Group 44"/>
          <p:cNvGrpSpPr/>
          <p:nvPr/>
        </p:nvGrpSpPr>
        <p:grpSpPr>
          <a:xfrm>
            <a:off x="2280458" y="3985641"/>
            <a:ext cx="2819400" cy="1643061"/>
            <a:chOff x="533400" y="3264939"/>
            <a:chExt cx="2819400" cy="1643061"/>
          </a:xfrm>
        </p:grpSpPr>
        <p:sp>
          <p:nvSpPr>
            <p:cNvPr id="47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771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7407281" y="3598118"/>
            <a:ext cx="2133600" cy="2268392"/>
            <a:chOff x="5220494" y="3599008"/>
            <a:chExt cx="2133600" cy="2268392"/>
          </a:xfrm>
        </p:grpSpPr>
        <p:sp>
          <p:nvSpPr>
            <p:cNvPr id="60" name="TextBox 59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65" name="Straight Connector 6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>
              <a:off x="5943600" y="4614446"/>
              <a:ext cx="1110405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5943600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0"/>
            <a:ext cx="4419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Agglomerative</a:t>
            </a:r>
            <a:r>
              <a:rPr lang="en-US" altLang="en-US" sz="1800" dirty="0"/>
              <a:t>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Traditional </a:t>
            </a: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4" name="Group 3"/>
          <p:cNvGrpSpPr/>
          <p:nvPr/>
        </p:nvGrpSpPr>
        <p:grpSpPr>
          <a:xfrm>
            <a:off x="2286000" y="1447801"/>
            <a:ext cx="2819400" cy="1643061"/>
            <a:chOff x="533400" y="3264939"/>
            <a:chExt cx="2819400" cy="1643061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9217" name="Group 9216"/>
          <p:cNvGrpSpPr/>
          <p:nvPr/>
        </p:nvGrpSpPr>
        <p:grpSpPr>
          <a:xfrm>
            <a:off x="7407281" y="1007226"/>
            <a:ext cx="2133600" cy="2268392"/>
            <a:chOff x="5220494" y="3599008"/>
            <a:chExt cx="2133600" cy="2268392"/>
          </a:xfrm>
        </p:grpSpPr>
        <p:sp>
          <p:nvSpPr>
            <p:cNvPr id="5" name="TextBox 4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752600" y="5791201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Divisive</a:t>
            </a:r>
            <a:r>
              <a:rPr lang="en-US" altLang="en-US" sz="1800" dirty="0"/>
              <a:t> Hierarchical Clustering</a:t>
            </a: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7086600" y="5791200"/>
            <a:ext cx="3351600" cy="3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Traditional </a:t>
            </a: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45" name="Group 44"/>
          <p:cNvGrpSpPr/>
          <p:nvPr/>
        </p:nvGrpSpPr>
        <p:grpSpPr>
          <a:xfrm>
            <a:off x="2280458" y="3985641"/>
            <a:ext cx="2819400" cy="1643061"/>
            <a:chOff x="533400" y="3264939"/>
            <a:chExt cx="2819400" cy="1643061"/>
          </a:xfrm>
        </p:grpSpPr>
        <p:sp>
          <p:nvSpPr>
            <p:cNvPr id="47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Oval 51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18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7407281" y="3598118"/>
            <a:ext cx="2133600" cy="2268392"/>
            <a:chOff x="5220494" y="3599008"/>
            <a:chExt cx="2133600" cy="2268392"/>
          </a:xfrm>
        </p:grpSpPr>
        <p:sp>
          <p:nvSpPr>
            <p:cNvPr id="60" name="TextBox 59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61" name="Straight Connector 60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Straight Connector 6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0"/>
            <a:ext cx="4419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Agglomerative</a:t>
            </a:r>
            <a:r>
              <a:rPr lang="en-US" altLang="en-US" sz="1800" dirty="0"/>
              <a:t>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Traditional </a:t>
            </a: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4" name="Group 3"/>
          <p:cNvGrpSpPr/>
          <p:nvPr/>
        </p:nvGrpSpPr>
        <p:grpSpPr>
          <a:xfrm>
            <a:off x="2286000" y="1447801"/>
            <a:ext cx="2819400" cy="1643061"/>
            <a:chOff x="533400" y="3264939"/>
            <a:chExt cx="2819400" cy="1643061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9217" name="Group 9216"/>
          <p:cNvGrpSpPr/>
          <p:nvPr/>
        </p:nvGrpSpPr>
        <p:grpSpPr>
          <a:xfrm>
            <a:off x="7407281" y="1007226"/>
            <a:ext cx="2133600" cy="2268392"/>
            <a:chOff x="5220494" y="3599008"/>
            <a:chExt cx="2133600" cy="2268392"/>
          </a:xfrm>
        </p:grpSpPr>
        <p:sp>
          <p:nvSpPr>
            <p:cNvPr id="5" name="TextBox 4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752600" y="5791201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Divisive</a:t>
            </a:r>
            <a:r>
              <a:rPr lang="en-US" altLang="en-US" sz="1800" dirty="0"/>
              <a:t> Hierarchical Clustering</a:t>
            </a: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7086600" y="5791200"/>
            <a:ext cx="3351600" cy="3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Traditional </a:t>
            </a:r>
            <a:r>
              <a:rPr lang="en-US" altLang="en-US" sz="1800" dirty="0" err="1"/>
              <a:t>Dendrogram</a:t>
            </a:r>
            <a:endParaRPr lang="en-US" altLang="en-US" sz="1800" dirty="0"/>
          </a:p>
        </p:txBody>
      </p:sp>
      <p:grpSp>
        <p:nvGrpSpPr>
          <p:cNvPr id="45" name="Group 44"/>
          <p:cNvGrpSpPr/>
          <p:nvPr/>
        </p:nvGrpSpPr>
        <p:grpSpPr>
          <a:xfrm>
            <a:off x="2280458" y="3985641"/>
            <a:ext cx="2819400" cy="1643061"/>
            <a:chOff x="533400" y="3264939"/>
            <a:chExt cx="2819400" cy="1643061"/>
          </a:xfrm>
        </p:grpSpPr>
        <p:sp>
          <p:nvSpPr>
            <p:cNvPr id="47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Oval 50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2" name="Oval 51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048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1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86000" y="1447801"/>
            <a:ext cx="2819400" cy="1643061"/>
            <a:chOff x="533400" y="3264939"/>
            <a:chExt cx="2819400" cy="1643061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9217" name="Group 9216"/>
          <p:cNvGrpSpPr/>
          <p:nvPr/>
        </p:nvGrpSpPr>
        <p:grpSpPr>
          <a:xfrm>
            <a:off x="7407281" y="1007226"/>
            <a:ext cx="2133600" cy="2268392"/>
            <a:chOff x="5220494" y="3599008"/>
            <a:chExt cx="2133600" cy="2268392"/>
          </a:xfrm>
        </p:grpSpPr>
        <p:sp>
          <p:nvSpPr>
            <p:cNvPr id="5" name="TextBox 4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2562952" y="4357945"/>
            <a:ext cx="1903521" cy="973037"/>
            <a:chOff x="894488" y="3612241"/>
            <a:chExt cx="1903521" cy="973037"/>
          </a:xfrm>
        </p:grpSpPr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7467600" y="5528846"/>
            <a:ext cx="2133600" cy="3385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GB" sz="1600" b="0" dirty="0"/>
              <a:t>p1      p2      p3      p4</a:t>
            </a:r>
          </a:p>
        </p:txBody>
      </p: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752600" y="5791201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Non-traditional Hierarchical Clustering</a:t>
            </a: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7086600" y="5791201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Dendrogram</a:t>
            </a:r>
          </a:p>
        </p:txBody>
      </p:sp>
    </p:spTree>
    <p:extLst>
      <p:ext uri="{BB962C8B-B14F-4D97-AF65-F5344CB8AC3E}">
        <p14:creationId xmlns:p14="http://schemas.microsoft.com/office/powerpoint/2010/main" val="136170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1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86000" y="1447801"/>
            <a:ext cx="2819400" cy="1643061"/>
            <a:chOff x="533400" y="3264939"/>
            <a:chExt cx="2819400" cy="1643061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9217" name="Group 9216"/>
          <p:cNvGrpSpPr/>
          <p:nvPr/>
        </p:nvGrpSpPr>
        <p:grpSpPr>
          <a:xfrm>
            <a:off x="7407281" y="1007226"/>
            <a:ext cx="2133600" cy="2268392"/>
            <a:chOff x="5220494" y="3599008"/>
            <a:chExt cx="2133600" cy="2268392"/>
          </a:xfrm>
        </p:grpSpPr>
        <p:sp>
          <p:nvSpPr>
            <p:cNvPr id="5" name="TextBox 4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2278793" y="4357945"/>
            <a:ext cx="2349030" cy="973037"/>
            <a:chOff x="610330" y="3612241"/>
            <a:chExt cx="2349030" cy="973037"/>
          </a:xfrm>
        </p:grpSpPr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36"/>
            <p:cNvSpPr/>
            <p:nvPr/>
          </p:nvSpPr>
          <p:spPr bwMode="auto">
            <a:xfrm rot="5400000">
              <a:off x="2041057" y="3497099"/>
              <a:ext cx="719186" cy="1117420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 rot="2569901">
              <a:off x="610330" y="3724824"/>
              <a:ext cx="1409295" cy="717578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467600" y="3885320"/>
            <a:ext cx="2133600" cy="1982081"/>
            <a:chOff x="5220494" y="3885319"/>
            <a:chExt cx="2133600" cy="1982081"/>
          </a:xfrm>
        </p:grpSpPr>
        <p:sp>
          <p:nvSpPr>
            <p:cNvPr id="46" name="TextBox 45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51" name="Straight Connector 50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Straight Connector 51"/>
            <p:cNvCxnSpPr/>
            <p:nvPr/>
          </p:nvCxnSpPr>
          <p:spPr bwMode="auto">
            <a:xfrm>
              <a:off x="6515894" y="4614446"/>
              <a:ext cx="538111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/>
            <p:cNvCxnSpPr/>
            <p:nvPr/>
          </p:nvCxnSpPr>
          <p:spPr bwMode="auto">
            <a:xfrm>
              <a:off x="6768945" y="3885319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Straight Connector 58"/>
            <p:cNvCxnSpPr/>
            <p:nvPr/>
          </p:nvCxnSpPr>
          <p:spPr bwMode="auto">
            <a:xfrm>
              <a:off x="6515894" y="4613565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Straight Connector 59"/>
            <p:cNvCxnSpPr/>
            <p:nvPr/>
          </p:nvCxnSpPr>
          <p:spPr bwMode="auto">
            <a:xfrm>
              <a:off x="5870071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/>
            <p:cNvCxnSpPr/>
            <p:nvPr/>
          </p:nvCxnSpPr>
          <p:spPr bwMode="auto">
            <a:xfrm>
              <a:off x="5334000" y="4614446"/>
              <a:ext cx="538111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/>
            <p:nvPr/>
          </p:nvCxnSpPr>
          <p:spPr bwMode="auto">
            <a:xfrm>
              <a:off x="5334000" y="4613565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5591484" y="3885319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752600" y="5791201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Non-traditional Hierarchical Clustering</a:t>
            </a: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7086600" y="5791201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Dendrogram</a:t>
            </a:r>
          </a:p>
        </p:txBody>
      </p:sp>
    </p:spTree>
    <p:extLst>
      <p:ext uri="{BB962C8B-B14F-4D97-AF65-F5344CB8AC3E}">
        <p14:creationId xmlns:p14="http://schemas.microsoft.com/office/powerpoint/2010/main" val="235017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05000" y="3200401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Hierarchical Clustering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7086600" y="32004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Traditional Dendrogram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86000" y="1447801"/>
            <a:ext cx="2819400" cy="1643061"/>
            <a:chOff x="533400" y="3264939"/>
            <a:chExt cx="2819400" cy="1643061"/>
          </a:xfrm>
        </p:grpSpPr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Oval 1"/>
            <p:cNvSpPr/>
            <p:nvPr/>
          </p:nvSpPr>
          <p:spPr bwMode="auto">
            <a:xfrm rot="3204537">
              <a:off x="1503459" y="3661384"/>
              <a:ext cx="659255" cy="1154396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 rot="21022476">
              <a:off x="1124836" y="3666852"/>
              <a:ext cx="1749239" cy="1101739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533400" y="3264939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9217" name="Group 9216"/>
          <p:cNvGrpSpPr/>
          <p:nvPr/>
        </p:nvGrpSpPr>
        <p:grpSpPr>
          <a:xfrm>
            <a:off x="7407281" y="1007226"/>
            <a:ext cx="2133600" cy="2268392"/>
            <a:chOff x="5220494" y="3599008"/>
            <a:chExt cx="2133600" cy="2268392"/>
          </a:xfrm>
        </p:grpSpPr>
        <p:sp>
          <p:nvSpPr>
            <p:cNvPr id="5" name="TextBox 4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7" name="Straight Connector 6"/>
            <p:cNvCxnSpPr/>
            <p:nvPr/>
          </p:nvCxnSpPr>
          <p:spPr bwMode="auto">
            <a:xfrm>
              <a:off x="59436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477000" y="50716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5943600" y="5067490"/>
              <a:ext cx="536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6213600" y="4614446"/>
              <a:ext cx="0" cy="4572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6211605" y="4614446"/>
              <a:ext cx="8424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5334000" y="3886200"/>
              <a:ext cx="0" cy="16426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6597149" y="3886200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5334000" y="3884121"/>
              <a:ext cx="12672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5968985" y="3599008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2209801" y="3886201"/>
            <a:ext cx="2819400" cy="1643061"/>
            <a:chOff x="541338" y="3140497"/>
            <a:chExt cx="2819400" cy="1643061"/>
          </a:xfrm>
        </p:grpSpPr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1951038" y="3914775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8"/>
            <p:cNvSpPr>
              <a:spLocks/>
            </p:cNvSpPr>
            <p:nvPr/>
          </p:nvSpPr>
          <p:spPr bwMode="auto">
            <a:xfrm>
              <a:off x="1524000" y="4343400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8"/>
            <p:cNvSpPr>
              <a:spLocks/>
            </p:cNvSpPr>
            <p:nvPr/>
          </p:nvSpPr>
          <p:spPr bwMode="auto">
            <a:xfrm>
              <a:off x="2667000" y="4011613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8"/>
            <p:cNvSpPr>
              <a:spLocks/>
            </p:cNvSpPr>
            <p:nvPr/>
          </p:nvSpPr>
          <p:spPr bwMode="auto">
            <a:xfrm>
              <a:off x="926036" y="3612241"/>
              <a:ext cx="72000" cy="72000"/>
            </a:xfrm>
            <a:custGeom>
              <a:avLst/>
              <a:gdLst>
                <a:gd name="T0" fmla="*/ 2147483647 w 61"/>
                <a:gd name="T1" fmla="*/ 2147483647 h 61"/>
                <a:gd name="T2" fmla="*/ 2147483647 w 61"/>
                <a:gd name="T3" fmla="*/ 2147483647 h 61"/>
                <a:gd name="T4" fmla="*/ 2147483647 w 61"/>
                <a:gd name="T5" fmla="*/ 2147483647 h 61"/>
                <a:gd name="T6" fmla="*/ 2147483647 w 61"/>
                <a:gd name="T7" fmla="*/ 2147483647 h 61"/>
                <a:gd name="T8" fmla="*/ 2147483647 w 61"/>
                <a:gd name="T9" fmla="*/ 2147483647 h 61"/>
                <a:gd name="T10" fmla="*/ 0 w 61"/>
                <a:gd name="T11" fmla="*/ 2147483647 h 61"/>
                <a:gd name="T12" fmla="*/ 0 w 61"/>
                <a:gd name="T13" fmla="*/ 2147483647 h 61"/>
                <a:gd name="T14" fmla="*/ 2147483647 w 61"/>
                <a:gd name="T15" fmla="*/ 2147483647 h 61"/>
                <a:gd name="T16" fmla="*/ 2147483647 w 61"/>
                <a:gd name="T17" fmla="*/ 0 h 61"/>
                <a:gd name="T18" fmla="*/ 2147483647 w 61"/>
                <a:gd name="T19" fmla="*/ 2147483647 h 61"/>
                <a:gd name="T20" fmla="*/ 2147483647 w 61"/>
                <a:gd name="T21" fmla="*/ 2147483647 h 61"/>
                <a:gd name="T22" fmla="*/ 2147483647 w 61"/>
                <a:gd name="T23" fmla="*/ 2147483647 h 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1"/>
                <a:gd name="T37" fmla="*/ 0 h 61"/>
                <a:gd name="T38" fmla="*/ 61 w 61"/>
                <a:gd name="T39" fmla="*/ 61 h 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1" h="61">
                  <a:moveTo>
                    <a:pt x="61" y="30"/>
                  </a:moveTo>
                  <a:lnTo>
                    <a:pt x="55" y="46"/>
                  </a:lnTo>
                  <a:lnTo>
                    <a:pt x="43" y="58"/>
                  </a:lnTo>
                  <a:lnTo>
                    <a:pt x="24" y="61"/>
                  </a:lnTo>
                  <a:lnTo>
                    <a:pt x="9" y="55"/>
                  </a:lnTo>
                  <a:lnTo>
                    <a:pt x="0" y="39"/>
                  </a:lnTo>
                  <a:lnTo>
                    <a:pt x="0" y="21"/>
                  </a:lnTo>
                  <a:lnTo>
                    <a:pt x="9" y="6"/>
                  </a:lnTo>
                  <a:lnTo>
                    <a:pt x="24" y="0"/>
                  </a:lnTo>
                  <a:lnTo>
                    <a:pt x="43" y="3"/>
                  </a:lnTo>
                  <a:lnTo>
                    <a:pt x="55" y="12"/>
                  </a:lnTo>
                  <a:lnTo>
                    <a:pt x="61" y="30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36"/>
            <p:cNvSpPr/>
            <p:nvPr/>
          </p:nvSpPr>
          <p:spPr bwMode="auto">
            <a:xfrm rot="5400000">
              <a:off x="2041057" y="3497099"/>
              <a:ext cx="719186" cy="1117420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 rot="2569901">
              <a:off x="610330" y="3724824"/>
              <a:ext cx="1409295" cy="717578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541338" y="3140497"/>
              <a:ext cx="2819400" cy="1643061"/>
            </a:xfrm>
            <a:prstGeom prst="ellipse">
              <a:avLst/>
            </a:prstGeom>
            <a:noFill/>
            <a:ln w="31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94488" y="3696213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586345" y="4369834"/>
              <a:ext cx="23414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b="0" dirty="0"/>
                <a:t>p2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039562" y="3913316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p3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599237" y="4114100"/>
              <a:ext cx="19877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b="0" dirty="0"/>
                <a:t>p4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467600" y="3597320"/>
            <a:ext cx="2133600" cy="2270081"/>
            <a:chOff x="5220494" y="3597319"/>
            <a:chExt cx="2133600" cy="2270081"/>
          </a:xfrm>
        </p:grpSpPr>
        <p:sp>
          <p:nvSpPr>
            <p:cNvPr id="46" name="TextBox 45"/>
            <p:cNvSpPr txBox="1"/>
            <p:nvPr/>
          </p:nvSpPr>
          <p:spPr>
            <a:xfrm>
              <a:off x="5220494" y="5528846"/>
              <a:ext cx="2133600" cy="33855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dirty="0"/>
                <a:t>p1      p2      p3      p4</a:t>
              </a:r>
            </a:p>
          </p:txBody>
        </p:sp>
        <p:cxnSp>
          <p:nvCxnSpPr>
            <p:cNvPr id="51" name="Straight Connector 50"/>
            <p:cNvCxnSpPr/>
            <p:nvPr/>
          </p:nvCxnSpPr>
          <p:spPr bwMode="auto">
            <a:xfrm>
              <a:off x="7051965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Straight Connector 51"/>
            <p:cNvCxnSpPr/>
            <p:nvPr/>
          </p:nvCxnSpPr>
          <p:spPr bwMode="auto">
            <a:xfrm>
              <a:off x="6515894" y="4614446"/>
              <a:ext cx="538111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/>
            <p:cNvCxnSpPr/>
            <p:nvPr/>
          </p:nvCxnSpPr>
          <p:spPr bwMode="auto">
            <a:xfrm>
              <a:off x="6768945" y="3885319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Straight Connector 54"/>
            <p:cNvCxnSpPr/>
            <p:nvPr/>
          </p:nvCxnSpPr>
          <p:spPr bwMode="auto">
            <a:xfrm>
              <a:off x="5583171" y="3885319"/>
              <a:ext cx="118800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Straight Connector 55"/>
            <p:cNvCxnSpPr/>
            <p:nvPr/>
          </p:nvCxnSpPr>
          <p:spPr bwMode="auto">
            <a:xfrm>
              <a:off x="6154402" y="3597319"/>
              <a:ext cx="0" cy="2880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Straight Connector 58"/>
            <p:cNvCxnSpPr/>
            <p:nvPr/>
          </p:nvCxnSpPr>
          <p:spPr bwMode="auto">
            <a:xfrm>
              <a:off x="6515894" y="4613565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Straight Connector 59"/>
            <p:cNvCxnSpPr/>
            <p:nvPr/>
          </p:nvCxnSpPr>
          <p:spPr bwMode="auto">
            <a:xfrm>
              <a:off x="5870071" y="4614446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/>
            <p:cNvCxnSpPr/>
            <p:nvPr/>
          </p:nvCxnSpPr>
          <p:spPr bwMode="auto">
            <a:xfrm>
              <a:off x="5334000" y="4614446"/>
              <a:ext cx="538111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/>
            <p:nvPr/>
          </p:nvCxnSpPr>
          <p:spPr bwMode="auto">
            <a:xfrm>
              <a:off x="5334000" y="4613565"/>
              <a:ext cx="0" cy="91440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5591484" y="3885319"/>
              <a:ext cx="0" cy="728246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1752600" y="5791201"/>
            <a:ext cx="441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Non-traditional Hierarchical Clustering</a:t>
            </a: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7086600" y="5791201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Non-traditional Dendrogram</a:t>
            </a:r>
          </a:p>
        </p:txBody>
      </p:sp>
    </p:spTree>
    <p:extLst>
      <p:ext uri="{BB962C8B-B14F-4D97-AF65-F5344CB8AC3E}">
        <p14:creationId xmlns:p14="http://schemas.microsoft.com/office/powerpoint/2010/main" val="214076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Strengths of Hierarchical Clustering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Do not have to assume any particular number of clusters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Any desired number of clusters can be obtained by ‘cutting’ the dendrogram at the proper level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They may correspond to meaningful taxonomies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Example in biological sciences (e.g., animal kingdom, phylogeny reconstruction, 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Two main types of hierarchical clustering</a:t>
            </a:r>
          </a:p>
          <a:p>
            <a:pPr lvl="1"/>
            <a:r>
              <a:rPr lang="en-US" altLang="en-US" sz="2000" dirty="0"/>
              <a:t>Agglomerative:  </a:t>
            </a:r>
          </a:p>
          <a:p>
            <a:pPr marL="1146175" lvl="2" indent="-231775"/>
            <a:r>
              <a:rPr lang="en-US" altLang="en-US" sz="1800" dirty="0"/>
              <a:t>Start with the points as individual clusters</a:t>
            </a:r>
          </a:p>
          <a:p>
            <a:pPr marL="1146175" lvl="2" indent="-231775"/>
            <a:r>
              <a:rPr lang="en-US" altLang="en-US" sz="1800" dirty="0"/>
              <a:t>At each step, merge the closest pair of clusters until only one cluster (or k clusters) left</a:t>
            </a:r>
          </a:p>
          <a:p>
            <a:pPr lvl="4"/>
            <a:endParaRPr lang="en-US" altLang="en-US" sz="1800" dirty="0"/>
          </a:p>
          <a:p>
            <a:pPr lvl="1"/>
            <a:r>
              <a:rPr lang="en-US" altLang="en-US" sz="2000" dirty="0"/>
              <a:t>Divisive:  </a:t>
            </a:r>
          </a:p>
          <a:p>
            <a:pPr marL="1146175" lvl="2" indent="-231775"/>
            <a:r>
              <a:rPr lang="en-US" altLang="en-US" sz="1800" dirty="0"/>
              <a:t>Start with one, all-inclusive cluster </a:t>
            </a:r>
          </a:p>
          <a:p>
            <a:pPr marL="1146175" lvl="2" indent="-231775"/>
            <a:r>
              <a:rPr lang="en-US" altLang="en-US" sz="1800" dirty="0"/>
              <a:t>At each step, split a cluster until each cluster contains an individual point (or there are k clusters)</a:t>
            </a:r>
          </a:p>
          <a:p>
            <a:pPr lvl="4"/>
            <a:endParaRPr lang="en-US" altLang="en-US" sz="1800" dirty="0"/>
          </a:p>
          <a:p>
            <a:r>
              <a:rPr lang="en-US" altLang="en-US" sz="2400" dirty="0"/>
              <a:t>Traditional hierarchical algorithms use a similarity or distance matrix</a:t>
            </a:r>
          </a:p>
          <a:p>
            <a:pPr lvl="1"/>
            <a:r>
              <a:rPr lang="en-US" altLang="en-US" sz="2000" dirty="0"/>
              <a:t>Merge or split one cluster at a time</a:t>
            </a:r>
          </a:p>
          <a:p>
            <a:pPr lvl="4"/>
            <a:endParaRPr lang="en-US" alt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Agglomerative Clustering Algorithm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b="1" dirty="0"/>
              <a:t>Key Idea: Successively merge closest clusters</a:t>
            </a:r>
          </a:p>
          <a:p>
            <a:pPr marL="2209800" lvl="4" indent="-381000">
              <a:lnSpc>
                <a:spcPct val="90000"/>
              </a:lnSpc>
            </a:pPr>
            <a:endParaRPr lang="en-US" altLang="en-US" sz="8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dirty="0"/>
              <a:t>Basic algorithm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400" dirty="0"/>
              <a:t>Compute the 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400" dirty="0"/>
              <a:t>Let each data point be a cluster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400" b="1" dirty="0"/>
              <a:t>Repeat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2400" dirty="0"/>
              <a:t>	Merge the two closest 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2400" dirty="0"/>
              <a:t>	Update the 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400" b="1" dirty="0"/>
              <a:t>Until</a:t>
            </a:r>
            <a:r>
              <a:rPr lang="en-US" altLang="en-US" sz="2400" dirty="0"/>
              <a:t> only a single cluster remains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en-US" sz="1050" dirty="0"/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dirty="0"/>
              <a:t>Key operation is the computation of the proximity of two 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Different approaches to defining the distance between clusters distinguish the different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Steps 1 and 2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Start with clusters of individual points and a proximity matrix</a:t>
            </a:r>
          </a:p>
          <a:p>
            <a:pPr lvl="1"/>
            <a:endParaRPr lang="en-US" altLang="en-US"/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2209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4267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971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4648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3124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1981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7" name="Oval 11"/>
          <p:cNvSpPr>
            <a:spLocks noChangeArrowheads="1"/>
          </p:cNvSpPr>
          <p:nvPr/>
        </p:nvSpPr>
        <p:spPr bwMode="auto">
          <a:xfrm>
            <a:off x="3352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8" name="Oval 12"/>
          <p:cNvSpPr>
            <a:spLocks noChangeArrowheads="1"/>
          </p:cNvSpPr>
          <p:nvPr/>
        </p:nvSpPr>
        <p:spPr bwMode="auto">
          <a:xfrm>
            <a:off x="4648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9" name="Oval 13"/>
          <p:cNvSpPr>
            <a:spLocks noChangeArrowheads="1"/>
          </p:cNvSpPr>
          <p:nvPr/>
        </p:nvSpPr>
        <p:spPr bwMode="auto">
          <a:xfrm>
            <a:off x="3657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0" name="Oval 14"/>
          <p:cNvSpPr>
            <a:spLocks noChangeArrowheads="1"/>
          </p:cNvSpPr>
          <p:nvPr/>
        </p:nvSpPr>
        <p:spPr bwMode="auto">
          <a:xfrm>
            <a:off x="4724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1" name="Oval 15"/>
          <p:cNvSpPr>
            <a:spLocks noChangeArrowheads="1"/>
          </p:cNvSpPr>
          <p:nvPr/>
        </p:nvSpPr>
        <p:spPr bwMode="auto">
          <a:xfrm>
            <a:off x="5257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pSp>
        <p:nvGrpSpPr>
          <p:cNvPr id="55312" name="Group 16"/>
          <p:cNvGrpSpPr>
            <a:grpSpLocks/>
          </p:cNvGrpSpPr>
          <p:nvPr/>
        </p:nvGrpSpPr>
        <p:grpSpPr bwMode="auto">
          <a:xfrm>
            <a:off x="6781800" y="1903414"/>
            <a:ext cx="3200400" cy="2789237"/>
            <a:chOff x="3456" y="1622"/>
            <a:chExt cx="2160" cy="2058"/>
          </a:xfrm>
        </p:grpSpPr>
        <p:sp>
          <p:nvSpPr>
            <p:cNvPr id="55315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8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9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0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3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4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5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6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7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28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29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0" name="Text Box 32"/>
            <p:cNvSpPr txBox="1">
              <a:spLocks noChangeArrowheads="1"/>
            </p:cNvSpPr>
            <p:nvPr/>
          </p:nvSpPr>
          <p:spPr bwMode="auto">
            <a:xfrm>
              <a:off x="3456" y="2679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1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2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33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4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35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6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7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55338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</p:txBody>
        </p:sp>
      </p:grpSp>
      <p:sp>
        <p:nvSpPr>
          <p:cNvPr id="55313" name="Text Box 41"/>
          <p:cNvSpPr txBox="1">
            <a:spLocks noChangeArrowheads="1"/>
          </p:cNvSpPr>
          <p:nvPr/>
        </p:nvSpPr>
        <p:spPr bwMode="auto">
          <a:xfrm>
            <a:off x="7315200" y="4343401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5314" name="Object 4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096001" y="5610226"/>
          <a:ext cx="40560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1" name="Visio" r:id="rId3" imgW="7949438" imgH="1399827" progId="Visio.Drawing.6">
                  <p:embed/>
                </p:oleObj>
              </mc:Choice>
              <mc:Fallback>
                <p:oleObj name="Visio" r:id="rId3" imgW="7949438" imgH="1399827" progId="Visio.Drawing.6">
                  <p:embed/>
                  <p:pic>
                    <p:nvPicPr>
                      <p:cNvPr id="5531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5610226"/>
                        <a:ext cx="40560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545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Intermediate Situation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200"/>
              <a:t>After some merging steps, we have some clusters </a:t>
            </a:r>
          </a:p>
          <a:p>
            <a:pPr marL="742950" lvl="1" indent="-285750"/>
            <a:endParaRPr lang="en-US" altLang="en-US" sz="2000"/>
          </a:p>
        </p:txBody>
      </p:sp>
      <p:sp>
        <p:nvSpPr>
          <p:cNvPr id="56324" name="Freeform 4"/>
          <p:cNvSpPr>
            <a:spLocks/>
          </p:cNvSpPr>
          <p:nvPr/>
        </p:nvSpPr>
        <p:spPr bwMode="auto">
          <a:xfrm>
            <a:off x="2133600" y="3886201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5" name="Freeform 5"/>
          <p:cNvSpPr>
            <a:spLocks/>
          </p:cNvSpPr>
          <p:nvPr/>
        </p:nvSpPr>
        <p:spPr bwMode="auto">
          <a:xfrm rot="16200000">
            <a:off x="3124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6" name="Freeform 6"/>
          <p:cNvSpPr>
            <a:spLocks/>
          </p:cNvSpPr>
          <p:nvPr/>
        </p:nvSpPr>
        <p:spPr bwMode="auto">
          <a:xfrm rot="10800000">
            <a:off x="4876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7" name="Freeform 7"/>
          <p:cNvSpPr>
            <a:spLocks/>
          </p:cNvSpPr>
          <p:nvPr/>
        </p:nvSpPr>
        <p:spPr bwMode="auto">
          <a:xfrm>
            <a:off x="2819400" y="4953001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8" name="Freeform 8"/>
          <p:cNvSpPr>
            <a:spLocks/>
          </p:cNvSpPr>
          <p:nvPr/>
        </p:nvSpPr>
        <p:spPr bwMode="auto">
          <a:xfrm rot="10800000">
            <a:off x="4114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2209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4953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3048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4267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3276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56334" name="Group 14"/>
          <p:cNvGrpSpPr>
            <a:grpSpLocks/>
          </p:cNvGrpSpPr>
          <p:nvPr/>
        </p:nvGrpSpPr>
        <p:grpSpPr bwMode="auto">
          <a:xfrm>
            <a:off x="7010400" y="1660525"/>
            <a:ext cx="2895600" cy="2215920"/>
            <a:chOff x="3456" y="1440"/>
            <a:chExt cx="1872" cy="1505"/>
          </a:xfrm>
        </p:grpSpPr>
        <p:sp>
          <p:nvSpPr>
            <p:cNvPr id="56337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38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39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0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1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2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3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44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5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46" name="Text Box 24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47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4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50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51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2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3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4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5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6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7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8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335" name="Text Box 37"/>
          <p:cNvSpPr txBox="1">
            <a:spLocks noChangeArrowheads="1"/>
          </p:cNvSpPr>
          <p:nvPr/>
        </p:nvSpPr>
        <p:spPr bwMode="auto">
          <a:xfrm>
            <a:off x="7315200" y="3870326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6336" name="Object 3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172200" y="4713288"/>
          <a:ext cx="408305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65" name="Visio" r:id="rId3" imgW="7591349" imgH="2996548" progId="Visio.Drawing.6">
                  <p:embed/>
                </p:oleObj>
              </mc:Choice>
              <mc:Fallback>
                <p:oleObj name="Visio" r:id="rId3" imgW="7591349" imgH="2996548" progId="Visio.Drawing.6">
                  <p:embed/>
                  <p:pic>
                    <p:nvPicPr>
                      <p:cNvPr id="5633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713288"/>
                        <a:ext cx="408305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800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Step 4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200"/>
              <a:t>We want to merge the two closest clusters (C2 and C5)  and update the proximity matrix. </a:t>
            </a:r>
          </a:p>
          <a:p>
            <a:pPr marL="742950" lvl="1" indent="-285750"/>
            <a:endParaRPr lang="en-US" altLang="en-US" sz="2000"/>
          </a:p>
        </p:txBody>
      </p:sp>
      <p:sp>
        <p:nvSpPr>
          <p:cNvPr id="57348" name="Freeform 4"/>
          <p:cNvSpPr>
            <a:spLocks/>
          </p:cNvSpPr>
          <p:nvPr/>
        </p:nvSpPr>
        <p:spPr bwMode="auto">
          <a:xfrm>
            <a:off x="2133600" y="3886201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49" name="Freeform 5"/>
          <p:cNvSpPr>
            <a:spLocks/>
          </p:cNvSpPr>
          <p:nvPr/>
        </p:nvSpPr>
        <p:spPr bwMode="auto">
          <a:xfrm rot="16200000">
            <a:off x="3124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0" name="Freeform 6"/>
          <p:cNvSpPr>
            <a:spLocks/>
          </p:cNvSpPr>
          <p:nvPr/>
        </p:nvSpPr>
        <p:spPr bwMode="auto">
          <a:xfrm rot="10800000">
            <a:off x="4876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1" name="Freeform 7"/>
          <p:cNvSpPr>
            <a:spLocks/>
          </p:cNvSpPr>
          <p:nvPr/>
        </p:nvSpPr>
        <p:spPr bwMode="auto">
          <a:xfrm>
            <a:off x="2819400" y="4953001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2" name="Freeform 8"/>
          <p:cNvSpPr>
            <a:spLocks/>
          </p:cNvSpPr>
          <p:nvPr/>
        </p:nvSpPr>
        <p:spPr bwMode="auto">
          <a:xfrm rot="10800000">
            <a:off x="4114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2209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4953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3048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4267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3276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57358" name="Group 14"/>
          <p:cNvGrpSpPr>
            <a:grpSpLocks/>
          </p:cNvGrpSpPr>
          <p:nvPr/>
        </p:nvGrpSpPr>
        <p:grpSpPr bwMode="auto">
          <a:xfrm>
            <a:off x="7010400" y="1676400"/>
            <a:ext cx="2971800" cy="2198304"/>
            <a:chOff x="3456" y="1094"/>
            <a:chExt cx="1920" cy="1506"/>
          </a:xfrm>
        </p:grpSpPr>
        <p:sp>
          <p:nvSpPr>
            <p:cNvPr id="57362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63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4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5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6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7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68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9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0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1" name="Text Box 24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2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73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4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5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6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7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8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9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0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1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2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3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4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5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6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7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7359" name="Oval 41"/>
          <p:cNvSpPr>
            <a:spLocks noChangeArrowheads="1"/>
          </p:cNvSpPr>
          <p:nvPr/>
        </p:nvSpPr>
        <p:spPr bwMode="auto">
          <a:xfrm>
            <a:off x="2514600" y="4648200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7360" name="Text Box 42"/>
          <p:cNvSpPr txBox="1">
            <a:spLocks noChangeArrowheads="1"/>
          </p:cNvSpPr>
          <p:nvPr/>
        </p:nvSpPr>
        <p:spPr bwMode="auto">
          <a:xfrm>
            <a:off x="7315200" y="3870326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7361" name="Object 4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172200" y="4495801"/>
          <a:ext cx="40830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89" name="Visio" r:id="rId3" imgW="7591349" imgH="3431733" progId="Visio.Drawing.6">
                  <p:embed/>
                </p:oleObj>
              </mc:Choice>
              <mc:Fallback>
                <p:oleObj name="Visio" r:id="rId3" imgW="7591349" imgH="3431733" progId="Visio.Drawing.6">
                  <p:embed/>
                  <p:pic>
                    <p:nvPicPr>
                      <p:cNvPr id="5736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495801"/>
                        <a:ext cx="408305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361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Step 5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200"/>
              <a:t>The question is “How do we update the proximity matrix?” </a:t>
            </a:r>
          </a:p>
          <a:p>
            <a:pPr marL="742950" lvl="1" indent="-285750"/>
            <a:endParaRPr lang="en-US" altLang="en-US" sz="2000"/>
          </a:p>
        </p:txBody>
      </p:sp>
      <p:sp>
        <p:nvSpPr>
          <p:cNvPr id="58372" name="Freeform 4"/>
          <p:cNvSpPr>
            <a:spLocks/>
          </p:cNvSpPr>
          <p:nvPr/>
        </p:nvSpPr>
        <p:spPr bwMode="auto">
          <a:xfrm>
            <a:off x="2133600" y="3886201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3" name="Freeform 5"/>
          <p:cNvSpPr>
            <a:spLocks/>
          </p:cNvSpPr>
          <p:nvPr/>
        </p:nvSpPr>
        <p:spPr bwMode="auto">
          <a:xfrm rot="16200000">
            <a:off x="3124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4" name="Freeform 6"/>
          <p:cNvSpPr>
            <a:spLocks/>
          </p:cNvSpPr>
          <p:nvPr/>
        </p:nvSpPr>
        <p:spPr bwMode="auto">
          <a:xfrm rot="10800000">
            <a:off x="4876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5" name="Freeform 7"/>
          <p:cNvSpPr>
            <a:spLocks/>
          </p:cNvSpPr>
          <p:nvPr/>
        </p:nvSpPr>
        <p:spPr bwMode="auto">
          <a:xfrm>
            <a:off x="2819400" y="4953001"/>
            <a:ext cx="23622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2209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4953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3429000" y="51816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</a:t>
            </a:r>
            <a:r>
              <a:rPr lang="en-US" altLang="en-US"/>
              <a:t> C5</a:t>
            </a: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3276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7696200" y="274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        ?        ?        ?    	   </a:t>
            </a:r>
          </a:p>
        </p:txBody>
      </p:sp>
      <p:sp>
        <p:nvSpPr>
          <p:cNvPr id="58381" name="Text Box 13"/>
          <p:cNvSpPr txBox="1">
            <a:spLocks noChangeArrowheads="1"/>
          </p:cNvSpPr>
          <p:nvPr/>
        </p:nvSpPr>
        <p:spPr bwMode="auto">
          <a:xfrm>
            <a:off x="8175625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8175625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3" name="Text Box 15"/>
          <p:cNvSpPr txBox="1">
            <a:spLocks noChangeArrowheads="1"/>
          </p:cNvSpPr>
          <p:nvPr/>
        </p:nvSpPr>
        <p:spPr bwMode="auto">
          <a:xfrm>
            <a:off x="8175625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4" name="Text Box 16"/>
          <p:cNvSpPr txBox="1">
            <a:spLocks noChangeArrowheads="1"/>
          </p:cNvSpPr>
          <p:nvPr/>
        </p:nvSpPr>
        <p:spPr bwMode="auto">
          <a:xfrm>
            <a:off x="8153400" y="1555750"/>
            <a:ext cx="5334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</a:p>
        </p:txBody>
      </p: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7620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7543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7239000" y="2286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7162800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7162800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7162800" y="36576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6705600" y="28194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86106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3" name="Text Box 25"/>
          <p:cNvSpPr txBox="1">
            <a:spLocks noChangeArrowheads="1"/>
          </p:cNvSpPr>
          <p:nvPr/>
        </p:nvSpPr>
        <p:spPr bwMode="auto">
          <a:xfrm>
            <a:off x="9144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4" name="Line 26"/>
          <p:cNvSpPr>
            <a:spLocks noChangeShapeType="1"/>
          </p:cNvSpPr>
          <p:nvPr/>
        </p:nvSpPr>
        <p:spPr bwMode="auto">
          <a:xfrm>
            <a:off x="7239000" y="2667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5" name="Line 27"/>
          <p:cNvSpPr>
            <a:spLocks noChangeShapeType="1"/>
          </p:cNvSpPr>
          <p:nvPr/>
        </p:nvSpPr>
        <p:spPr bwMode="auto">
          <a:xfrm>
            <a:off x="7239000" y="3505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6" name="Line 28"/>
          <p:cNvSpPr>
            <a:spLocks noChangeShapeType="1"/>
          </p:cNvSpPr>
          <p:nvPr/>
        </p:nvSpPr>
        <p:spPr bwMode="auto">
          <a:xfrm>
            <a:off x="7239000" y="3124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7" name="Line 29"/>
          <p:cNvSpPr>
            <a:spLocks noChangeShapeType="1"/>
          </p:cNvSpPr>
          <p:nvPr/>
        </p:nvSpPr>
        <p:spPr bwMode="auto">
          <a:xfrm>
            <a:off x="7239000" y="3886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8" name="Line 30"/>
          <p:cNvSpPr>
            <a:spLocks noChangeShapeType="1"/>
          </p:cNvSpPr>
          <p:nvPr/>
        </p:nvSpPr>
        <p:spPr bwMode="auto">
          <a:xfrm>
            <a:off x="8077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99" name="Line 31"/>
          <p:cNvSpPr>
            <a:spLocks noChangeShapeType="1"/>
          </p:cNvSpPr>
          <p:nvPr/>
        </p:nvSpPr>
        <p:spPr bwMode="auto">
          <a:xfrm>
            <a:off x="85344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0" name="Line 32"/>
          <p:cNvSpPr>
            <a:spLocks noChangeShapeType="1"/>
          </p:cNvSpPr>
          <p:nvPr/>
        </p:nvSpPr>
        <p:spPr bwMode="auto">
          <a:xfrm>
            <a:off x="9067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1" name="Line 33"/>
          <p:cNvSpPr>
            <a:spLocks noChangeShapeType="1"/>
          </p:cNvSpPr>
          <p:nvPr/>
        </p:nvSpPr>
        <p:spPr bwMode="auto">
          <a:xfrm>
            <a:off x="9601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2" name="Text Box 34"/>
          <p:cNvSpPr txBox="1">
            <a:spLocks noChangeArrowheads="1"/>
          </p:cNvSpPr>
          <p:nvPr/>
        </p:nvSpPr>
        <p:spPr bwMode="auto">
          <a:xfrm>
            <a:off x="7315200" y="3962401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graphicFrame>
        <p:nvGraphicFramePr>
          <p:cNvPr id="58403" name="Object 102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172200" y="4435476"/>
          <a:ext cx="408305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13" name="Visio" r:id="rId3" imgW="7591349" imgH="3654718" progId="Visio.Drawing.6">
                  <p:embed/>
                </p:oleObj>
              </mc:Choice>
              <mc:Fallback>
                <p:oleObj name="Visio" r:id="rId3" imgW="7591349" imgH="3654718" progId="Visio.Drawing.6">
                  <p:embed/>
                  <p:pic>
                    <p:nvPicPr>
                      <p:cNvPr id="58403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435476"/>
                        <a:ext cx="4083050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542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How to Define Inter-Cluster Distance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2344739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7010400" y="1066801"/>
            <a:ext cx="3429000" cy="3508375"/>
            <a:chOff x="3456" y="1440"/>
            <a:chExt cx="2160" cy="2210"/>
          </a:xfrm>
        </p:grpSpPr>
        <p:sp>
          <p:nvSpPr>
            <p:cNvPr id="59411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2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3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4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5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6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7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8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19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0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1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2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423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9424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9425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9426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9427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9428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9429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9430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9431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9432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9433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59434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59397" name="Line 29"/>
          <p:cNvSpPr>
            <a:spLocks noChangeShapeType="1"/>
          </p:cNvSpPr>
          <p:nvPr/>
        </p:nvSpPr>
        <p:spPr bwMode="auto">
          <a:xfrm>
            <a:off x="3733800" y="20574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Text Box 30"/>
          <p:cNvSpPr txBox="1">
            <a:spLocks noChangeArrowheads="1"/>
          </p:cNvSpPr>
          <p:nvPr/>
        </p:nvSpPr>
        <p:spPr bwMode="auto">
          <a:xfrm>
            <a:off x="3733800" y="16002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Similarity?</a:t>
            </a:r>
          </a:p>
        </p:txBody>
      </p:sp>
      <p:sp>
        <p:nvSpPr>
          <p:cNvPr id="59399" name="Rectangle 31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59400" name="Freeform 32" descr="5%"/>
          <p:cNvSpPr>
            <a:spLocks/>
          </p:cNvSpPr>
          <p:nvPr/>
        </p:nvSpPr>
        <p:spPr bwMode="auto">
          <a:xfrm rot="-5400000">
            <a:off x="1986757" y="1289844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Oval 33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2" name="Oval 34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3" name="Oval 35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4" name="Oval 36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5" name="Freeform 37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Oval 38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7" name="Oval 39"/>
          <p:cNvSpPr>
            <a:spLocks noChangeArrowheads="1"/>
          </p:cNvSpPr>
          <p:nvPr/>
        </p:nvSpPr>
        <p:spPr bwMode="auto">
          <a:xfrm rot="5400000" flipV="1">
            <a:off x="5040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8" name="Oval 40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9" name="Oval 41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10" name="Text Box 42"/>
          <p:cNvSpPr txBox="1">
            <a:spLocks noChangeArrowheads="1"/>
          </p:cNvSpPr>
          <p:nvPr/>
        </p:nvSpPr>
        <p:spPr bwMode="auto">
          <a:xfrm>
            <a:off x="7467600" y="4343401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247198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How to Define Inter-Cluster Similarity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2344739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0420" name="Group 4"/>
          <p:cNvGrpSpPr>
            <a:grpSpLocks/>
          </p:cNvGrpSpPr>
          <p:nvPr/>
        </p:nvGrpSpPr>
        <p:grpSpPr bwMode="auto">
          <a:xfrm>
            <a:off x="7010400" y="1066801"/>
            <a:ext cx="3429000" cy="3508375"/>
            <a:chOff x="3456" y="1440"/>
            <a:chExt cx="2160" cy="2210"/>
          </a:xfrm>
        </p:grpSpPr>
        <p:sp>
          <p:nvSpPr>
            <p:cNvPr id="60434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5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6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7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8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9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0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1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2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3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4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5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6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0447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0448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0449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0450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0451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0452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0453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0454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0455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0456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0457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0421" name="Freeform 29" descr="5%"/>
          <p:cNvSpPr>
            <a:spLocks/>
          </p:cNvSpPr>
          <p:nvPr/>
        </p:nvSpPr>
        <p:spPr bwMode="auto">
          <a:xfrm rot="-5400000">
            <a:off x="1986757" y="1289844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2" name="Oval 30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3" name="Oval 31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4" name="Oval 32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5" name="Oval 33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6" name="Freeform 34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7" name="Oval 35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8" name="Oval 36"/>
          <p:cNvSpPr>
            <a:spLocks noChangeArrowheads="1"/>
          </p:cNvSpPr>
          <p:nvPr/>
        </p:nvSpPr>
        <p:spPr bwMode="auto">
          <a:xfrm rot="5400000" flipV="1">
            <a:off x="5040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9" name="Oval 37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0" name="Oval 38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1" name="Line 39"/>
          <p:cNvSpPr>
            <a:spLocks noChangeShapeType="1"/>
          </p:cNvSpPr>
          <p:nvPr/>
        </p:nvSpPr>
        <p:spPr bwMode="auto">
          <a:xfrm flipV="1">
            <a:off x="3505200" y="16002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2" name="Text Box 40"/>
          <p:cNvSpPr txBox="1">
            <a:spLocks noChangeArrowheads="1"/>
          </p:cNvSpPr>
          <p:nvPr/>
        </p:nvSpPr>
        <p:spPr bwMode="auto">
          <a:xfrm>
            <a:off x="7467600" y="4343401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0433" name="Rectangle 41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  <p:extLst>
      <p:ext uri="{BB962C8B-B14F-4D97-AF65-F5344CB8AC3E}">
        <p14:creationId xmlns:p14="http://schemas.microsoft.com/office/powerpoint/2010/main" val="113039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How to Define Inter-Cluster Similarity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2344739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1444" name="Group 4"/>
          <p:cNvGrpSpPr>
            <a:grpSpLocks/>
          </p:cNvGrpSpPr>
          <p:nvPr/>
        </p:nvGrpSpPr>
        <p:grpSpPr bwMode="auto">
          <a:xfrm>
            <a:off x="7010400" y="1066801"/>
            <a:ext cx="3429000" cy="3508375"/>
            <a:chOff x="3456" y="1440"/>
            <a:chExt cx="2160" cy="2210"/>
          </a:xfrm>
        </p:grpSpPr>
        <p:sp>
          <p:nvSpPr>
            <p:cNvPr id="61458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59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0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1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2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3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4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5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6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7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8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69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70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1471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1472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1473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1474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1475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1476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1477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1478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1479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1480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1481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1445" name="Freeform 29" descr="5%"/>
          <p:cNvSpPr>
            <a:spLocks/>
          </p:cNvSpPr>
          <p:nvPr/>
        </p:nvSpPr>
        <p:spPr bwMode="auto">
          <a:xfrm rot="-5400000">
            <a:off x="1986757" y="1289844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46" name="Oval 30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7" name="Oval 31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8" name="Oval 32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9" name="Oval 33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0" name="Freeform 34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1" name="Oval 35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2" name="Oval 36"/>
          <p:cNvSpPr>
            <a:spLocks noChangeArrowheads="1"/>
          </p:cNvSpPr>
          <p:nvPr/>
        </p:nvSpPr>
        <p:spPr bwMode="auto">
          <a:xfrm rot="5400000" flipV="1">
            <a:off x="5040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3" name="Oval 37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4" name="Oval 38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5" name="Line 39"/>
          <p:cNvSpPr>
            <a:spLocks noChangeShapeType="1"/>
          </p:cNvSpPr>
          <p:nvPr/>
        </p:nvSpPr>
        <p:spPr bwMode="auto">
          <a:xfrm flipV="1">
            <a:off x="2438400" y="16764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6" name="Text Box 40"/>
          <p:cNvSpPr txBox="1">
            <a:spLocks noChangeArrowheads="1"/>
          </p:cNvSpPr>
          <p:nvPr/>
        </p:nvSpPr>
        <p:spPr bwMode="auto">
          <a:xfrm>
            <a:off x="7467600" y="4343401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1457" name="Rectangle 41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  <p:extLst>
      <p:ext uri="{BB962C8B-B14F-4D97-AF65-F5344CB8AC3E}">
        <p14:creationId xmlns:p14="http://schemas.microsoft.com/office/powerpoint/2010/main" val="154668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How to Define Inter-Cluster Similarity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2344739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7010400" y="1066801"/>
            <a:ext cx="3429000" cy="3508375"/>
            <a:chOff x="3456" y="1440"/>
            <a:chExt cx="2160" cy="2210"/>
          </a:xfrm>
        </p:grpSpPr>
        <p:sp>
          <p:nvSpPr>
            <p:cNvPr id="62497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8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9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0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1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2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3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4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5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6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7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8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9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2510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2511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2512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2513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2514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2515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2516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2517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2518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2519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2520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2469" name="Freeform 29" descr="5%"/>
          <p:cNvSpPr>
            <a:spLocks/>
          </p:cNvSpPr>
          <p:nvPr/>
        </p:nvSpPr>
        <p:spPr bwMode="auto">
          <a:xfrm rot="-5400000">
            <a:off x="1986757" y="1289844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Oval 30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1" name="Oval 31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2" name="Oval 32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3" name="Oval 33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4" name="Freeform 34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5" name="Oval 35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6" name="Oval 36"/>
          <p:cNvSpPr>
            <a:spLocks noChangeArrowheads="1"/>
          </p:cNvSpPr>
          <p:nvPr/>
        </p:nvSpPr>
        <p:spPr bwMode="auto">
          <a:xfrm rot="5400000" flipV="1">
            <a:off x="5040313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7" name="Oval 37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8" name="Oval 38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9" name="Line 39"/>
          <p:cNvSpPr>
            <a:spLocks noChangeShapeType="1"/>
          </p:cNvSpPr>
          <p:nvPr/>
        </p:nvSpPr>
        <p:spPr bwMode="auto">
          <a:xfrm>
            <a:off x="3352800" y="2209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0" name="Line 40"/>
          <p:cNvSpPr>
            <a:spLocks noChangeShapeType="1"/>
          </p:cNvSpPr>
          <p:nvPr/>
        </p:nvSpPr>
        <p:spPr bwMode="auto">
          <a:xfrm flipV="1">
            <a:off x="3352800" y="1676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1" name="Line 41"/>
          <p:cNvSpPr>
            <a:spLocks noChangeShapeType="1"/>
          </p:cNvSpPr>
          <p:nvPr/>
        </p:nvSpPr>
        <p:spPr bwMode="auto">
          <a:xfrm flipV="1">
            <a:off x="3352800" y="1295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2" name="Line 42"/>
          <p:cNvSpPr>
            <a:spLocks noChangeShapeType="1"/>
          </p:cNvSpPr>
          <p:nvPr/>
        </p:nvSpPr>
        <p:spPr bwMode="auto">
          <a:xfrm flipV="1">
            <a:off x="3352800" y="1676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3" name="Line 43"/>
          <p:cNvSpPr>
            <a:spLocks noChangeShapeType="1"/>
          </p:cNvSpPr>
          <p:nvPr/>
        </p:nvSpPr>
        <p:spPr bwMode="auto">
          <a:xfrm>
            <a:off x="3505200" y="1828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4" name="Line 44"/>
          <p:cNvSpPr>
            <a:spLocks noChangeShapeType="1"/>
          </p:cNvSpPr>
          <p:nvPr/>
        </p:nvSpPr>
        <p:spPr bwMode="auto">
          <a:xfrm flipV="1">
            <a:off x="3505200" y="1676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5" name="Line 45"/>
          <p:cNvSpPr>
            <a:spLocks noChangeShapeType="1"/>
          </p:cNvSpPr>
          <p:nvPr/>
        </p:nvSpPr>
        <p:spPr bwMode="auto">
          <a:xfrm flipV="1">
            <a:off x="3505200" y="1295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6" name="Line 46"/>
          <p:cNvSpPr>
            <a:spLocks noChangeShapeType="1"/>
          </p:cNvSpPr>
          <p:nvPr/>
        </p:nvSpPr>
        <p:spPr bwMode="auto">
          <a:xfrm flipV="1">
            <a:off x="3505200" y="1676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7" name="Line 47"/>
          <p:cNvSpPr>
            <a:spLocks noChangeShapeType="1"/>
          </p:cNvSpPr>
          <p:nvPr/>
        </p:nvSpPr>
        <p:spPr bwMode="auto">
          <a:xfrm>
            <a:off x="2438400" y="1905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8" name="Line 48"/>
          <p:cNvSpPr>
            <a:spLocks noChangeShapeType="1"/>
          </p:cNvSpPr>
          <p:nvPr/>
        </p:nvSpPr>
        <p:spPr bwMode="auto">
          <a:xfrm flipV="1">
            <a:off x="2438400" y="1676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9" name="Line 49"/>
          <p:cNvSpPr>
            <a:spLocks noChangeShapeType="1"/>
          </p:cNvSpPr>
          <p:nvPr/>
        </p:nvSpPr>
        <p:spPr bwMode="auto">
          <a:xfrm flipV="1">
            <a:off x="2438400" y="1295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0" name="Line 50"/>
          <p:cNvSpPr>
            <a:spLocks noChangeShapeType="1"/>
          </p:cNvSpPr>
          <p:nvPr/>
        </p:nvSpPr>
        <p:spPr bwMode="auto">
          <a:xfrm flipV="1">
            <a:off x="2438400" y="1676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1" name="Line 51"/>
          <p:cNvSpPr>
            <a:spLocks noChangeShapeType="1"/>
          </p:cNvSpPr>
          <p:nvPr/>
        </p:nvSpPr>
        <p:spPr bwMode="auto">
          <a:xfrm>
            <a:off x="3276600" y="1447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2" name="Line 52"/>
          <p:cNvSpPr>
            <a:spLocks noChangeShapeType="1"/>
          </p:cNvSpPr>
          <p:nvPr/>
        </p:nvSpPr>
        <p:spPr bwMode="auto">
          <a:xfrm>
            <a:off x="3276600" y="1447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3" name="Line 53"/>
          <p:cNvSpPr>
            <a:spLocks noChangeShapeType="1"/>
          </p:cNvSpPr>
          <p:nvPr/>
        </p:nvSpPr>
        <p:spPr bwMode="auto">
          <a:xfrm flipV="1">
            <a:off x="3276600" y="1295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4" name="Line 54"/>
          <p:cNvSpPr>
            <a:spLocks noChangeShapeType="1"/>
          </p:cNvSpPr>
          <p:nvPr/>
        </p:nvSpPr>
        <p:spPr bwMode="auto">
          <a:xfrm>
            <a:off x="3276600" y="1447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5" name="Text Box 55"/>
          <p:cNvSpPr txBox="1">
            <a:spLocks noChangeArrowheads="1"/>
          </p:cNvSpPr>
          <p:nvPr/>
        </p:nvSpPr>
        <p:spPr bwMode="auto">
          <a:xfrm>
            <a:off x="7467600" y="4343401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2496" name="Rectangle 56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  <p:extLst>
      <p:ext uri="{BB962C8B-B14F-4D97-AF65-F5344CB8AC3E}">
        <p14:creationId xmlns:p14="http://schemas.microsoft.com/office/powerpoint/2010/main" val="9448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2"/>
          <p:cNvSpPr>
            <a:spLocks noChangeShapeType="1"/>
          </p:cNvSpPr>
          <p:nvPr/>
        </p:nvSpPr>
        <p:spPr bwMode="auto">
          <a:xfrm flipV="1">
            <a:off x="2895600" y="19812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1" name="Freeform 3" descr="5%"/>
          <p:cNvSpPr>
            <a:spLocks/>
          </p:cNvSpPr>
          <p:nvPr/>
        </p:nvSpPr>
        <p:spPr bwMode="auto">
          <a:xfrm rot="-5400000">
            <a:off x="1986757" y="1289844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How to Define Inter-Cluster Similarity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163763" y="2344739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3494" name="Group 6"/>
          <p:cNvGrpSpPr>
            <a:grpSpLocks/>
          </p:cNvGrpSpPr>
          <p:nvPr/>
        </p:nvGrpSpPr>
        <p:grpSpPr bwMode="auto">
          <a:xfrm>
            <a:off x="7010400" y="1066801"/>
            <a:ext cx="3429000" cy="3508375"/>
            <a:chOff x="3456" y="1440"/>
            <a:chExt cx="2160" cy="2210"/>
          </a:xfrm>
        </p:grpSpPr>
        <p:sp>
          <p:nvSpPr>
            <p:cNvPr id="63508" name="Line 7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09" name="Line 8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0" name="Line 9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1" name="Line 10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2" name="Line 11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3" name="Line 12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4" name="Line 13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5" name="Line 14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6" name="Line 15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7" name="Line 16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8" name="Line 17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9" name="Line 18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20" name="Text Box 19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3521" name="Text Box 20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3522" name="Text Box 21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3523" name="Text Box 22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3524" name="Text Box 23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3525" name="Text Box 24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3526" name="Text Box 2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3527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3528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3529" name="Text Box 28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3530" name="Text Box 29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3531" name="Text Box 30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3495" name="Oval 31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6" name="Oval 32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7" name="Oval 33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8" name="Oval 34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9" name="Freeform 35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Oval 36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1" name="Oval 37"/>
          <p:cNvSpPr>
            <a:spLocks noChangeArrowheads="1"/>
          </p:cNvSpPr>
          <p:nvPr/>
        </p:nvSpPr>
        <p:spPr bwMode="auto">
          <a:xfrm rot="5400000" flipV="1">
            <a:off x="5040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2" name="Oval 38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3" name="Oval 39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4" name="Text Box 40"/>
          <p:cNvSpPr txBox="1">
            <a:spLocks noChangeArrowheads="1"/>
          </p:cNvSpPr>
          <p:nvPr/>
        </p:nvSpPr>
        <p:spPr bwMode="auto">
          <a:xfrm>
            <a:off x="7467600" y="4343401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3505" name="Rectangle 41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63506" name="Text Box 42"/>
          <p:cNvSpPr txBox="1">
            <a:spLocks noChangeArrowheads="1"/>
          </p:cNvSpPr>
          <p:nvPr/>
        </p:nvSpPr>
        <p:spPr bwMode="auto">
          <a:xfrm>
            <a:off x="27432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63507" name="Text Box 43"/>
          <p:cNvSpPr txBox="1">
            <a:spLocks noChangeArrowheads="1"/>
          </p:cNvSpPr>
          <p:nvPr/>
        </p:nvSpPr>
        <p:spPr bwMode="auto">
          <a:xfrm>
            <a:off x="56388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</p:spTree>
    <p:extLst>
      <p:ext uri="{BB962C8B-B14F-4D97-AF65-F5344CB8AC3E}">
        <p14:creationId xmlns:p14="http://schemas.microsoft.com/office/powerpoint/2010/main" val="317796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MIN or Single Link 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5164" y="1143000"/>
            <a:ext cx="8504237" cy="5181600"/>
          </a:xfrm>
        </p:spPr>
        <p:txBody>
          <a:bodyPr/>
          <a:lstStyle/>
          <a:p>
            <a:r>
              <a:rPr lang="en-US" altLang="en-US"/>
              <a:t>Proximity of two clusters is based on the two closest points in the different clusters</a:t>
            </a:r>
          </a:p>
          <a:p>
            <a:pPr lvl="1"/>
            <a:r>
              <a:rPr lang="en-US" altLang="en-US"/>
              <a:t>Determined by one pair of points, i.e., by one link in the proximity graph</a:t>
            </a:r>
          </a:p>
          <a:p>
            <a:r>
              <a:rPr lang="en-US" altLang="en-US"/>
              <a:t>Example:</a:t>
            </a:r>
          </a:p>
        </p:txBody>
      </p:sp>
      <p:pic>
        <p:nvPicPr>
          <p:cNvPr id="6451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>
          <a:xfrm>
            <a:off x="2362200" y="3810001"/>
            <a:ext cx="3276600" cy="2500313"/>
          </a:xfrm>
          <a:noFill/>
        </p:spPr>
      </p:pic>
      <p:pic>
        <p:nvPicPr>
          <p:cNvPr id="64517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72200" y="4114800"/>
            <a:ext cx="4000500" cy="1836738"/>
          </a:xfrm>
          <a:noFill/>
        </p:spPr>
      </p:pic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7239000" y="36576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</p:spTree>
    <p:extLst>
      <p:ext uri="{BB962C8B-B14F-4D97-AF65-F5344CB8AC3E}">
        <p14:creationId xmlns:p14="http://schemas.microsoft.com/office/powerpoint/2010/main" val="164536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Clustering: MIN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2438400" y="57150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7315200" y="5715001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</a:p>
        </p:txBody>
      </p:sp>
      <p:grpSp>
        <p:nvGrpSpPr>
          <p:cNvPr id="65541" name="Group 5"/>
          <p:cNvGrpSpPr>
            <a:grpSpLocks/>
          </p:cNvGrpSpPr>
          <p:nvPr/>
        </p:nvGrpSpPr>
        <p:grpSpPr bwMode="auto">
          <a:xfrm>
            <a:off x="2271713" y="1773239"/>
            <a:ext cx="3055938" cy="2747963"/>
            <a:chOff x="471" y="1117"/>
            <a:chExt cx="1925" cy="1731"/>
          </a:xfrm>
        </p:grpSpPr>
        <p:sp>
          <p:nvSpPr>
            <p:cNvPr id="65558" name="Freeform 6"/>
            <p:cNvSpPr>
              <a:spLocks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9" name="Freeform 7"/>
            <p:cNvSpPr>
              <a:spLocks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0" name="Freeform 8"/>
            <p:cNvSpPr>
              <a:spLocks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1" name="Freeform 9"/>
            <p:cNvSpPr>
              <a:spLocks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2" name="Freeform 10"/>
            <p:cNvSpPr>
              <a:spLocks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3" name="Freeform 11"/>
            <p:cNvSpPr>
              <a:spLocks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64" name="Rectangle 12"/>
            <p:cNvSpPr>
              <a:spLocks noChangeArrowheads="1"/>
            </p:cNvSpPr>
            <p:nvPr/>
          </p:nvSpPr>
          <p:spPr bwMode="auto">
            <a:xfrm>
              <a:off x="2032" y="1117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65565" name="Rectangle 13"/>
            <p:cNvSpPr>
              <a:spLocks noChangeArrowheads="1"/>
            </p:cNvSpPr>
            <p:nvPr/>
          </p:nvSpPr>
          <p:spPr bwMode="auto">
            <a:xfrm>
              <a:off x="1256" y="1764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65566" name="Rectangle 14"/>
            <p:cNvSpPr>
              <a:spLocks noChangeArrowheads="1"/>
            </p:cNvSpPr>
            <p:nvPr/>
          </p:nvSpPr>
          <p:spPr bwMode="auto">
            <a:xfrm>
              <a:off x="1810" y="2069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65567" name="Rectangle 15"/>
            <p:cNvSpPr>
              <a:spLocks noChangeArrowheads="1"/>
            </p:cNvSpPr>
            <p:nvPr/>
          </p:nvSpPr>
          <p:spPr bwMode="auto">
            <a:xfrm>
              <a:off x="1422" y="2635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dirty="0"/>
            </a:p>
          </p:txBody>
        </p:sp>
        <p:sp>
          <p:nvSpPr>
            <p:cNvPr id="65568" name="Rectangle 16"/>
            <p:cNvSpPr>
              <a:spLocks noChangeArrowheads="1"/>
            </p:cNvSpPr>
            <p:nvPr/>
          </p:nvSpPr>
          <p:spPr bwMode="auto">
            <a:xfrm>
              <a:off x="648" y="1626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65569" name="Rectangle 17"/>
            <p:cNvSpPr>
              <a:spLocks noChangeArrowheads="1"/>
            </p:cNvSpPr>
            <p:nvPr/>
          </p:nvSpPr>
          <p:spPr bwMode="auto">
            <a:xfrm>
              <a:off x="2307" y="2125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019550" y="2863850"/>
            <a:ext cx="1423988" cy="914400"/>
            <a:chOff x="1572" y="1804"/>
            <a:chExt cx="897" cy="576"/>
          </a:xfrm>
        </p:grpSpPr>
        <p:sp>
          <p:nvSpPr>
            <p:cNvPr id="65556" name="Freeform 19"/>
            <p:cNvSpPr>
              <a:spLocks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7" name="Rectangle 20"/>
            <p:cNvSpPr>
              <a:spLocks noChangeArrowheads="1"/>
            </p:cNvSpPr>
            <p:nvPr/>
          </p:nvSpPr>
          <p:spPr bwMode="auto">
            <a:xfrm>
              <a:off x="1944" y="1804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051050" y="2489201"/>
            <a:ext cx="1735138" cy="1106488"/>
            <a:chOff x="332" y="1568"/>
            <a:chExt cx="1093" cy="697"/>
          </a:xfrm>
        </p:grpSpPr>
        <p:sp>
          <p:nvSpPr>
            <p:cNvPr id="65554" name="Freeform 22"/>
            <p:cNvSpPr>
              <a:spLocks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5" name="Rectangle 23"/>
            <p:cNvSpPr>
              <a:spLocks noChangeArrowheads="1"/>
            </p:cNvSpPr>
            <p:nvPr/>
          </p:nvSpPr>
          <p:spPr bwMode="auto">
            <a:xfrm>
              <a:off x="949" y="2052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1968501" y="2071689"/>
            <a:ext cx="3675063" cy="2097087"/>
            <a:chOff x="280" y="1305"/>
            <a:chExt cx="2315" cy="1321"/>
          </a:xfrm>
        </p:grpSpPr>
        <p:sp>
          <p:nvSpPr>
            <p:cNvPr id="65552" name="Freeform 25"/>
            <p:cNvSpPr>
              <a:spLocks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3" name="Rectangle 26"/>
            <p:cNvSpPr>
              <a:spLocks noChangeArrowheads="1"/>
            </p:cNvSpPr>
            <p:nvPr/>
          </p:nvSpPr>
          <p:spPr bwMode="auto">
            <a:xfrm>
              <a:off x="1390" y="1305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906588" y="1951038"/>
            <a:ext cx="3795712" cy="2871788"/>
            <a:chOff x="241" y="1229"/>
            <a:chExt cx="2391" cy="1809"/>
          </a:xfrm>
        </p:grpSpPr>
        <p:sp>
          <p:nvSpPr>
            <p:cNvPr id="65550" name="Freeform 28"/>
            <p:cNvSpPr>
              <a:spLocks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51" name="Rectangle 29"/>
            <p:cNvSpPr>
              <a:spLocks noChangeArrowheads="1"/>
            </p:cNvSpPr>
            <p:nvPr/>
          </p:nvSpPr>
          <p:spPr bwMode="auto">
            <a:xfrm>
              <a:off x="1239" y="2825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831976" y="1547813"/>
            <a:ext cx="4003675" cy="3530600"/>
            <a:chOff x="194" y="975"/>
            <a:chExt cx="2522" cy="2224"/>
          </a:xfrm>
        </p:grpSpPr>
        <p:sp>
          <p:nvSpPr>
            <p:cNvPr id="65548" name="Rectangle 31"/>
            <p:cNvSpPr>
              <a:spLocks noChangeArrowheads="1"/>
            </p:cNvSpPr>
            <p:nvPr/>
          </p:nvSpPr>
          <p:spPr bwMode="auto">
            <a:xfrm>
              <a:off x="2138" y="975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65549" name="Freeform 32"/>
            <p:cNvSpPr>
              <a:spLocks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5547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098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061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Strength of MIN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2590800" y="4267201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66564" name="Text Box 5"/>
          <p:cNvSpPr txBox="1">
            <a:spLocks noChangeArrowheads="1"/>
          </p:cNvSpPr>
          <p:nvPr/>
        </p:nvSpPr>
        <p:spPr bwMode="auto">
          <a:xfrm>
            <a:off x="6934200" y="4267201"/>
            <a:ext cx="236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Six Clusters</a:t>
            </a:r>
          </a:p>
        </p:txBody>
      </p:sp>
      <p:sp>
        <p:nvSpPr>
          <p:cNvPr id="66565" name="Text Box 8"/>
          <p:cNvSpPr txBox="1">
            <a:spLocks noChangeArrowheads="1"/>
          </p:cNvSpPr>
          <p:nvPr/>
        </p:nvSpPr>
        <p:spPr bwMode="auto">
          <a:xfrm>
            <a:off x="2133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non-elliptical shapes</a:t>
            </a:r>
          </a:p>
        </p:txBody>
      </p:sp>
      <p:pic>
        <p:nvPicPr>
          <p:cNvPr id="665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6" y="1370014"/>
            <a:ext cx="4854575" cy="365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1" y="12954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3203576"/>
            <a:ext cx="424180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400" y="612776"/>
            <a:ext cx="424180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Limitations of MIN</a:t>
            </a:r>
          </a:p>
        </p:txBody>
      </p:sp>
      <p:sp>
        <p:nvSpPr>
          <p:cNvPr id="67589" name="Text Box 3"/>
          <p:cNvSpPr txBox="1">
            <a:spLocks noChangeArrowheads="1"/>
          </p:cNvSpPr>
          <p:nvPr/>
        </p:nvSpPr>
        <p:spPr bwMode="auto">
          <a:xfrm>
            <a:off x="2590800" y="4724401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6705600" y="3124201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</a:p>
        </p:txBody>
      </p:sp>
      <p:sp>
        <p:nvSpPr>
          <p:cNvPr id="67591" name="Text Box 8"/>
          <p:cNvSpPr txBox="1">
            <a:spLocks noChangeArrowheads="1"/>
          </p:cNvSpPr>
          <p:nvPr/>
        </p:nvSpPr>
        <p:spPr bwMode="auto">
          <a:xfrm>
            <a:off x="2133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Sensitive to noise</a:t>
            </a:r>
          </a:p>
        </p:txBody>
      </p:sp>
      <p:pic>
        <p:nvPicPr>
          <p:cNvPr id="6759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478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3" name="Text Box 11"/>
          <p:cNvSpPr txBox="1">
            <a:spLocks noChangeArrowheads="1"/>
          </p:cNvSpPr>
          <p:nvPr/>
        </p:nvSpPr>
        <p:spPr bwMode="auto">
          <a:xfrm>
            <a:off x="6781800" y="5715001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Three Clusters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MAX or Complete Linkage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Proximity of two clusters is based on the two most distant points in the different clusters</a:t>
            </a:r>
          </a:p>
          <a:p>
            <a:pPr lvl="1"/>
            <a:r>
              <a:rPr lang="en-US" altLang="en-US"/>
              <a:t>Determined by all pairs of points in the two clusters</a:t>
            </a:r>
          </a:p>
          <a:p>
            <a:endParaRPr lang="en-US" altLang="en-US"/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1676401" y="2819400"/>
            <a:ext cx="4195763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886200"/>
            <a:ext cx="40005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7010400" y="34290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Clustering: MAX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2622550" y="5348288"/>
            <a:ext cx="3352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7194550" y="5348288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</a:p>
        </p:txBody>
      </p:sp>
      <p:pic>
        <p:nvPicPr>
          <p:cNvPr id="696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21336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9638" name="Group 6"/>
          <p:cNvGrpSpPr>
            <a:grpSpLocks/>
          </p:cNvGrpSpPr>
          <p:nvPr/>
        </p:nvGrpSpPr>
        <p:grpSpPr bwMode="auto">
          <a:xfrm>
            <a:off x="2316164" y="1824039"/>
            <a:ext cx="2998787" cy="2687637"/>
            <a:chOff x="383" y="1437"/>
            <a:chExt cx="1889" cy="1693"/>
          </a:xfrm>
        </p:grpSpPr>
        <p:sp>
          <p:nvSpPr>
            <p:cNvPr id="69654" name="Freeform 7"/>
            <p:cNvSpPr>
              <a:spLocks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5" name="Freeform 8"/>
            <p:cNvSpPr>
              <a:spLocks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6" name="Freeform 9"/>
            <p:cNvSpPr>
              <a:spLocks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7" name="Freeform 10"/>
            <p:cNvSpPr>
              <a:spLocks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8" name="Freeform 11"/>
            <p:cNvSpPr>
              <a:spLocks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59" name="Freeform 12"/>
            <p:cNvSpPr>
              <a:spLocks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660" name="Rectangle 13"/>
            <p:cNvSpPr>
              <a:spLocks noChangeArrowheads="1"/>
            </p:cNvSpPr>
            <p:nvPr/>
          </p:nvSpPr>
          <p:spPr bwMode="auto">
            <a:xfrm>
              <a:off x="1890" y="143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69661" name="Rectangle 14"/>
            <p:cNvSpPr>
              <a:spLocks noChangeArrowheads="1"/>
            </p:cNvSpPr>
            <p:nvPr/>
          </p:nvSpPr>
          <p:spPr bwMode="auto">
            <a:xfrm>
              <a:off x="1089" y="20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69662" name="Rectangle 15"/>
            <p:cNvSpPr>
              <a:spLocks noChangeArrowheads="1"/>
            </p:cNvSpPr>
            <p:nvPr/>
          </p:nvSpPr>
          <p:spPr bwMode="auto">
            <a:xfrm>
              <a:off x="1699" y="237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69663" name="Rectangle 16"/>
            <p:cNvSpPr>
              <a:spLocks noChangeArrowheads="1"/>
            </p:cNvSpPr>
            <p:nvPr/>
          </p:nvSpPr>
          <p:spPr bwMode="auto">
            <a:xfrm>
              <a:off x="1319" y="29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69664" name="Rectangle 17"/>
            <p:cNvSpPr>
              <a:spLocks noChangeArrowheads="1"/>
            </p:cNvSpPr>
            <p:nvPr/>
          </p:nvSpPr>
          <p:spPr bwMode="auto">
            <a:xfrm>
              <a:off x="517" y="194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69665" name="Rectangle 18"/>
            <p:cNvSpPr>
              <a:spLocks noChangeArrowheads="1"/>
            </p:cNvSpPr>
            <p:nvPr/>
          </p:nvSpPr>
          <p:spPr bwMode="auto">
            <a:xfrm>
              <a:off x="2188" y="24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4033838" y="3208338"/>
            <a:ext cx="1401762" cy="893762"/>
            <a:chOff x="1465" y="2309"/>
            <a:chExt cx="883" cy="563"/>
          </a:xfrm>
        </p:grpSpPr>
        <p:sp>
          <p:nvSpPr>
            <p:cNvPr id="69652" name="Freeform 20"/>
            <p:cNvSpPr>
              <a:spLocks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3" name="Rectangle 21"/>
            <p:cNvSpPr>
              <a:spLocks noChangeArrowheads="1"/>
            </p:cNvSpPr>
            <p:nvPr/>
          </p:nvSpPr>
          <p:spPr bwMode="auto">
            <a:xfrm>
              <a:off x="1831" y="2668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2228851" y="2249488"/>
            <a:ext cx="1579563" cy="889000"/>
            <a:chOff x="328" y="1705"/>
            <a:chExt cx="995" cy="560"/>
          </a:xfrm>
        </p:grpSpPr>
        <p:sp>
          <p:nvSpPr>
            <p:cNvPr id="69650" name="Freeform 23"/>
            <p:cNvSpPr>
              <a:spLocks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51" name="Rectangle 24"/>
            <p:cNvSpPr>
              <a:spLocks noChangeArrowheads="1"/>
            </p:cNvSpPr>
            <p:nvPr/>
          </p:nvSpPr>
          <p:spPr bwMode="auto">
            <a:xfrm>
              <a:off x="853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884363" y="1582739"/>
            <a:ext cx="3935412" cy="3487737"/>
            <a:chOff x="111" y="1285"/>
            <a:chExt cx="2479" cy="2197"/>
          </a:xfrm>
        </p:grpSpPr>
        <p:sp>
          <p:nvSpPr>
            <p:cNvPr id="69648" name="Rectangle 26"/>
            <p:cNvSpPr>
              <a:spLocks noChangeArrowheads="1"/>
            </p:cNvSpPr>
            <p:nvPr/>
          </p:nvSpPr>
          <p:spPr bwMode="auto">
            <a:xfrm>
              <a:off x="2484" y="1705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69649" name="Freeform 27"/>
            <p:cNvSpPr>
              <a:spLocks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3406775" y="2982914"/>
            <a:ext cx="2160588" cy="1652587"/>
            <a:chOff x="1070" y="2167"/>
            <a:chExt cx="1361" cy="1041"/>
          </a:xfrm>
        </p:grpSpPr>
        <p:sp>
          <p:nvSpPr>
            <p:cNvPr id="69646" name="Rectangle 29"/>
            <p:cNvSpPr>
              <a:spLocks noChangeArrowheads="1"/>
            </p:cNvSpPr>
            <p:nvPr/>
          </p:nvSpPr>
          <p:spPr bwMode="auto">
            <a:xfrm>
              <a:off x="1070" y="256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69647" name="Freeform 30"/>
            <p:cNvSpPr>
              <a:spLocks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2139951" y="1720851"/>
            <a:ext cx="2906713" cy="1520825"/>
            <a:chOff x="272" y="1372"/>
            <a:chExt cx="1831" cy="958"/>
          </a:xfrm>
        </p:grpSpPr>
        <p:sp>
          <p:nvSpPr>
            <p:cNvPr id="69644" name="Rectangle 32"/>
            <p:cNvSpPr>
              <a:spLocks noChangeArrowheads="1"/>
            </p:cNvSpPr>
            <p:nvPr/>
          </p:nvSpPr>
          <p:spPr bwMode="auto">
            <a:xfrm>
              <a:off x="1165" y="138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69645" name="Freeform 33"/>
            <p:cNvSpPr>
              <a:spLocks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Strength of MAX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2894013" y="4357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70660" name="Text Box 6"/>
          <p:cNvSpPr txBox="1">
            <a:spLocks noChangeArrowheads="1"/>
          </p:cNvSpPr>
          <p:nvPr/>
        </p:nvSpPr>
        <p:spPr bwMode="auto">
          <a:xfrm>
            <a:off x="6704013" y="4357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</a:p>
        </p:txBody>
      </p:sp>
      <p:sp>
        <p:nvSpPr>
          <p:cNvPr id="70661" name="Text Box 8"/>
          <p:cNvSpPr txBox="1">
            <a:spLocks noChangeArrowheads="1"/>
          </p:cNvSpPr>
          <p:nvPr/>
        </p:nvSpPr>
        <p:spPr bwMode="auto">
          <a:xfrm>
            <a:off x="2133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Less susceptible to noise</a:t>
            </a:r>
          </a:p>
        </p:txBody>
      </p:sp>
      <p:pic>
        <p:nvPicPr>
          <p:cNvPr id="7066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1" y="10668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6" y="10668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Limitations of MAX</a:t>
            </a:r>
          </a:p>
        </p:txBody>
      </p:sp>
      <p:sp>
        <p:nvSpPr>
          <p:cNvPr id="71683" name="Text Box 4"/>
          <p:cNvSpPr txBox="1">
            <a:spLocks noChangeArrowheads="1"/>
          </p:cNvSpPr>
          <p:nvPr/>
        </p:nvSpPr>
        <p:spPr bwMode="auto">
          <a:xfrm>
            <a:off x="2590800" y="4738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71684" name="Text Box 7"/>
          <p:cNvSpPr txBox="1">
            <a:spLocks noChangeArrowheads="1"/>
          </p:cNvSpPr>
          <p:nvPr/>
        </p:nvSpPr>
        <p:spPr bwMode="auto">
          <a:xfrm>
            <a:off x="6704013" y="4738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</a:p>
        </p:txBody>
      </p:sp>
      <p:sp>
        <p:nvSpPr>
          <p:cNvPr id="71685" name="Text Box 8"/>
          <p:cNvSpPr txBox="1">
            <a:spLocks noChangeArrowheads="1"/>
          </p:cNvSpPr>
          <p:nvPr/>
        </p:nvSpPr>
        <p:spPr bwMode="auto">
          <a:xfrm>
            <a:off x="2133600" y="5486401"/>
            <a:ext cx="6324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Tends to break large clusters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Biased towards globular clusters</a:t>
            </a:r>
          </a:p>
        </p:txBody>
      </p:sp>
      <p:pic>
        <p:nvPicPr>
          <p:cNvPr id="7168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13716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1371600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Group Average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200" dirty="0"/>
              <a:t>Proximity of two clusters is the average of pairwise proximity between points in the two clusters.</a:t>
            </a:r>
          </a:p>
          <a:p>
            <a:endParaRPr lang="en-US" altLang="en-US" sz="2200" dirty="0"/>
          </a:p>
          <a:p>
            <a:endParaRPr lang="en-US" altLang="en-US" sz="2200" dirty="0"/>
          </a:p>
          <a:p>
            <a:pPr lvl="4"/>
            <a:endParaRPr lang="en-US" altLang="en-US" sz="1800" dirty="0"/>
          </a:p>
          <a:p>
            <a:endParaRPr lang="en-US" altLang="en-US" sz="2200" dirty="0"/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3581400" y="1905000"/>
          <a:ext cx="55753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51" name="Equation" r:id="rId3" imgW="3873500" imgH="698500" progId="Equation.3">
                  <p:embed/>
                </p:oleObj>
              </mc:Choice>
              <mc:Fallback>
                <p:oleObj name="Equation" r:id="rId3" imgW="3873500" imgH="698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905000"/>
                        <a:ext cx="55753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2362200" y="3810001"/>
            <a:ext cx="327660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411664"/>
            <a:ext cx="4000500" cy="183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7239000" y="3954463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Hierarchical Clustering: Group Average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2438400" y="5562601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7086600" y="5562601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</a:p>
        </p:txBody>
      </p:sp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574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734" name="Group 6"/>
          <p:cNvGrpSpPr>
            <a:grpSpLocks/>
          </p:cNvGrpSpPr>
          <p:nvPr/>
        </p:nvGrpSpPr>
        <p:grpSpPr bwMode="auto">
          <a:xfrm>
            <a:off x="2332039" y="1987550"/>
            <a:ext cx="2792413" cy="2508250"/>
            <a:chOff x="509" y="1252"/>
            <a:chExt cx="1759" cy="1580"/>
          </a:xfrm>
        </p:grpSpPr>
        <p:sp>
          <p:nvSpPr>
            <p:cNvPr id="73750" name="Freeform 7"/>
            <p:cNvSpPr>
              <a:spLocks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1" name="Freeform 8"/>
            <p:cNvSpPr>
              <a:spLocks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2" name="Freeform 9"/>
            <p:cNvSpPr>
              <a:spLocks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3" name="Freeform 10"/>
            <p:cNvSpPr>
              <a:spLocks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4" name="Freeform 11"/>
            <p:cNvSpPr>
              <a:spLocks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5" name="Freeform 12"/>
            <p:cNvSpPr>
              <a:spLocks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6" name="Rectangle 13"/>
            <p:cNvSpPr>
              <a:spLocks noChangeArrowheads="1"/>
            </p:cNvSpPr>
            <p:nvPr/>
          </p:nvSpPr>
          <p:spPr bwMode="auto">
            <a:xfrm>
              <a:off x="1908" y="1252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73757" name="Rectangle 14"/>
            <p:cNvSpPr>
              <a:spLocks noChangeArrowheads="1"/>
            </p:cNvSpPr>
            <p:nvPr/>
          </p:nvSpPr>
          <p:spPr bwMode="auto">
            <a:xfrm>
              <a:off x="1163" y="1832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73758" name="Rectangle 15"/>
            <p:cNvSpPr>
              <a:spLocks noChangeArrowheads="1"/>
            </p:cNvSpPr>
            <p:nvPr/>
          </p:nvSpPr>
          <p:spPr bwMode="auto">
            <a:xfrm>
              <a:off x="1732" y="2121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73759" name="Rectangle 16"/>
            <p:cNvSpPr>
              <a:spLocks noChangeArrowheads="1"/>
            </p:cNvSpPr>
            <p:nvPr/>
          </p:nvSpPr>
          <p:spPr bwMode="auto">
            <a:xfrm>
              <a:off x="1379" y="2638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73760" name="Rectangle 17"/>
            <p:cNvSpPr>
              <a:spLocks noChangeArrowheads="1"/>
            </p:cNvSpPr>
            <p:nvPr/>
          </p:nvSpPr>
          <p:spPr bwMode="auto">
            <a:xfrm>
              <a:off x="631" y="1719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73761" name="Rectangle 18"/>
            <p:cNvSpPr>
              <a:spLocks noChangeArrowheads="1"/>
            </p:cNvSpPr>
            <p:nvPr/>
          </p:nvSpPr>
          <p:spPr bwMode="auto">
            <a:xfrm>
              <a:off x="2187" y="2173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3929063" y="3273428"/>
            <a:ext cx="1301750" cy="836613"/>
            <a:chOff x="1515" y="2062"/>
            <a:chExt cx="820" cy="527"/>
          </a:xfrm>
        </p:grpSpPr>
        <p:sp>
          <p:nvSpPr>
            <p:cNvPr id="73748" name="Freeform 20"/>
            <p:cNvSpPr>
              <a:spLocks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9" name="Rectangle 21"/>
            <p:cNvSpPr>
              <a:spLocks noChangeArrowheads="1"/>
            </p:cNvSpPr>
            <p:nvPr/>
          </p:nvSpPr>
          <p:spPr bwMode="auto">
            <a:xfrm>
              <a:off x="1855" y="2395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2241551" y="2382839"/>
            <a:ext cx="1323975" cy="985837"/>
            <a:chOff x="452" y="1501"/>
            <a:chExt cx="834" cy="621"/>
          </a:xfrm>
        </p:grpSpPr>
        <p:sp>
          <p:nvSpPr>
            <p:cNvPr id="73746" name="Freeform 23"/>
            <p:cNvSpPr>
              <a:spLocks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7" name="Rectangle 24"/>
            <p:cNvSpPr>
              <a:spLocks noChangeArrowheads="1"/>
            </p:cNvSpPr>
            <p:nvPr/>
          </p:nvSpPr>
          <p:spPr bwMode="auto">
            <a:xfrm>
              <a:off x="944" y="1501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927225" y="1622425"/>
            <a:ext cx="3659188" cy="3460750"/>
            <a:chOff x="254" y="1022"/>
            <a:chExt cx="2305" cy="2180"/>
          </a:xfrm>
        </p:grpSpPr>
        <p:sp>
          <p:nvSpPr>
            <p:cNvPr id="73744" name="Rectangle 26"/>
            <p:cNvSpPr>
              <a:spLocks noChangeArrowheads="1"/>
            </p:cNvSpPr>
            <p:nvPr/>
          </p:nvSpPr>
          <p:spPr bwMode="auto">
            <a:xfrm>
              <a:off x="564" y="1148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73745" name="Freeform 27"/>
            <p:cNvSpPr>
              <a:spLocks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3455989" y="3101977"/>
            <a:ext cx="1800225" cy="1668463"/>
            <a:chOff x="1217" y="1954"/>
            <a:chExt cx="1134" cy="1051"/>
          </a:xfrm>
        </p:grpSpPr>
        <p:sp>
          <p:nvSpPr>
            <p:cNvPr id="73742" name="Rectangle 29"/>
            <p:cNvSpPr>
              <a:spLocks noChangeArrowheads="1"/>
            </p:cNvSpPr>
            <p:nvPr/>
          </p:nvSpPr>
          <p:spPr bwMode="auto">
            <a:xfrm>
              <a:off x="1665" y="2811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73743" name="Freeform 30"/>
            <p:cNvSpPr>
              <a:spLocks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3417889" y="1922463"/>
            <a:ext cx="1933575" cy="3097212"/>
            <a:chOff x="1193" y="1211"/>
            <a:chExt cx="1218" cy="1951"/>
          </a:xfrm>
        </p:grpSpPr>
        <p:sp>
          <p:nvSpPr>
            <p:cNvPr id="73740" name="Rectangle 32"/>
            <p:cNvSpPr>
              <a:spLocks noChangeArrowheads="1"/>
            </p:cNvSpPr>
            <p:nvPr/>
          </p:nvSpPr>
          <p:spPr bwMode="auto">
            <a:xfrm>
              <a:off x="1602" y="1211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73741" name="Freeform 33"/>
            <p:cNvSpPr>
              <a:spLocks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Hierarchical Clustering: Group Average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en-US" altLang="en-US" sz="3100" dirty="0"/>
              <a:t>Compromise between Single and Complete Link</a:t>
            </a:r>
          </a:p>
          <a:p>
            <a:pPr marL="533400" indent="-533400"/>
            <a:endParaRPr lang="en-US" altLang="en-US" sz="3100" dirty="0"/>
          </a:p>
          <a:p>
            <a:pPr marL="533400" indent="-533400"/>
            <a:r>
              <a:rPr lang="en-US" altLang="en-US" sz="3100" dirty="0"/>
              <a:t>Strengths</a:t>
            </a:r>
          </a:p>
          <a:p>
            <a:pPr marL="914400" lvl="1" indent="-457200"/>
            <a:r>
              <a:rPr lang="en-US" altLang="en-US" sz="2700"/>
              <a:t>Less susceptible to noise</a:t>
            </a:r>
          </a:p>
          <a:p>
            <a:pPr marL="533400" indent="-533400"/>
            <a:endParaRPr lang="en-US" altLang="en-US" sz="3100" dirty="0"/>
          </a:p>
          <a:p>
            <a:pPr marL="533400" indent="-533400"/>
            <a:r>
              <a:rPr lang="en-US" altLang="en-US" sz="3100" dirty="0"/>
              <a:t>Limitations</a:t>
            </a:r>
          </a:p>
          <a:p>
            <a:pPr marL="914400" lvl="1" indent="-457200"/>
            <a:r>
              <a:rPr lang="en-US" altLang="en-US" sz="2700" dirty="0"/>
              <a:t>Biased towards globular clusters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Hierarchical Clustering: Comparison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4759325" y="49530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Group Average</a:t>
            </a:r>
          </a:p>
        </p:txBody>
      </p:sp>
      <p:sp>
        <p:nvSpPr>
          <p:cNvPr id="76811" name="Text Box 33"/>
          <p:cNvSpPr txBox="1">
            <a:spLocks noChangeArrowheads="1"/>
          </p:cNvSpPr>
          <p:nvPr/>
        </p:nvSpPr>
        <p:spPr bwMode="auto">
          <a:xfrm>
            <a:off x="4911725" y="2133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MIN</a:t>
            </a:r>
          </a:p>
        </p:txBody>
      </p:sp>
      <p:sp>
        <p:nvSpPr>
          <p:cNvPr id="76812" name="Text Box 34"/>
          <p:cNvSpPr txBox="1">
            <a:spLocks noChangeArrowheads="1"/>
          </p:cNvSpPr>
          <p:nvPr/>
        </p:nvSpPr>
        <p:spPr bwMode="auto">
          <a:xfrm>
            <a:off x="6816725" y="21336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MAX</a:t>
            </a:r>
          </a:p>
        </p:txBody>
      </p:sp>
      <p:grpSp>
        <p:nvGrpSpPr>
          <p:cNvPr id="76813" name="Group 35"/>
          <p:cNvGrpSpPr>
            <a:grpSpLocks noChangeAspect="1"/>
          </p:cNvGrpSpPr>
          <p:nvPr/>
        </p:nvGrpSpPr>
        <p:grpSpPr bwMode="auto">
          <a:xfrm>
            <a:off x="2478089" y="4044951"/>
            <a:ext cx="1978025" cy="1797507"/>
            <a:chOff x="438" y="1309"/>
            <a:chExt cx="1937" cy="1759"/>
          </a:xfrm>
        </p:grpSpPr>
        <p:sp>
          <p:nvSpPr>
            <p:cNvPr id="76885" name="Freeform 36"/>
            <p:cNvSpPr>
              <a:spLocks noChangeAspect="1"/>
            </p:cNvSpPr>
            <p:nvPr/>
          </p:nvSpPr>
          <p:spPr bwMode="auto">
            <a:xfrm>
              <a:off x="1038" y="2002"/>
              <a:ext cx="88" cy="87"/>
            </a:xfrm>
            <a:custGeom>
              <a:avLst/>
              <a:gdLst>
                <a:gd name="T0" fmla="*/ 0 w 88"/>
                <a:gd name="T1" fmla="*/ 43 h 87"/>
                <a:gd name="T2" fmla="*/ 4 w 88"/>
                <a:gd name="T3" fmla="*/ 26 h 87"/>
                <a:gd name="T4" fmla="*/ 13 w 88"/>
                <a:gd name="T5" fmla="*/ 13 h 87"/>
                <a:gd name="T6" fmla="*/ 28 w 88"/>
                <a:gd name="T7" fmla="*/ 2 h 87"/>
                <a:gd name="T8" fmla="*/ 45 w 88"/>
                <a:gd name="T9" fmla="*/ 0 h 87"/>
                <a:gd name="T10" fmla="*/ 62 w 88"/>
                <a:gd name="T11" fmla="*/ 2 h 87"/>
                <a:gd name="T12" fmla="*/ 75 w 88"/>
                <a:gd name="T13" fmla="*/ 13 h 87"/>
                <a:gd name="T14" fmla="*/ 86 w 88"/>
                <a:gd name="T15" fmla="*/ 26 h 87"/>
                <a:gd name="T16" fmla="*/ 88 w 88"/>
                <a:gd name="T17" fmla="*/ 43 h 87"/>
                <a:gd name="T18" fmla="*/ 86 w 88"/>
                <a:gd name="T19" fmla="*/ 61 h 87"/>
                <a:gd name="T20" fmla="*/ 75 w 88"/>
                <a:gd name="T21" fmla="*/ 74 h 87"/>
                <a:gd name="T22" fmla="*/ 62 w 88"/>
                <a:gd name="T23" fmla="*/ 84 h 87"/>
                <a:gd name="T24" fmla="*/ 45 w 88"/>
                <a:gd name="T25" fmla="*/ 87 h 87"/>
                <a:gd name="T26" fmla="*/ 28 w 88"/>
                <a:gd name="T27" fmla="*/ 84 h 87"/>
                <a:gd name="T28" fmla="*/ 13 w 88"/>
                <a:gd name="T29" fmla="*/ 74 h 87"/>
                <a:gd name="T30" fmla="*/ 4 w 88"/>
                <a:gd name="T31" fmla="*/ 61 h 87"/>
                <a:gd name="T32" fmla="*/ 0 w 88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7"/>
                <a:gd name="T53" fmla="*/ 88 w 88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6" y="26"/>
                  </a:lnTo>
                  <a:lnTo>
                    <a:pt x="88" y="43"/>
                  </a:lnTo>
                  <a:lnTo>
                    <a:pt x="86" y="61"/>
                  </a:lnTo>
                  <a:lnTo>
                    <a:pt x="75" y="74"/>
                  </a:lnTo>
                  <a:lnTo>
                    <a:pt x="62" y="84"/>
                  </a:lnTo>
                  <a:lnTo>
                    <a:pt x="45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6" name="Freeform 37"/>
            <p:cNvSpPr>
              <a:spLocks noChangeAspect="1"/>
            </p:cNvSpPr>
            <p:nvPr/>
          </p:nvSpPr>
          <p:spPr bwMode="auto">
            <a:xfrm>
              <a:off x="1860" y="1361"/>
              <a:ext cx="89" cy="88"/>
            </a:xfrm>
            <a:custGeom>
              <a:avLst/>
              <a:gdLst>
                <a:gd name="T0" fmla="*/ 0 w 89"/>
                <a:gd name="T1" fmla="*/ 43 h 88"/>
                <a:gd name="T2" fmla="*/ 4 w 89"/>
                <a:gd name="T3" fmla="*/ 26 h 88"/>
                <a:gd name="T4" fmla="*/ 13 w 89"/>
                <a:gd name="T5" fmla="*/ 13 h 88"/>
                <a:gd name="T6" fmla="*/ 28 w 89"/>
                <a:gd name="T7" fmla="*/ 2 h 88"/>
                <a:gd name="T8" fmla="*/ 45 w 89"/>
                <a:gd name="T9" fmla="*/ 0 h 88"/>
                <a:gd name="T10" fmla="*/ 63 w 89"/>
                <a:gd name="T11" fmla="*/ 2 h 88"/>
                <a:gd name="T12" fmla="*/ 76 w 89"/>
                <a:gd name="T13" fmla="*/ 13 h 88"/>
                <a:gd name="T14" fmla="*/ 86 w 89"/>
                <a:gd name="T15" fmla="*/ 26 h 88"/>
                <a:gd name="T16" fmla="*/ 89 w 89"/>
                <a:gd name="T17" fmla="*/ 43 h 88"/>
                <a:gd name="T18" fmla="*/ 86 w 89"/>
                <a:gd name="T19" fmla="*/ 60 h 88"/>
                <a:gd name="T20" fmla="*/ 76 w 89"/>
                <a:gd name="T21" fmla="*/ 76 h 88"/>
                <a:gd name="T22" fmla="*/ 63 w 89"/>
                <a:gd name="T23" fmla="*/ 84 h 88"/>
                <a:gd name="T24" fmla="*/ 45 w 89"/>
                <a:gd name="T25" fmla="*/ 88 h 88"/>
                <a:gd name="T26" fmla="*/ 28 w 89"/>
                <a:gd name="T27" fmla="*/ 84 h 88"/>
                <a:gd name="T28" fmla="*/ 13 w 89"/>
                <a:gd name="T29" fmla="*/ 76 h 88"/>
                <a:gd name="T30" fmla="*/ 4 w 89"/>
                <a:gd name="T31" fmla="*/ 60 h 88"/>
                <a:gd name="T32" fmla="*/ 0 w 89"/>
                <a:gd name="T33" fmla="*/ 43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6" y="26"/>
                  </a:lnTo>
                  <a:lnTo>
                    <a:pt x="89" y="43"/>
                  </a:lnTo>
                  <a:lnTo>
                    <a:pt x="86" y="60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8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7" name="Freeform 38"/>
            <p:cNvSpPr>
              <a:spLocks noChangeAspect="1"/>
            </p:cNvSpPr>
            <p:nvPr/>
          </p:nvSpPr>
          <p:spPr bwMode="auto">
            <a:xfrm>
              <a:off x="1260" y="2875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2 h 88"/>
                <a:gd name="T6" fmla="*/ 29 w 89"/>
                <a:gd name="T7" fmla="*/ 4 h 88"/>
                <a:gd name="T8" fmla="*/ 46 w 89"/>
                <a:gd name="T9" fmla="*/ 0 h 88"/>
                <a:gd name="T10" fmla="*/ 63 w 89"/>
                <a:gd name="T11" fmla="*/ 4 h 88"/>
                <a:gd name="T12" fmla="*/ 76 w 89"/>
                <a:gd name="T13" fmla="*/ 12 h 88"/>
                <a:gd name="T14" fmla="*/ 87 w 89"/>
                <a:gd name="T15" fmla="*/ 28 h 88"/>
                <a:gd name="T16" fmla="*/ 89 w 89"/>
                <a:gd name="T17" fmla="*/ 45 h 88"/>
                <a:gd name="T18" fmla="*/ 87 w 89"/>
                <a:gd name="T19" fmla="*/ 62 h 88"/>
                <a:gd name="T20" fmla="*/ 76 w 89"/>
                <a:gd name="T21" fmla="*/ 75 h 88"/>
                <a:gd name="T22" fmla="*/ 63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2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6" y="12"/>
                  </a:lnTo>
                  <a:lnTo>
                    <a:pt x="87" y="28"/>
                  </a:lnTo>
                  <a:lnTo>
                    <a:pt x="89" y="45"/>
                  </a:lnTo>
                  <a:lnTo>
                    <a:pt x="87" y="62"/>
                  </a:lnTo>
                  <a:lnTo>
                    <a:pt x="76" y="75"/>
                  </a:lnTo>
                  <a:lnTo>
                    <a:pt x="63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8" name="Freeform 39"/>
            <p:cNvSpPr>
              <a:spLocks noChangeAspect="1"/>
            </p:cNvSpPr>
            <p:nvPr/>
          </p:nvSpPr>
          <p:spPr bwMode="auto">
            <a:xfrm>
              <a:off x="438" y="1875"/>
              <a:ext cx="87" cy="88"/>
            </a:xfrm>
            <a:custGeom>
              <a:avLst/>
              <a:gdLst>
                <a:gd name="T0" fmla="*/ 0 w 87"/>
                <a:gd name="T1" fmla="*/ 45 h 88"/>
                <a:gd name="T2" fmla="*/ 2 w 87"/>
                <a:gd name="T3" fmla="*/ 28 h 88"/>
                <a:gd name="T4" fmla="*/ 11 w 87"/>
                <a:gd name="T5" fmla="*/ 13 h 88"/>
                <a:gd name="T6" fmla="*/ 26 w 87"/>
                <a:gd name="T7" fmla="*/ 4 h 88"/>
                <a:gd name="T8" fmla="*/ 44 w 87"/>
                <a:gd name="T9" fmla="*/ 0 h 88"/>
                <a:gd name="T10" fmla="*/ 61 w 87"/>
                <a:gd name="T11" fmla="*/ 4 h 88"/>
                <a:gd name="T12" fmla="*/ 74 w 87"/>
                <a:gd name="T13" fmla="*/ 13 h 88"/>
                <a:gd name="T14" fmla="*/ 85 w 87"/>
                <a:gd name="T15" fmla="*/ 28 h 88"/>
                <a:gd name="T16" fmla="*/ 87 w 87"/>
                <a:gd name="T17" fmla="*/ 45 h 88"/>
                <a:gd name="T18" fmla="*/ 85 w 87"/>
                <a:gd name="T19" fmla="*/ 62 h 88"/>
                <a:gd name="T20" fmla="*/ 74 w 87"/>
                <a:gd name="T21" fmla="*/ 75 h 88"/>
                <a:gd name="T22" fmla="*/ 61 w 87"/>
                <a:gd name="T23" fmla="*/ 86 h 88"/>
                <a:gd name="T24" fmla="*/ 44 w 87"/>
                <a:gd name="T25" fmla="*/ 88 h 88"/>
                <a:gd name="T26" fmla="*/ 26 w 87"/>
                <a:gd name="T27" fmla="*/ 86 h 88"/>
                <a:gd name="T28" fmla="*/ 11 w 87"/>
                <a:gd name="T29" fmla="*/ 75 h 88"/>
                <a:gd name="T30" fmla="*/ 2 w 87"/>
                <a:gd name="T31" fmla="*/ 62 h 88"/>
                <a:gd name="T32" fmla="*/ 0 w 87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8"/>
                <a:gd name="T53" fmla="*/ 87 w 87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8">
                  <a:moveTo>
                    <a:pt x="0" y="45"/>
                  </a:moveTo>
                  <a:lnTo>
                    <a:pt x="2" y="28"/>
                  </a:lnTo>
                  <a:lnTo>
                    <a:pt x="11" y="13"/>
                  </a:lnTo>
                  <a:lnTo>
                    <a:pt x="26" y="4"/>
                  </a:lnTo>
                  <a:lnTo>
                    <a:pt x="44" y="0"/>
                  </a:lnTo>
                  <a:lnTo>
                    <a:pt x="61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5"/>
                  </a:lnTo>
                  <a:lnTo>
                    <a:pt x="61" y="86"/>
                  </a:lnTo>
                  <a:lnTo>
                    <a:pt x="44" y="88"/>
                  </a:lnTo>
                  <a:lnTo>
                    <a:pt x="26" y="86"/>
                  </a:lnTo>
                  <a:lnTo>
                    <a:pt x="11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89" name="Freeform 40"/>
            <p:cNvSpPr>
              <a:spLocks noChangeAspect="1"/>
            </p:cNvSpPr>
            <p:nvPr/>
          </p:nvSpPr>
          <p:spPr bwMode="auto">
            <a:xfrm>
              <a:off x="1617" y="2309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3 h 88"/>
                <a:gd name="T6" fmla="*/ 29 w 89"/>
                <a:gd name="T7" fmla="*/ 4 h 88"/>
                <a:gd name="T8" fmla="*/ 46 w 89"/>
                <a:gd name="T9" fmla="*/ 0 h 88"/>
                <a:gd name="T10" fmla="*/ 61 w 89"/>
                <a:gd name="T11" fmla="*/ 4 h 88"/>
                <a:gd name="T12" fmla="*/ 76 w 89"/>
                <a:gd name="T13" fmla="*/ 13 h 88"/>
                <a:gd name="T14" fmla="*/ 85 w 89"/>
                <a:gd name="T15" fmla="*/ 28 h 88"/>
                <a:gd name="T16" fmla="*/ 89 w 89"/>
                <a:gd name="T17" fmla="*/ 45 h 88"/>
                <a:gd name="T18" fmla="*/ 85 w 89"/>
                <a:gd name="T19" fmla="*/ 62 h 88"/>
                <a:gd name="T20" fmla="*/ 76 w 89"/>
                <a:gd name="T21" fmla="*/ 75 h 88"/>
                <a:gd name="T22" fmla="*/ 61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3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1" y="4"/>
                  </a:lnTo>
                  <a:lnTo>
                    <a:pt x="76" y="13"/>
                  </a:lnTo>
                  <a:lnTo>
                    <a:pt x="85" y="28"/>
                  </a:lnTo>
                  <a:lnTo>
                    <a:pt x="89" y="45"/>
                  </a:lnTo>
                  <a:lnTo>
                    <a:pt x="85" y="62"/>
                  </a:lnTo>
                  <a:lnTo>
                    <a:pt x="76" y="75"/>
                  </a:lnTo>
                  <a:lnTo>
                    <a:pt x="61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90" name="Freeform 41"/>
            <p:cNvSpPr>
              <a:spLocks noChangeAspect="1"/>
            </p:cNvSpPr>
            <p:nvPr/>
          </p:nvSpPr>
          <p:spPr bwMode="auto">
            <a:xfrm>
              <a:off x="2100" y="2369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5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5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91" name="Rectangle 42"/>
            <p:cNvSpPr>
              <a:spLocks noChangeAspect="1" noChangeArrowheads="1"/>
            </p:cNvSpPr>
            <p:nvPr/>
          </p:nvSpPr>
          <p:spPr bwMode="auto">
            <a:xfrm>
              <a:off x="1971" y="1309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92" name="Rectangle 43"/>
            <p:cNvSpPr>
              <a:spLocks noChangeAspect="1" noChangeArrowheads="1"/>
            </p:cNvSpPr>
            <p:nvPr/>
          </p:nvSpPr>
          <p:spPr bwMode="auto">
            <a:xfrm>
              <a:off x="1155" y="1945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93" name="Rectangle 44"/>
            <p:cNvSpPr>
              <a:spLocks noChangeAspect="1" noChangeArrowheads="1"/>
            </p:cNvSpPr>
            <p:nvPr/>
          </p:nvSpPr>
          <p:spPr bwMode="auto">
            <a:xfrm>
              <a:off x="1775" y="2262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94" name="Rectangle 45"/>
            <p:cNvSpPr>
              <a:spLocks noChangeAspect="1" noChangeArrowheads="1"/>
            </p:cNvSpPr>
            <p:nvPr/>
          </p:nvSpPr>
          <p:spPr bwMode="auto">
            <a:xfrm>
              <a:off x="1388" y="2827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95" name="Rectangle 46"/>
            <p:cNvSpPr>
              <a:spLocks noChangeAspect="1" noChangeArrowheads="1"/>
            </p:cNvSpPr>
            <p:nvPr/>
          </p:nvSpPr>
          <p:spPr bwMode="auto">
            <a:xfrm>
              <a:off x="572" y="1817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96" name="Rectangle 47"/>
            <p:cNvSpPr>
              <a:spLocks noChangeAspect="1" noChangeArrowheads="1"/>
            </p:cNvSpPr>
            <p:nvPr/>
          </p:nvSpPr>
          <p:spPr bwMode="auto">
            <a:xfrm>
              <a:off x="2275" y="231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9" name="Group 48"/>
          <p:cNvGrpSpPr>
            <a:grpSpLocks noChangeAspect="1"/>
          </p:cNvGrpSpPr>
          <p:nvPr/>
        </p:nvGrpSpPr>
        <p:grpSpPr bwMode="auto">
          <a:xfrm>
            <a:off x="3600451" y="4951414"/>
            <a:ext cx="917575" cy="619582"/>
            <a:chOff x="1537" y="2197"/>
            <a:chExt cx="898" cy="606"/>
          </a:xfrm>
        </p:grpSpPr>
        <p:sp>
          <p:nvSpPr>
            <p:cNvPr id="76883" name="Freeform 49"/>
            <p:cNvSpPr>
              <a:spLocks noChangeAspect="1"/>
            </p:cNvSpPr>
            <p:nvPr/>
          </p:nvSpPr>
          <p:spPr bwMode="auto">
            <a:xfrm>
              <a:off x="1537" y="2197"/>
              <a:ext cx="898" cy="375"/>
            </a:xfrm>
            <a:custGeom>
              <a:avLst/>
              <a:gdLst>
                <a:gd name="T0" fmla="*/ 450 w 898"/>
                <a:gd name="T1" fmla="*/ 0 h 375"/>
                <a:gd name="T2" fmla="*/ 511 w 898"/>
                <a:gd name="T3" fmla="*/ 2 h 375"/>
                <a:gd name="T4" fmla="*/ 572 w 898"/>
                <a:gd name="T5" fmla="*/ 6 h 375"/>
                <a:gd name="T6" fmla="*/ 630 w 898"/>
                <a:gd name="T7" fmla="*/ 15 h 375"/>
                <a:gd name="T8" fmla="*/ 684 w 898"/>
                <a:gd name="T9" fmla="*/ 28 h 375"/>
                <a:gd name="T10" fmla="*/ 734 w 898"/>
                <a:gd name="T11" fmla="*/ 43 h 375"/>
                <a:gd name="T12" fmla="*/ 779 w 898"/>
                <a:gd name="T13" fmla="*/ 60 h 375"/>
                <a:gd name="T14" fmla="*/ 818 w 898"/>
                <a:gd name="T15" fmla="*/ 79 h 375"/>
                <a:gd name="T16" fmla="*/ 851 w 898"/>
                <a:gd name="T17" fmla="*/ 101 h 375"/>
                <a:gd name="T18" fmla="*/ 875 w 898"/>
                <a:gd name="T19" fmla="*/ 125 h 375"/>
                <a:gd name="T20" fmla="*/ 892 w 898"/>
                <a:gd name="T21" fmla="*/ 149 h 375"/>
                <a:gd name="T22" fmla="*/ 898 w 898"/>
                <a:gd name="T23" fmla="*/ 174 h 375"/>
                <a:gd name="T24" fmla="*/ 898 w 898"/>
                <a:gd name="T25" fmla="*/ 200 h 375"/>
                <a:gd name="T26" fmla="*/ 892 w 898"/>
                <a:gd name="T27" fmla="*/ 226 h 375"/>
                <a:gd name="T28" fmla="*/ 875 w 898"/>
                <a:gd name="T29" fmla="*/ 250 h 375"/>
                <a:gd name="T30" fmla="*/ 851 w 898"/>
                <a:gd name="T31" fmla="*/ 274 h 375"/>
                <a:gd name="T32" fmla="*/ 818 w 898"/>
                <a:gd name="T33" fmla="*/ 295 h 375"/>
                <a:gd name="T34" fmla="*/ 779 w 898"/>
                <a:gd name="T35" fmla="*/ 315 h 375"/>
                <a:gd name="T36" fmla="*/ 734 w 898"/>
                <a:gd name="T37" fmla="*/ 332 h 375"/>
                <a:gd name="T38" fmla="*/ 684 w 898"/>
                <a:gd name="T39" fmla="*/ 347 h 375"/>
                <a:gd name="T40" fmla="*/ 630 w 898"/>
                <a:gd name="T41" fmla="*/ 360 h 375"/>
                <a:gd name="T42" fmla="*/ 572 w 898"/>
                <a:gd name="T43" fmla="*/ 369 h 375"/>
                <a:gd name="T44" fmla="*/ 511 w 898"/>
                <a:gd name="T45" fmla="*/ 373 h 375"/>
                <a:gd name="T46" fmla="*/ 450 w 898"/>
                <a:gd name="T47" fmla="*/ 375 h 375"/>
                <a:gd name="T48" fmla="*/ 390 w 898"/>
                <a:gd name="T49" fmla="*/ 373 h 375"/>
                <a:gd name="T50" fmla="*/ 329 w 898"/>
                <a:gd name="T51" fmla="*/ 369 h 375"/>
                <a:gd name="T52" fmla="*/ 271 w 898"/>
                <a:gd name="T53" fmla="*/ 360 h 375"/>
                <a:gd name="T54" fmla="*/ 217 w 898"/>
                <a:gd name="T55" fmla="*/ 347 h 375"/>
                <a:gd name="T56" fmla="*/ 167 w 898"/>
                <a:gd name="T57" fmla="*/ 332 h 375"/>
                <a:gd name="T58" fmla="*/ 122 w 898"/>
                <a:gd name="T59" fmla="*/ 315 h 375"/>
                <a:gd name="T60" fmla="*/ 83 w 898"/>
                <a:gd name="T61" fmla="*/ 295 h 375"/>
                <a:gd name="T62" fmla="*/ 50 w 898"/>
                <a:gd name="T63" fmla="*/ 274 h 375"/>
                <a:gd name="T64" fmla="*/ 26 w 898"/>
                <a:gd name="T65" fmla="*/ 250 h 375"/>
                <a:gd name="T66" fmla="*/ 9 w 898"/>
                <a:gd name="T67" fmla="*/ 226 h 375"/>
                <a:gd name="T68" fmla="*/ 0 w 898"/>
                <a:gd name="T69" fmla="*/ 200 h 375"/>
                <a:gd name="T70" fmla="*/ 0 w 898"/>
                <a:gd name="T71" fmla="*/ 174 h 375"/>
                <a:gd name="T72" fmla="*/ 9 w 898"/>
                <a:gd name="T73" fmla="*/ 149 h 375"/>
                <a:gd name="T74" fmla="*/ 26 w 898"/>
                <a:gd name="T75" fmla="*/ 125 h 375"/>
                <a:gd name="T76" fmla="*/ 50 w 898"/>
                <a:gd name="T77" fmla="*/ 101 h 375"/>
                <a:gd name="T78" fmla="*/ 83 w 898"/>
                <a:gd name="T79" fmla="*/ 79 h 375"/>
                <a:gd name="T80" fmla="*/ 122 w 898"/>
                <a:gd name="T81" fmla="*/ 60 h 375"/>
                <a:gd name="T82" fmla="*/ 167 w 898"/>
                <a:gd name="T83" fmla="*/ 43 h 375"/>
                <a:gd name="T84" fmla="*/ 217 w 898"/>
                <a:gd name="T85" fmla="*/ 28 h 375"/>
                <a:gd name="T86" fmla="*/ 271 w 898"/>
                <a:gd name="T87" fmla="*/ 15 h 375"/>
                <a:gd name="T88" fmla="*/ 329 w 898"/>
                <a:gd name="T89" fmla="*/ 6 h 375"/>
                <a:gd name="T90" fmla="*/ 390 w 898"/>
                <a:gd name="T91" fmla="*/ 2 h 375"/>
                <a:gd name="T92" fmla="*/ 450 w 898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8"/>
                <a:gd name="T142" fmla="*/ 0 h 375"/>
                <a:gd name="T143" fmla="*/ 898 w 898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8" h="375">
                  <a:moveTo>
                    <a:pt x="450" y="0"/>
                  </a:moveTo>
                  <a:lnTo>
                    <a:pt x="511" y="2"/>
                  </a:lnTo>
                  <a:lnTo>
                    <a:pt x="572" y="6"/>
                  </a:lnTo>
                  <a:lnTo>
                    <a:pt x="630" y="15"/>
                  </a:lnTo>
                  <a:lnTo>
                    <a:pt x="684" y="28"/>
                  </a:lnTo>
                  <a:lnTo>
                    <a:pt x="734" y="43"/>
                  </a:lnTo>
                  <a:lnTo>
                    <a:pt x="779" y="60"/>
                  </a:lnTo>
                  <a:lnTo>
                    <a:pt x="818" y="79"/>
                  </a:lnTo>
                  <a:lnTo>
                    <a:pt x="851" y="101"/>
                  </a:lnTo>
                  <a:lnTo>
                    <a:pt x="875" y="125"/>
                  </a:lnTo>
                  <a:lnTo>
                    <a:pt x="892" y="149"/>
                  </a:lnTo>
                  <a:lnTo>
                    <a:pt x="898" y="174"/>
                  </a:lnTo>
                  <a:lnTo>
                    <a:pt x="898" y="200"/>
                  </a:lnTo>
                  <a:lnTo>
                    <a:pt x="892" y="226"/>
                  </a:lnTo>
                  <a:lnTo>
                    <a:pt x="875" y="250"/>
                  </a:lnTo>
                  <a:lnTo>
                    <a:pt x="851" y="274"/>
                  </a:lnTo>
                  <a:lnTo>
                    <a:pt x="818" y="295"/>
                  </a:lnTo>
                  <a:lnTo>
                    <a:pt x="779" y="315"/>
                  </a:lnTo>
                  <a:lnTo>
                    <a:pt x="734" y="332"/>
                  </a:lnTo>
                  <a:lnTo>
                    <a:pt x="684" y="347"/>
                  </a:lnTo>
                  <a:lnTo>
                    <a:pt x="630" y="360"/>
                  </a:lnTo>
                  <a:lnTo>
                    <a:pt x="572" y="369"/>
                  </a:lnTo>
                  <a:lnTo>
                    <a:pt x="511" y="373"/>
                  </a:lnTo>
                  <a:lnTo>
                    <a:pt x="450" y="375"/>
                  </a:lnTo>
                  <a:lnTo>
                    <a:pt x="390" y="373"/>
                  </a:lnTo>
                  <a:lnTo>
                    <a:pt x="329" y="369"/>
                  </a:lnTo>
                  <a:lnTo>
                    <a:pt x="271" y="360"/>
                  </a:lnTo>
                  <a:lnTo>
                    <a:pt x="217" y="347"/>
                  </a:lnTo>
                  <a:lnTo>
                    <a:pt x="167" y="332"/>
                  </a:lnTo>
                  <a:lnTo>
                    <a:pt x="122" y="315"/>
                  </a:lnTo>
                  <a:lnTo>
                    <a:pt x="83" y="295"/>
                  </a:lnTo>
                  <a:lnTo>
                    <a:pt x="50" y="274"/>
                  </a:lnTo>
                  <a:lnTo>
                    <a:pt x="26" y="250"/>
                  </a:lnTo>
                  <a:lnTo>
                    <a:pt x="9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9" y="149"/>
                  </a:lnTo>
                  <a:lnTo>
                    <a:pt x="26" y="125"/>
                  </a:lnTo>
                  <a:lnTo>
                    <a:pt x="50" y="101"/>
                  </a:lnTo>
                  <a:lnTo>
                    <a:pt x="83" y="79"/>
                  </a:lnTo>
                  <a:lnTo>
                    <a:pt x="122" y="60"/>
                  </a:lnTo>
                  <a:lnTo>
                    <a:pt x="167" y="43"/>
                  </a:lnTo>
                  <a:lnTo>
                    <a:pt x="217" y="28"/>
                  </a:lnTo>
                  <a:lnTo>
                    <a:pt x="271" y="15"/>
                  </a:lnTo>
                  <a:lnTo>
                    <a:pt x="329" y="6"/>
                  </a:lnTo>
                  <a:lnTo>
                    <a:pt x="390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4" name="Rectangle 50"/>
            <p:cNvSpPr>
              <a:spLocks noChangeAspect="1" noChangeArrowheads="1"/>
            </p:cNvSpPr>
            <p:nvPr/>
          </p:nvSpPr>
          <p:spPr bwMode="auto">
            <a:xfrm>
              <a:off x="1910" y="2562"/>
              <a:ext cx="11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10" name="Group 51"/>
          <p:cNvGrpSpPr>
            <a:grpSpLocks noChangeAspect="1"/>
          </p:cNvGrpSpPr>
          <p:nvPr/>
        </p:nvGrpSpPr>
        <p:grpSpPr bwMode="auto">
          <a:xfrm>
            <a:off x="2417763" y="4322763"/>
            <a:ext cx="1035050" cy="582612"/>
            <a:chOff x="380" y="1581"/>
            <a:chExt cx="1012" cy="570"/>
          </a:xfrm>
        </p:grpSpPr>
        <p:sp>
          <p:nvSpPr>
            <p:cNvPr id="76881" name="Freeform 52"/>
            <p:cNvSpPr>
              <a:spLocks noChangeAspect="1"/>
            </p:cNvSpPr>
            <p:nvPr/>
          </p:nvSpPr>
          <p:spPr bwMode="auto">
            <a:xfrm>
              <a:off x="380" y="1760"/>
              <a:ext cx="1012" cy="391"/>
            </a:xfrm>
            <a:custGeom>
              <a:avLst/>
              <a:gdLst>
                <a:gd name="T0" fmla="*/ 523 w 1012"/>
                <a:gd name="T1" fmla="*/ 5 h 391"/>
                <a:gd name="T2" fmla="*/ 586 w 1012"/>
                <a:gd name="T3" fmla="*/ 11 h 391"/>
                <a:gd name="T4" fmla="*/ 649 w 1012"/>
                <a:gd name="T5" fmla="*/ 22 h 391"/>
                <a:gd name="T6" fmla="*/ 707 w 1012"/>
                <a:gd name="T7" fmla="*/ 35 h 391"/>
                <a:gd name="T8" fmla="*/ 766 w 1012"/>
                <a:gd name="T9" fmla="*/ 50 h 391"/>
                <a:gd name="T10" fmla="*/ 818 w 1012"/>
                <a:gd name="T11" fmla="*/ 67 h 391"/>
                <a:gd name="T12" fmla="*/ 865 w 1012"/>
                <a:gd name="T13" fmla="*/ 87 h 391"/>
                <a:gd name="T14" fmla="*/ 906 w 1012"/>
                <a:gd name="T15" fmla="*/ 108 h 391"/>
                <a:gd name="T16" fmla="*/ 943 w 1012"/>
                <a:gd name="T17" fmla="*/ 130 h 391"/>
                <a:gd name="T18" fmla="*/ 971 w 1012"/>
                <a:gd name="T19" fmla="*/ 154 h 391"/>
                <a:gd name="T20" fmla="*/ 993 w 1012"/>
                <a:gd name="T21" fmla="*/ 180 h 391"/>
                <a:gd name="T22" fmla="*/ 1006 w 1012"/>
                <a:gd name="T23" fmla="*/ 203 h 391"/>
                <a:gd name="T24" fmla="*/ 1012 w 1012"/>
                <a:gd name="T25" fmla="*/ 227 h 391"/>
                <a:gd name="T26" fmla="*/ 1010 w 1012"/>
                <a:gd name="T27" fmla="*/ 251 h 391"/>
                <a:gd name="T28" fmla="*/ 999 w 1012"/>
                <a:gd name="T29" fmla="*/ 275 h 391"/>
                <a:gd name="T30" fmla="*/ 982 w 1012"/>
                <a:gd name="T31" fmla="*/ 296 h 391"/>
                <a:gd name="T32" fmla="*/ 956 w 1012"/>
                <a:gd name="T33" fmla="*/ 318 h 391"/>
                <a:gd name="T34" fmla="*/ 924 w 1012"/>
                <a:gd name="T35" fmla="*/ 335 h 391"/>
                <a:gd name="T36" fmla="*/ 885 w 1012"/>
                <a:gd name="T37" fmla="*/ 352 h 391"/>
                <a:gd name="T38" fmla="*/ 842 w 1012"/>
                <a:gd name="T39" fmla="*/ 365 h 391"/>
                <a:gd name="T40" fmla="*/ 790 w 1012"/>
                <a:gd name="T41" fmla="*/ 376 h 391"/>
                <a:gd name="T42" fmla="*/ 736 w 1012"/>
                <a:gd name="T43" fmla="*/ 385 h 391"/>
                <a:gd name="T44" fmla="*/ 677 w 1012"/>
                <a:gd name="T45" fmla="*/ 389 h 391"/>
                <a:gd name="T46" fmla="*/ 616 w 1012"/>
                <a:gd name="T47" fmla="*/ 391 h 391"/>
                <a:gd name="T48" fmla="*/ 554 w 1012"/>
                <a:gd name="T49" fmla="*/ 391 h 391"/>
                <a:gd name="T50" fmla="*/ 489 w 1012"/>
                <a:gd name="T51" fmla="*/ 387 h 391"/>
                <a:gd name="T52" fmla="*/ 426 w 1012"/>
                <a:gd name="T53" fmla="*/ 380 h 391"/>
                <a:gd name="T54" fmla="*/ 363 w 1012"/>
                <a:gd name="T55" fmla="*/ 370 h 391"/>
                <a:gd name="T56" fmla="*/ 305 w 1012"/>
                <a:gd name="T57" fmla="*/ 357 h 391"/>
                <a:gd name="T58" fmla="*/ 249 w 1012"/>
                <a:gd name="T59" fmla="*/ 342 h 391"/>
                <a:gd name="T60" fmla="*/ 195 w 1012"/>
                <a:gd name="T61" fmla="*/ 324 h 391"/>
                <a:gd name="T62" fmla="*/ 147 w 1012"/>
                <a:gd name="T63" fmla="*/ 305 h 391"/>
                <a:gd name="T64" fmla="*/ 106 w 1012"/>
                <a:gd name="T65" fmla="*/ 283 h 391"/>
                <a:gd name="T66" fmla="*/ 69 w 1012"/>
                <a:gd name="T67" fmla="*/ 262 h 391"/>
                <a:gd name="T68" fmla="*/ 41 w 1012"/>
                <a:gd name="T69" fmla="*/ 238 h 391"/>
                <a:gd name="T70" fmla="*/ 19 w 1012"/>
                <a:gd name="T71" fmla="*/ 212 h 391"/>
                <a:gd name="T72" fmla="*/ 6 w 1012"/>
                <a:gd name="T73" fmla="*/ 188 h 391"/>
                <a:gd name="T74" fmla="*/ 0 w 1012"/>
                <a:gd name="T75" fmla="*/ 164 h 391"/>
                <a:gd name="T76" fmla="*/ 2 w 1012"/>
                <a:gd name="T77" fmla="*/ 139 h 391"/>
                <a:gd name="T78" fmla="*/ 13 w 1012"/>
                <a:gd name="T79" fmla="*/ 117 h 391"/>
                <a:gd name="T80" fmla="*/ 30 w 1012"/>
                <a:gd name="T81" fmla="*/ 95 h 391"/>
                <a:gd name="T82" fmla="*/ 56 w 1012"/>
                <a:gd name="T83" fmla="*/ 74 h 391"/>
                <a:gd name="T84" fmla="*/ 89 w 1012"/>
                <a:gd name="T85" fmla="*/ 57 h 391"/>
                <a:gd name="T86" fmla="*/ 128 w 1012"/>
                <a:gd name="T87" fmla="*/ 39 h 391"/>
                <a:gd name="T88" fmla="*/ 171 w 1012"/>
                <a:gd name="T89" fmla="*/ 26 h 391"/>
                <a:gd name="T90" fmla="*/ 223 w 1012"/>
                <a:gd name="T91" fmla="*/ 16 h 391"/>
                <a:gd name="T92" fmla="*/ 277 w 1012"/>
                <a:gd name="T93" fmla="*/ 7 h 391"/>
                <a:gd name="T94" fmla="*/ 335 w 1012"/>
                <a:gd name="T95" fmla="*/ 3 h 391"/>
                <a:gd name="T96" fmla="*/ 396 w 1012"/>
                <a:gd name="T97" fmla="*/ 0 h 391"/>
                <a:gd name="T98" fmla="*/ 459 w 1012"/>
                <a:gd name="T99" fmla="*/ 0 h 391"/>
                <a:gd name="T100" fmla="*/ 523 w 1012"/>
                <a:gd name="T101" fmla="*/ 5 h 3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12"/>
                <a:gd name="T154" fmla="*/ 0 h 391"/>
                <a:gd name="T155" fmla="*/ 1012 w 1012"/>
                <a:gd name="T156" fmla="*/ 391 h 3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12" h="391">
                  <a:moveTo>
                    <a:pt x="523" y="5"/>
                  </a:moveTo>
                  <a:lnTo>
                    <a:pt x="586" y="11"/>
                  </a:lnTo>
                  <a:lnTo>
                    <a:pt x="649" y="22"/>
                  </a:lnTo>
                  <a:lnTo>
                    <a:pt x="707" y="35"/>
                  </a:lnTo>
                  <a:lnTo>
                    <a:pt x="766" y="50"/>
                  </a:lnTo>
                  <a:lnTo>
                    <a:pt x="818" y="67"/>
                  </a:lnTo>
                  <a:lnTo>
                    <a:pt x="865" y="87"/>
                  </a:lnTo>
                  <a:lnTo>
                    <a:pt x="906" y="108"/>
                  </a:lnTo>
                  <a:lnTo>
                    <a:pt x="943" y="130"/>
                  </a:lnTo>
                  <a:lnTo>
                    <a:pt x="971" y="154"/>
                  </a:lnTo>
                  <a:lnTo>
                    <a:pt x="993" y="180"/>
                  </a:lnTo>
                  <a:lnTo>
                    <a:pt x="1006" y="203"/>
                  </a:lnTo>
                  <a:lnTo>
                    <a:pt x="1012" y="227"/>
                  </a:lnTo>
                  <a:lnTo>
                    <a:pt x="1010" y="251"/>
                  </a:lnTo>
                  <a:lnTo>
                    <a:pt x="999" y="275"/>
                  </a:lnTo>
                  <a:lnTo>
                    <a:pt x="982" y="296"/>
                  </a:lnTo>
                  <a:lnTo>
                    <a:pt x="956" y="318"/>
                  </a:lnTo>
                  <a:lnTo>
                    <a:pt x="924" y="335"/>
                  </a:lnTo>
                  <a:lnTo>
                    <a:pt x="885" y="352"/>
                  </a:lnTo>
                  <a:lnTo>
                    <a:pt x="842" y="365"/>
                  </a:lnTo>
                  <a:lnTo>
                    <a:pt x="790" y="376"/>
                  </a:lnTo>
                  <a:lnTo>
                    <a:pt x="736" y="385"/>
                  </a:lnTo>
                  <a:lnTo>
                    <a:pt x="677" y="389"/>
                  </a:lnTo>
                  <a:lnTo>
                    <a:pt x="616" y="391"/>
                  </a:lnTo>
                  <a:lnTo>
                    <a:pt x="554" y="391"/>
                  </a:lnTo>
                  <a:lnTo>
                    <a:pt x="489" y="387"/>
                  </a:lnTo>
                  <a:lnTo>
                    <a:pt x="426" y="380"/>
                  </a:lnTo>
                  <a:lnTo>
                    <a:pt x="363" y="370"/>
                  </a:lnTo>
                  <a:lnTo>
                    <a:pt x="305" y="357"/>
                  </a:lnTo>
                  <a:lnTo>
                    <a:pt x="249" y="342"/>
                  </a:lnTo>
                  <a:lnTo>
                    <a:pt x="195" y="324"/>
                  </a:lnTo>
                  <a:lnTo>
                    <a:pt x="147" y="305"/>
                  </a:lnTo>
                  <a:lnTo>
                    <a:pt x="106" y="283"/>
                  </a:lnTo>
                  <a:lnTo>
                    <a:pt x="69" y="262"/>
                  </a:lnTo>
                  <a:lnTo>
                    <a:pt x="41" y="238"/>
                  </a:lnTo>
                  <a:lnTo>
                    <a:pt x="19" y="212"/>
                  </a:lnTo>
                  <a:lnTo>
                    <a:pt x="6" y="188"/>
                  </a:lnTo>
                  <a:lnTo>
                    <a:pt x="0" y="164"/>
                  </a:lnTo>
                  <a:lnTo>
                    <a:pt x="2" y="139"/>
                  </a:lnTo>
                  <a:lnTo>
                    <a:pt x="13" y="117"/>
                  </a:lnTo>
                  <a:lnTo>
                    <a:pt x="30" y="95"/>
                  </a:lnTo>
                  <a:lnTo>
                    <a:pt x="56" y="74"/>
                  </a:lnTo>
                  <a:lnTo>
                    <a:pt x="89" y="57"/>
                  </a:lnTo>
                  <a:lnTo>
                    <a:pt x="128" y="39"/>
                  </a:lnTo>
                  <a:lnTo>
                    <a:pt x="171" y="26"/>
                  </a:lnTo>
                  <a:lnTo>
                    <a:pt x="223" y="16"/>
                  </a:lnTo>
                  <a:lnTo>
                    <a:pt x="277" y="7"/>
                  </a:lnTo>
                  <a:lnTo>
                    <a:pt x="335" y="3"/>
                  </a:lnTo>
                  <a:lnTo>
                    <a:pt x="396" y="0"/>
                  </a:lnTo>
                  <a:lnTo>
                    <a:pt x="459" y="0"/>
                  </a:lnTo>
                  <a:lnTo>
                    <a:pt x="523" y="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82" name="Rectangle 53"/>
            <p:cNvSpPr>
              <a:spLocks noChangeAspect="1" noChangeArrowheads="1"/>
            </p:cNvSpPr>
            <p:nvPr/>
          </p:nvSpPr>
          <p:spPr bwMode="auto">
            <a:xfrm>
              <a:off x="914" y="1581"/>
              <a:ext cx="11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11" name="Group 54"/>
          <p:cNvGrpSpPr>
            <a:grpSpLocks noChangeAspect="1"/>
          </p:cNvGrpSpPr>
          <p:nvPr/>
        </p:nvGrpSpPr>
        <p:grpSpPr bwMode="auto">
          <a:xfrm>
            <a:off x="2192338" y="3886200"/>
            <a:ext cx="2578100" cy="2286000"/>
            <a:chOff x="159" y="1154"/>
            <a:chExt cx="2523" cy="2237"/>
          </a:xfrm>
        </p:grpSpPr>
        <p:sp>
          <p:nvSpPr>
            <p:cNvPr id="76879" name="Rectangle 55"/>
            <p:cNvSpPr>
              <a:spLocks noChangeAspect="1" noChangeArrowheads="1"/>
            </p:cNvSpPr>
            <p:nvPr/>
          </p:nvSpPr>
          <p:spPr bwMode="auto">
            <a:xfrm>
              <a:off x="2186" y="1166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80" name="Freeform 56"/>
            <p:cNvSpPr>
              <a:spLocks noChangeAspect="1"/>
            </p:cNvSpPr>
            <p:nvPr/>
          </p:nvSpPr>
          <p:spPr bwMode="auto">
            <a:xfrm>
              <a:off x="159" y="1154"/>
              <a:ext cx="2523" cy="2237"/>
            </a:xfrm>
            <a:custGeom>
              <a:avLst/>
              <a:gdLst>
                <a:gd name="T0" fmla="*/ 1363 w 2523"/>
                <a:gd name="T1" fmla="*/ 2 h 2237"/>
                <a:gd name="T2" fmla="*/ 1569 w 2523"/>
                <a:gd name="T3" fmla="*/ 32 h 2237"/>
                <a:gd name="T4" fmla="*/ 1766 w 2523"/>
                <a:gd name="T5" fmla="*/ 93 h 2237"/>
                <a:gd name="T6" fmla="*/ 1950 w 2523"/>
                <a:gd name="T7" fmla="*/ 179 h 2237"/>
                <a:gd name="T8" fmla="*/ 2114 w 2523"/>
                <a:gd name="T9" fmla="*/ 293 h 2237"/>
                <a:gd name="T10" fmla="*/ 2255 w 2523"/>
                <a:gd name="T11" fmla="*/ 429 h 2237"/>
                <a:gd name="T12" fmla="*/ 2369 w 2523"/>
                <a:gd name="T13" fmla="*/ 583 h 2237"/>
                <a:gd name="T14" fmla="*/ 2454 w 2523"/>
                <a:gd name="T15" fmla="*/ 753 h 2237"/>
                <a:gd name="T16" fmla="*/ 2506 w 2523"/>
                <a:gd name="T17" fmla="*/ 930 h 2237"/>
                <a:gd name="T18" fmla="*/ 2523 w 2523"/>
                <a:gd name="T19" fmla="*/ 1116 h 2237"/>
                <a:gd name="T20" fmla="*/ 2506 w 2523"/>
                <a:gd name="T21" fmla="*/ 1299 h 2237"/>
                <a:gd name="T22" fmla="*/ 2454 w 2523"/>
                <a:gd name="T23" fmla="*/ 1479 h 2237"/>
                <a:gd name="T24" fmla="*/ 2372 w 2523"/>
                <a:gd name="T25" fmla="*/ 1647 h 2237"/>
                <a:gd name="T26" fmla="*/ 2257 w 2523"/>
                <a:gd name="T27" fmla="*/ 1803 h 2237"/>
                <a:gd name="T28" fmla="*/ 2116 w 2523"/>
                <a:gd name="T29" fmla="*/ 1939 h 2237"/>
                <a:gd name="T30" fmla="*/ 1952 w 2523"/>
                <a:gd name="T31" fmla="*/ 2053 h 2237"/>
                <a:gd name="T32" fmla="*/ 1770 w 2523"/>
                <a:gd name="T33" fmla="*/ 2142 h 2237"/>
                <a:gd name="T34" fmla="*/ 1573 w 2523"/>
                <a:gd name="T35" fmla="*/ 2202 h 2237"/>
                <a:gd name="T36" fmla="*/ 1368 w 2523"/>
                <a:gd name="T37" fmla="*/ 2232 h 2237"/>
                <a:gd name="T38" fmla="*/ 1160 w 2523"/>
                <a:gd name="T39" fmla="*/ 2232 h 2237"/>
                <a:gd name="T40" fmla="*/ 954 w 2523"/>
                <a:gd name="T41" fmla="*/ 2202 h 2237"/>
                <a:gd name="T42" fmla="*/ 757 w 2523"/>
                <a:gd name="T43" fmla="*/ 2144 h 2237"/>
                <a:gd name="T44" fmla="*/ 574 w 2523"/>
                <a:gd name="T45" fmla="*/ 2055 h 2237"/>
                <a:gd name="T46" fmla="*/ 409 w 2523"/>
                <a:gd name="T47" fmla="*/ 1943 h 2237"/>
                <a:gd name="T48" fmla="*/ 268 w 2523"/>
                <a:gd name="T49" fmla="*/ 1807 h 2237"/>
                <a:gd name="T50" fmla="*/ 154 w 2523"/>
                <a:gd name="T51" fmla="*/ 1651 h 2237"/>
                <a:gd name="T52" fmla="*/ 69 w 2523"/>
                <a:gd name="T53" fmla="*/ 1483 h 2237"/>
                <a:gd name="T54" fmla="*/ 17 w 2523"/>
                <a:gd name="T55" fmla="*/ 1304 h 2237"/>
                <a:gd name="T56" fmla="*/ 0 w 2523"/>
                <a:gd name="T57" fmla="*/ 1120 h 2237"/>
                <a:gd name="T58" fmla="*/ 17 w 2523"/>
                <a:gd name="T59" fmla="*/ 935 h 2237"/>
                <a:gd name="T60" fmla="*/ 69 w 2523"/>
                <a:gd name="T61" fmla="*/ 755 h 2237"/>
                <a:gd name="T62" fmla="*/ 152 w 2523"/>
                <a:gd name="T63" fmla="*/ 587 h 2237"/>
                <a:gd name="T64" fmla="*/ 266 w 2523"/>
                <a:gd name="T65" fmla="*/ 431 h 2237"/>
                <a:gd name="T66" fmla="*/ 407 w 2523"/>
                <a:gd name="T67" fmla="*/ 295 h 2237"/>
                <a:gd name="T68" fmla="*/ 571 w 2523"/>
                <a:gd name="T69" fmla="*/ 183 h 2237"/>
                <a:gd name="T70" fmla="*/ 753 w 2523"/>
                <a:gd name="T71" fmla="*/ 95 h 2237"/>
                <a:gd name="T72" fmla="*/ 950 w 2523"/>
                <a:gd name="T73" fmla="*/ 34 h 2237"/>
                <a:gd name="T74" fmla="*/ 1156 w 2523"/>
                <a:gd name="T75" fmla="*/ 4 h 223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3"/>
                <a:gd name="T115" fmla="*/ 0 h 2237"/>
                <a:gd name="T116" fmla="*/ 2523 w 2523"/>
                <a:gd name="T117" fmla="*/ 2237 h 223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3" h="2237">
                  <a:moveTo>
                    <a:pt x="1259" y="0"/>
                  </a:moveTo>
                  <a:lnTo>
                    <a:pt x="1363" y="2"/>
                  </a:lnTo>
                  <a:lnTo>
                    <a:pt x="1467" y="15"/>
                  </a:lnTo>
                  <a:lnTo>
                    <a:pt x="1569" y="32"/>
                  </a:lnTo>
                  <a:lnTo>
                    <a:pt x="1668" y="58"/>
                  </a:lnTo>
                  <a:lnTo>
                    <a:pt x="1766" y="93"/>
                  </a:lnTo>
                  <a:lnTo>
                    <a:pt x="1861" y="134"/>
                  </a:lnTo>
                  <a:lnTo>
                    <a:pt x="1950" y="179"/>
                  </a:lnTo>
                  <a:lnTo>
                    <a:pt x="2034" y="233"/>
                  </a:lnTo>
                  <a:lnTo>
                    <a:pt x="2114" y="293"/>
                  </a:lnTo>
                  <a:lnTo>
                    <a:pt x="2188" y="358"/>
                  </a:lnTo>
                  <a:lnTo>
                    <a:pt x="2255" y="429"/>
                  </a:lnTo>
                  <a:lnTo>
                    <a:pt x="2315" y="505"/>
                  </a:lnTo>
                  <a:lnTo>
                    <a:pt x="2369" y="583"/>
                  </a:lnTo>
                  <a:lnTo>
                    <a:pt x="2415" y="667"/>
                  </a:lnTo>
                  <a:lnTo>
                    <a:pt x="2454" y="753"/>
                  </a:lnTo>
                  <a:lnTo>
                    <a:pt x="2484" y="842"/>
                  </a:lnTo>
                  <a:lnTo>
                    <a:pt x="2506" y="930"/>
                  </a:lnTo>
                  <a:lnTo>
                    <a:pt x="2519" y="1023"/>
                  </a:lnTo>
                  <a:lnTo>
                    <a:pt x="2523" y="1116"/>
                  </a:lnTo>
                  <a:lnTo>
                    <a:pt x="2519" y="1209"/>
                  </a:lnTo>
                  <a:lnTo>
                    <a:pt x="2506" y="1299"/>
                  </a:lnTo>
                  <a:lnTo>
                    <a:pt x="2484" y="1390"/>
                  </a:lnTo>
                  <a:lnTo>
                    <a:pt x="2454" y="1479"/>
                  </a:lnTo>
                  <a:lnTo>
                    <a:pt x="2417" y="1565"/>
                  </a:lnTo>
                  <a:lnTo>
                    <a:pt x="2372" y="1647"/>
                  </a:lnTo>
                  <a:lnTo>
                    <a:pt x="2317" y="1727"/>
                  </a:lnTo>
                  <a:lnTo>
                    <a:pt x="2257" y="1803"/>
                  </a:lnTo>
                  <a:lnTo>
                    <a:pt x="2190" y="1874"/>
                  </a:lnTo>
                  <a:lnTo>
                    <a:pt x="2116" y="1939"/>
                  </a:lnTo>
                  <a:lnTo>
                    <a:pt x="2038" y="1999"/>
                  </a:lnTo>
                  <a:lnTo>
                    <a:pt x="1952" y="2053"/>
                  </a:lnTo>
                  <a:lnTo>
                    <a:pt x="1863" y="2101"/>
                  </a:lnTo>
                  <a:lnTo>
                    <a:pt x="1770" y="2142"/>
                  </a:lnTo>
                  <a:lnTo>
                    <a:pt x="1673" y="2174"/>
                  </a:lnTo>
                  <a:lnTo>
                    <a:pt x="1573" y="2202"/>
                  </a:lnTo>
                  <a:lnTo>
                    <a:pt x="1471" y="2221"/>
                  </a:lnTo>
                  <a:lnTo>
                    <a:pt x="1368" y="2232"/>
                  </a:lnTo>
                  <a:lnTo>
                    <a:pt x="1264" y="2237"/>
                  </a:lnTo>
                  <a:lnTo>
                    <a:pt x="1160" y="2232"/>
                  </a:lnTo>
                  <a:lnTo>
                    <a:pt x="1056" y="2221"/>
                  </a:lnTo>
                  <a:lnTo>
                    <a:pt x="954" y="2202"/>
                  </a:lnTo>
                  <a:lnTo>
                    <a:pt x="855" y="2176"/>
                  </a:lnTo>
                  <a:lnTo>
                    <a:pt x="757" y="2144"/>
                  </a:lnTo>
                  <a:lnTo>
                    <a:pt x="662" y="2103"/>
                  </a:lnTo>
                  <a:lnTo>
                    <a:pt x="574" y="2055"/>
                  </a:lnTo>
                  <a:lnTo>
                    <a:pt x="489" y="2001"/>
                  </a:lnTo>
                  <a:lnTo>
                    <a:pt x="409" y="1943"/>
                  </a:lnTo>
                  <a:lnTo>
                    <a:pt x="336" y="1876"/>
                  </a:lnTo>
                  <a:lnTo>
                    <a:pt x="268" y="1807"/>
                  </a:lnTo>
                  <a:lnTo>
                    <a:pt x="208" y="1731"/>
                  </a:lnTo>
                  <a:lnTo>
                    <a:pt x="154" y="1651"/>
                  </a:lnTo>
                  <a:lnTo>
                    <a:pt x="108" y="1569"/>
                  </a:lnTo>
                  <a:lnTo>
                    <a:pt x="69" y="1483"/>
                  </a:lnTo>
                  <a:lnTo>
                    <a:pt x="39" y="1394"/>
                  </a:lnTo>
                  <a:lnTo>
                    <a:pt x="17" y="1304"/>
                  </a:lnTo>
                  <a:lnTo>
                    <a:pt x="4" y="1213"/>
                  </a:lnTo>
                  <a:lnTo>
                    <a:pt x="0" y="1120"/>
                  </a:lnTo>
                  <a:lnTo>
                    <a:pt x="4" y="1027"/>
                  </a:lnTo>
                  <a:lnTo>
                    <a:pt x="17" y="935"/>
                  </a:lnTo>
                  <a:lnTo>
                    <a:pt x="39" y="846"/>
                  </a:lnTo>
                  <a:lnTo>
                    <a:pt x="69" y="755"/>
                  </a:lnTo>
                  <a:lnTo>
                    <a:pt x="106" y="671"/>
                  </a:lnTo>
                  <a:lnTo>
                    <a:pt x="152" y="587"/>
                  </a:lnTo>
                  <a:lnTo>
                    <a:pt x="206" y="507"/>
                  </a:lnTo>
                  <a:lnTo>
                    <a:pt x="266" y="431"/>
                  </a:lnTo>
                  <a:lnTo>
                    <a:pt x="333" y="362"/>
                  </a:lnTo>
                  <a:lnTo>
                    <a:pt x="407" y="295"/>
                  </a:lnTo>
                  <a:lnTo>
                    <a:pt x="485" y="237"/>
                  </a:lnTo>
                  <a:lnTo>
                    <a:pt x="571" y="183"/>
                  </a:lnTo>
                  <a:lnTo>
                    <a:pt x="660" y="136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50" y="34"/>
                  </a:lnTo>
                  <a:lnTo>
                    <a:pt x="1052" y="15"/>
                  </a:lnTo>
                  <a:lnTo>
                    <a:pt x="1156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57"/>
          <p:cNvGrpSpPr>
            <a:grpSpLocks noChangeAspect="1"/>
          </p:cNvGrpSpPr>
          <p:nvPr/>
        </p:nvGrpSpPr>
        <p:grpSpPr bwMode="auto">
          <a:xfrm>
            <a:off x="3189288" y="4837113"/>
            <a:ext cx="1357312" cy="1052512"/>
            <a:chOff x="1135" y="2084"/>
            <a:chExt cx="1328" cy="1030"/>
          </a:xfrm>
        </p:grpSpPr>
        <p:sp>
          <p:nvSpPr>
            <p:cNvPr id="76877" name="Rectangle 58"/>
            <p:cNvSpPr>
              <a:spLocks noChangeAspect="1" noChangeArrowheads="1"/>
            </p:cNvSpPr>
            <p:nvPr/>
          </p:nvSpPr>
          <p:spPr bwMode="auto">
            <a:xfrm>
              <a:off x="1135" y="2451"/>
              <a:ext cx="11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878" name="Freeform 59"/>
            <p:cNvSpPr>
              <a:spLocks noChangeAspect="1"/>
            </p:cNvSpPr>
            <p:nvPr/>
          </p:nvSpPr>
          <p:spPr bwMode="auto">
            <a:xfrm>
              <a:off x="1178" y="2084"/>
              <a:ext cx="1285" cy="1030"/>
            </a:xfrm>
            <a:custGeom>
              <a:avLst/>
              <a:gdLst>
                <a:gd name="T0" fmla="*/ 422 w 1285"/>
                <a:gd name="T1" fmla="*/ 162 h 1030"/>
                <a:gd name="T2" fmla="*/ 487 w 1285"/>
                <a:gd name="T3" fmla="*/ 123 h 1030"/>
                <a:gd name="T4" fmla="*/ 556 w 1285"/>
                <a:gd name="T5" fmla="*/ 89 h 1030"/>
                <a:gd name="T6" fmla="*/ 626 w 1285"/>
                <a:gd name="T7" fmla="*/ 61 h 1030"/>
                <a:gd name="T8" fmla="*/ 695 w 1285"/>
                <a:gd name="T9" fmla="*/ 37 h 1030"/>
                <a:gd name="T10" fmla="*/ 764 w 1285"/>
                <a:gd name="T11" fmla="*/ 18 h 1030"/>
                <a:gd name="T12" fmla="*/ 831 w 1285"/>
                <a:gd name="T13" fmla="*/ 7 h 1030"/>
                <a:gd name="T14" fmla="*/ 896 w 1285"/>
                <a:gd name="T15" fmla="*/ 0 h 1030"/>
                <a:gd name="T16" fmla="*/ 959 w 1285"/>
                <a:gd name="T17" fmla="*/ 0 h 1030"/>
                <a:gd name="T18" fmla="*/ 1017 w 1285"/>
                <a:gd name="T19" fmla="*/ 7 h 1030"/>
                <a:gd name="T20" fmla="*/ 1071 w 1285"/>
                <a:gd name="T21" fmla="*/ 18 h 1030"/>
                <a:gd name="T22" fmla="*/ 1121 w 1285"/>
                <a:gd name="T23" fmla="*/ 35 h 1030"/>
                <a:gd name="T24" fmla="*/ 1164 w 1285"/>
                <a:gd name="T25" fmla="*/ 59 h 1030"/>
                <a:gd name="T26" fmla="*/ 1203 w 1285"/>
                <a:gd name="T27" fmla="*/ 87 h 1030"/>
                <a:gd name="T28" fmla="*/ 1234 w 1285"/>
                <a:gd name="T29" fmla="*/ 121 h 1030"/>
                <a:gd name="T30" fmla="*/ 1257 w 1285"/>
                <a:gd name="T31" fmla="*/ 160 h 1030"/>
                <a:gd name="T32" fmla="*/ 1275 w 1285"/>
                <a:gd name="T33" fmla="*/ 201 h 1030"/>
                <a:gd name="T34" fmla="*/ 1283 w 1285"/>
                <a:gd name="T35" fmla="*/ 249 h 1030"/>
                <a:gd name="T36" fmla="*/ 1285 w 1285"/>
                <a:gd name="T37" fmla="*/ 298 h 1030"/>
                <a:gd name="T38" fmla="*/ 1279 w 1285"/>
                <a:gd name="T39" fmla="*/ 350 h 1030"/>
                <a:gd name="T40" fmla="*/ 1266 w 1285"/>
                <a:gd name="T41" fmla="*/ 404 h 1030"/>
                <a:gd name="T42" fmla="*/ 1247 w 1285"/>
                <a:gd name="T43" fmla="*/ 458 h 1030"/>
                <a:gd name="T44" fmla="*/ 1218 w 1285"/>
                <a:gd name="T45" fmla="*/ 514 h 1030"/>
                <a:gd name="T46" fmla="*/ 1184 w 1285"/>
                <a:gd name="T47" fmla="*/ 570 h 1030"/>
                <a:gd name="T48" fmla="*/ 1145 w 1285"/>
                <a:gd name="T49" fmla="*/ 624 h 1030"/>
                <a:gd name="T50" fmla="*/ 1097 w 1285"/>
                <a:gd name="T51" fmla="*/ 678 h 1030"/>
                <a:gd name="T52" fmla="*/ 1045 w 1285"/>
                <a:gd name="T53" fmla="*/ 730 h 1030"/>
                <a:gd name="T54" fmla="*/ 989 w 1285"/>
                <a:gd name="T55" fmla="*/ 780 h 1030"/>
                <a:gd name="T56" fmla="*/ 928 w 1285"/>
                <a:gd name="T57" fmla="*/ 827 h 1030"/>
                <a:gd name="T58" fmla="*/ 866 w 1285"/>
                <a:gd name="T59" fmla="*/ 870 h 1030"/>
                <a:gd name="T60" fmla="*/ 799 w 1285"/>
                <a:gd name="T61" fmla="*/ 907 h 1030"/>
                <a:gd name="T62" fmla="*/ 729 w 1285"/>
                <a:gd name="T63" fmla="*/ 942 h 1030"/>
                <a:gd name="T64" fmla="*/ 660 w 1285"/>
                <a:gd name="T65" fmla="*/ 972 h 1030"/>
                <a:gd name="T66" fmla="*/ 591 w 1285"/>
                <a:gd name="T67" fmla="*/ 996 h 1030"/>
                <a:gd name="T68" fmla="*/ 522 w 1285"/>
                <a:gd name="T69" fmla="*/ 1013 h 1030"/>
                <a:gd name="T70" fmla="*/ 455 w 1285"/>
                <a:gd name="T71" fmla="*/ 1026 h 1030"/>
                <a:gd name="T72" fmla="*/ 390 w 1285"/>
                <a:gd name="T73" fmla="*/ 1030 h 1030"/>
                <a:gd name="T74" fmla="*/ 327 w 1285"/>
                <a:gd name="T75" fmla="*/ 1030 h 1030"/>
                <a:gd name="T76" fmla="*/ 269 w 1285"/>
                <a:gd name="T77" fmla="*/ 1026 h 1030"/>
                <a:gd name="T78" fmla="*/ 214 w 1285"/>
                <a:gd name="T79" fmla="*/ 1013 h 1030"/>
                <a:gd name="T80" fmla="*/ 165 w 1285"/>
                <a:gd name="T81" fmla="*/ 996 h 1030"/>
                <a:gd name="T82" fmla="*/ 121 w 1285"/>
                <a:gd name="T83" fmla="*/ 972 h 1030"/>
                <a:gd name="T84" fmla="*/ 85 w 1285"/>
                <a:gd name="T85" fmla="*/ 944 h 1030"/>
                <a:gd name="T86" fmla="*/ 52 w 1285"/>
                <a:gd name="T87" fmla="*/ 909 h 1030"/>
                <a:gd name="T88" fmla="*/ 28 w 1285"/>
                <a:gd name="T89" fmla="*/ 873 h 1030"/>
                <a:gd name="T90" fmla="*/ 13 w 1285"/>
                <a:gd name="T91" fmla="*/ 829 h 1030"/>
                <a:gd name="T92" fmla="*/ 2 w 1285"/>
                <a:gd name="T93" fmla="*/ 784 h 1030"/>
                <a:gd name="T94" fmla="*/ 0 w 1285"/>
                <a:gd name="T95" fmla="*/ 734 h 1030"/>
                <a:gd name="T96" fmla="*/ 7 w 1285"/>
                <a:gd name="T97" fmla="*/ 683 h 1030"/>
                <a:gd name="T98" fmla="*/ 20 w 1285"/>
                <a:gd name="T99" fmla="*/ 629 h 1030"/>
                <a:gd name="T100" fmla="*/ 39 w 1285"/>
                <a:gd name="T101" fmla="*/ 572 h 1030"/>
                <a:gd name="T102" fmla="*/ 67 w 1285"/>
                <a:gd name="T103" fmla="*/ 516 h 1030"/>
                <a:gd name="T104" fmla="*/ 102 w 1285"/>
                <a:gd name="T105" fmla="*/ 462 h 1030"/>
                <a:gd name="T106" fmla="*/ 143 w 1285"/>
                <a:gd name="T107" fmla="*/ 406 h 1030"/>
                <a:gd name="T108" fmla="*/ 188 w 1285"/>
                <a:gd name="T109" fmla="*/ 352 h 1030"/>
                <a:gd name="T110" fmla="*/ 240 w 1285"/>
                <a:gd name="T111" fmla="*/ 300 h 1030"/>
                <a:gd name="T112" fmla="*/ 297 w 1285"/>
                <a:gd name="T113" fmla="*/ 251 h 1030"/>
                <a:gd name="T114" fmla="*/ 357 w 1285"/>
                <a:gd name="T115" fmla="*/ 205 h 1030"/>
                <a:gd name="T116" fmla="*/ 422 w 1285"/>
                <a:gd name="T117" fmla="*/ 162 h 103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285"/>
                <a:gd name="T178" fmla="*/ 0 h 1030"/>
                <a:gd name="T179" fmla="*/ 1285 w 1285"/>
                <a:gd name="T180" fmla="*/ 1030 h 103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285" h="1030">
                  <a:moveTo>
                    <a:pt x="422" y="162"/>
                  </a:moveTo>
                  <a:lnTo>
                    <a:pt x="487" y="123"/>
                  </a:lnTo>
                  <a:lnTo>
                    <a:pt x="556" y="89"/>
                  </a:lnTo>
                  <a:lnTo>
                    <a:pt x="626" y="61"/>
                  </a:lnTo>
                  <a:lnTo>
                    <a:pt x="695" y="37"/>
                  </a:lnTo>
                  <a:lnTo>
                    <a:pt x="764" y="18"/>
                  </a:lnTo>
                  <a:lnTo>
                    <a:pt x="831" y="7"/>
                  </a:lnTo>
                  <a:lnTo>
                    <a:pt x="896" y="0"/>
                  </a:lnTo>
                  <a:lnTo>
                    <a:pt x="959" y="0"/>
                  </a:lnTo>
                  <a:lnTo>
                    <a:pt x="1017" y="7"/>
                  </a:lnTo>
                  <a:lnTo>
                    <a:pt x="1071" y="18"/>
                  </a:lnTo>
                  <a:lnTo>
                    <a:pt x="1121" y="35"/>
                  </a:lnTo>
                  <a:lnTo>
                    <a:pt x="1164" y="59"/>
                  </a:lnTo>
                  <a:lnTo>
                    <a:pt x="1203" y="87"/>
                  </a:lnTo>
                  <a:lnTo>
                    <a:pt x="1234" y="121"/>
                  </a:lnTo>
                  <a:lnTo>
                    <a:pt x="1257" y="160"/>
                  </a:lnTo>
                  <a:lnTo>
                    <a:pt x="1275" y="201"/>
                  </a:lnTo>
                  <a:lnTo>
                    <a:pt x="1283" y="249"/>
                  </a:lnTo>
                  <a:lnTo>
                    <a:pt x="1285" y="298"/>
                  </a:lnTo>
                  <a:lnTo>
                    <a:pt x="1279" y="350"/>
                  </a:lnTo>
                  <a:lnTo>
                    <a:pt x="1266" y="404"/>
                  </a:lnTo>
                  <a:lnTo>
                    <a:pt x="1247" y="458"/>
                  </a:lnTo>
                  <a:lnTo>
                    <a:pt x="1218" y="514"/>
                  </a:lnTo>
                  <a:lnTo>
                    <a:pt x="1184" y="570"/>
                  </a:lnTo>
                  <a:lnTo>
                    <a:pt x="1145" y="624"/>
                  </a:lnTo>
                  <a:lnTo>
                    <a:pt x="1097" y="678"/>
                  </a:lnTo>
                  <a:lnTo>
                    <a:pt x="1045" y="730"/>
                  </a:lnTo>
                  <a:lnTo>
                    <a:pt x="989" y="780"/>
                  </a:lnTo>
                  <a:lnTo>
                    <a:pt x="928" y="827"/>
                  </a:lnTo>
                  <a:lnTo>
                    <a:pt x="866" y="870"/>
                  </a:lnTo>
                  <a:lnTo>
                    <a:pt x="799" y="907"/>
                  </a:lnTo>
                  <a:lnTo>
                    <a:pt x="729" y="942"/>
                  </a:lnTo>
                  <a:lnTo>
                    <a:pt x="660" y="972"/>
                  </a:lnTo>
                  <a:lnTo>
                    <a:pt x="591" y="996"/>
                  </a:lnTo>
                  <a:lnTo>
                    <a:pt x="522" y="1013"/>
                  </a:lnTo>
                  <a:lnTo>
                    <a:pt x="455" y="1026"/>
                  </a:lnTo>
                  <a:lnTo>
                    <a:pt x="390" y="1030"/>
                  </a:lnTo>
                  <a:lnTo>
                    <a:pt x="327" y="1030"/>
                  </a:lnTo>
                  <a:lnTo>
                    <a:pt x="269" y="1026"/>
                  </a:lnTo>
                  <a:lnTo>
                    <a:pt x="214" y="1013"/>
                  </a:lnTo>
                  <a:lnTo>
                    <a:pt x="165" y="996"/>
                  </a:lnTo>
                  <a:lnTo>
                    <a:pt x="121" y="972"/>
                  </a:lnTo>
                  <a:lnTo>
                    <a:pt x="85" y="944"/>
                  </a:lnTo>
                  <a:lnTo>
                    <a:pt x="52" y="909"/>
                  </a:lnTo>
                  <a:lnTo>
                    <a:pt x="28" y="873"/>
                  </a:lnTo>
                  <a:lnTo>
                    <a:pt x="13" y="829"/>
                  </a:lnTo>
                  <a:lnTo>
                    <a:pt x="2" y="784"/>
                  </a:lnTo>
                  <a:lnTo>
                    <a:pt x="0" y="734"/>
                  </a:lnTo>
                  <a:lnTo>
                    <a:pt x="7" y="683"/>
                  </a:lnTo>
                  <a:lnTo>
                    <a:pt x="20" y="629"/>
                  </a:lnTo>
                  <a:lnTo>
                    <a:pt x="39" y="572"/>
                  </a:lnTo>
                  <a:lnTo>
                    <a:pt x="67" y="516"/>
                  </a:lnTo>
                  <a:lnTo>
                    <a:pt x="102" y="462"/>
                  </a:lnTo>
                  <a:lnTo>
                    <a:pt x="143" y="406"/>
                  </a:lnTo>
                  <a:lnTo>
                    <a:pt x="188" y="352"/>
                  </a:lnTo>
                  <a:lnTo>
                    <a:pt x="240" y="300"/>
                  </a:lnTo>
                  <a:lnTo>
                    <a:pt x="297" y="251"/>
                  </a:lnTo>
                  <a:lnTo>
                    <a:pt x="357" y="205"/>
                  </a:lnTo>
                  <a:lnTo>
                    <a:pt x="422" y="1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60"/>
          <p:cNvGrpSpPr>
            <a:grpSpLocks noChangeAspect="1"/>
          </p:cNvGrpSpPr>
          <p:nvPr/>
        </p:nvGrpSpPr>
        <p:grpSpPr bwMode="auto">
          <a:xfrm>
            <a:off x="2220913" y="4168776"/>
            <a:ext cx="2432050" cy="1789113"/>
            <a:chOff x="187" y="1430"/>
            <a:chExt cx="2380" cy="1751"/>
          </a:xfrm>
        </p:grpSpPr>
        <p:sp>
          <p:nvSpPr>
            <p:cNvPr id="76875" name="Rectangle 61"/>
            <p:cNvSpPr>
              <a:spLocks noChangeAspect="1" noChangeArrowheads="1"/>
            </p:cNvSpPr>
            <p:nvPr/>
          </p:nvSpPr>
          <p:spPr bwMode="auto">
            <a:xfrm>
              <a:off x="417" y="2643"/>
              <a:ext cx="11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76" name="Freeform 62"/>
            <p:cNvSpPr>
              <a:spLocks noChangeAspect="1"/>
            </p:cNvSpPr>
            <p:nvPr/>
          </p:nvSpPr>
          <p:spPr bwMode="auto">
            <a:xfrm>
              <a:off x="187" y="1430"/>
              <a:ext cx="2380" cy="1751"/>
            </a:xfrm>
            <a:custGeom>
              <a:avLst/>
              <a:gdLst>
                <a:gd name="T0" fmla="*/ 1275 w 2380"/>
                <a:gd name="T1" fmla="*/ 0 h 1751"/>
                <a:gd name="T2" fmla="*/ 1474 w 2380"/>
                <a:gd name="T3" fmla="*/ 22 h 1751"/>
                <a:gd name="T4" fmla="*/ 1664 w 2380"/>
                <a:gd name="T5" fmla="*/ 67 h 1751"/>
                <a:gd name="T6" fmla="*/ 1842 w 2380"/>
                <a:gd name="T7" fmla="*/ 136 h 1751"/>
                <a:gd name="T8" fmla="*/ 2002 w 2380"/>
                <a:gd name="T9" fmla="*/ 227 h 1751"/>
                <a:gd name="T10" fmla="*/ 2138 w 2380"/>
                <a:gd name="T11" fmla="*/ 335 h 1751"/>
                <a:gd name="T12" fmla="*/ 2246 w 2380"/>
                <a:gd name="T13" fmla="*/ 460 h 1751"/>
                <a:gd name="T14" fmla="*/ 2324 w 2380"/>
                <a:gd name="T15" fmla="*/ 596 h 1751"/>
                <a:gd name="T16" fmla="*/ 2370 w 2380"/>
                <a:gd name="T17" fmla="*/ 741 h 1751"/>
                <a:gd name="T18" fmla="*/ 2380 w 2380"/>
                <a:gd name="T19" fmla="*/ 887 h 1751"/>
                <a:gd name="T20" fmla="*/ 2359 w 2380"/>
                <a:gd name="T21" fmla="*/ 1036 h 1751"/>
                <a:gd name="T22" fmla="*/ 2302 w 2380"/>
                <a:gd name="T23" fmla="*/ 1179 h 1751"/>
                <a:gd name="T24" fmla="*/ 2214 w 2380"/>
                <a:gd name="T25" fmla="*/ 1313 h 1751"/>
                <a:gd name="T26" fmla="*/ 2097 w 2380"/>
                <a:gd name="T27" fmla="*/ 1436 h 1751"/>
                <a:gd name="T28" fmla="*/ 1954 w 2380"/>
                <a:gd name="T29" fmla="*/ 1542 h 1751"/>
                <a:gd name="T30" fmla="*/ 1787 w 2380"/>
                <a:gd name="T31" fmla="*/ 1628 h 1751"/>
                <a:gd name="T32" fmla="*/ 1606 w 2380"/>
                <a:gd name="T33" fmla="*/ 1693 h 1751"/>
                <a:gd name="T34" fmla="*/ 1411 w 2380"/>
                <a:gd name="T35" fmla="*/ 1736 h 1751"/>
                <a:gd name="T36" fmla="*/ 1210 w 2380"/>
                <a:gd name="T37" fmla="*/ 1751 h 1751"/>
                <a:gd name="T38" fmla="*/ 1009 w 2380"/>
                <a:gd name="T39" fmla="*/ 1742 h 1751"/>
                <a:gd name="T40" fmla="*/ 812 w 2380"/>
                <a:gd name="T41" fmla="*/ 1710 h 1751"/>
                <a:gd name="T42" fmla="*/ 626 w 2380"/>
                <a:gd name="T43" fmla="*/ 1652 h 1751"/>
                <a:gd name="T44" fmla="*/ 457 w 2380"/>
                <a:gd name="T45" fmla="*/ 1572 h 1751"/>
                <a:gd name="T46" fmla="*/ 310 w 2380"/>
                <a:gd name="T47" fmla="*/ 1473 h 1751"/>
                <a:gd name="T48" fmla="*/ 186 w 2380"/>
                <a:gd name="T49" fmla="*/ 1356 h 1751"/>
                <a:gd name="T50" fmla="*/ 93 w 2380"/>
                <a:gd name="T51" fmla="*/ 1226 h 1751"/>
                <a:gd name="T52" fmla="*/ 31 w 2380"/>
                <a:gd name="T53" fmla="*/ 1084 h 1751"/>
                <a:gd name="T54" fmla="*/ 2 w 2380"/>
                <a:gd name="T55" fmla="*/ 937 h 1751"/>
                <a:gd name="T56" fmla="*/ 9 w 2380"/>
                <a:gd name="T57" fmla="*/ 788 h 1751"/>
                <a:gd name="T58" fmla="*/ 48 w 2380"/>
                <a:gd name="T59" fmla="*/ 643 h 1751"/>
                <a:gd name="T60" fmla="*/ 119 w 2380"/>
                <a:gd name="T61" fmla="*/ 503 h 1751"/>
                <a:gd name="T62" fmla="*/ 223 w 2380"/>
                <a:gd name="T63" fmla="*/ 374 h 1751"/>
                <a:gd name="T64" fmla="*/ 355 w 2380"/>
                <a:gd name="T65" fmla="*/ 259 h 1751"/>
                <a:gd name="T66" fmla="*/ 509 w 2380"/>
                <a:gd name="T67" fmla="*/ 164 h 1751"/>
                <a:gd name="T68" fmla="*/ 684 w 2380"/>
                <a:gd name="T69" fmla="*/ 86 h 1751"/>
                <a:gd name="T70" fmla="*/ 874 w 2380"/>
                <a:gd name="T71" fmla="*/ 35 h 1751"/>
                <a:gd name="T72" fmla="*/ 1071 w 2380"/>
                <a:gd name="T73" fmla="*/ 4 h 17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0"/>
                <a:gd name="T112" fmla="*/ 0 h 1751"/>
                <a:gd name="T113" fmla="*/ 2380 w 2380"/>
                <a:gd name="T114" fmla="*/ 1751 h 175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0" h="1751">
                  <a:moveTo>
                    <a:pt x="1173" y="0"/>
                  </a:moveTo>
                  <a:lnTo>
                    <a:pt x="1275" y="0"/>
                  </a:lnTo>
                  <a:lnTo>
                    <a:pt x="1374" y="9"/>
                  </a:lnTo>
                  <a:lnTo>
                    <a:pt x="1474" y="22"/>
                  </a:lnTo>
                  <a:lnTo>
                    <a:pt x="1571" y="41"/>
                  </a:lnTo>
                  <a:lnTo>
                    <a:pt x="1664" y="67"/>
                  </a:lnTo>
                  <a:lnTo>
                    <a:pt x="1755" y="99"/>
                  </a:lnTo>
                  <a:lnTo>
                    <a:pt x="1842" y="136"/>
                  </a:lnTo>
                  <a:lnTo>
                    <a:pt x="1924" y="179"/>
                  </a:lnTo>
                  <a:lnTo>
                    <a:pt x="2002" y="227"/>
                  </a:lnTo>
                  <a:lnTo>
                    <a:pt x="2073" y="279"/>
                  </a:lnTo>
                  <a:lnTo>
                    <a:pt x="2138" y="335"/>
                  </a:lnTo>
                  <a:lnTo>
                    <a:pt x="2194" y="395"/>
                  </a:lnTo>
                  <a:lnTo>
                    <a:pt x="2246" y="460"/>
                  </a:lnTo>
                  <a:lnTo>
                    <a:pt x="2289" y="527"/>
                  </a:lnTo>
                  <a:lnTo>
                    <a:pt x="2324" y="596"/>
                  </a:lnTo>
                  <a:lnTo>
                    <a:pt x="2350" y="667"/>
                  </a:lnTo>
                  <a:lnTo>
                    <a:pt x="2370" y="741"/>
                  </a:lnTo>
                  <a:lnTo>
                    <a:pt x="2380" y="814"/>
                  </a:lnTo>
                  <a:lnTo>
                    <a:pt x="2380" y="887"/>
                  </a:lnTo>
                  <a:lnTo>
                    <a:pt x="2374" y="963"/>
                  </a:lnTo>
                  <a:lnTo>
                    <a:pt x="2359" y="1036"/>
                  </a:lnTo>
                  <a:lnTo>
                    <a:pt x="2335" y="1108"/>
                  </a:lnTo>
                  <a:lnTo>
                    <a:pt x="2302" y="1179"/>
                  </a:lnTo>
                  <a:lnTo>
                    <a:pt x="2261" y="1248"/>
                  </a:lnTo>
                  <a:lnTo>
                    <a:pt x="2214" y="1313"/>
                  </a:lnTo>
                  <a:lnTo>
                    <a:pt x="2160" y="1378"/>
                  </a:lnTo>
                  <a:lnTo>
                    <a:pt x="2097" y="1436"/>
                  </a:lnTo>
                  <a:lnTo>
                    <a:pt x="2028" y="1492"/>
                  </a:lnTo>
                  <a:lnTo>
                    <a:pt x="1954" y="1542"/>
                  </a:lnTo>
                  <a:lnTo>
                    <a:pt x="1872" y="1587"/>
                  </a:lnTo>
                  <a:lnTo>
                    <a:pt x="1787" y="1628"/>
                  </a:lnTo>
                  <a:lnTo>
                    <a:pt x="1699" y="1665"/>
                  </a:lnTo>
                  <a:lnTo>
                    <a:pt x="1606" y="1693"/>
                  </a:lnTo>
                  <a:lnTo>
                    <a:pt x="1508" y="1717"/>
                  </a:lnTo>
                  <a:lnTo>
                    <a:pt x="1411" y="1736"/>
                  </a:lnTo>
                  <a:lnTo>
                    <a:pt x="1309" y="1747"/>
                  </a:lnTo>
                  <a:lnTo>
                    <a:pt x="1210" y="1751"/>
                  </a:lnTo>
                  <a:lnTo>
                    <a:pt x="1108" y="1751"/>
                  </a:lnTo>
                  <a:lnTo>
                    <a:pt x="1009" y="1742"/>
                  </a:lnTo>
                  <a:lnTo>
                    <a:pt x="909" y="1730"/>
                  </a:lnTo>
                  <a:lnTo>
                    <a:pt x="812" y="1710"/>
                  </a:lnTo>
                  <a:lnTo>
                    <a:pt x="719" y="1684"/>
                  </a:lnTo>
                  <a:lnTo>
                    <a:pt x="626" y="1652"/>
                  </a:lnTo>
                  <a:lnTo>
                    <a:pt x="539" y="1615"/>
                  </a:lnTo>
                  <a:lnTo>
                    <a:pt x="457" y="1572"/>
                  </a:lnTo>
                  <a:lnTo>
                    <a:pt x="381" y="1524"/>
                  </a:lnTo>
                  <a:lnTo>
                    <a:pt x="310" y="1473"/>
                  </a:lnTo>
                  <a:lnTo>
                    <a:pt x="245" y="1416"/>
                  </a:lnTo>
                  <a:lnTo>
                    <a:pt x="186" y="1356"/>
                  </a:lnTo>
                  <a:lnTo>
                    <a:pt x="137" y="1291"/>
                  </a:lnTo>
                  <a:lnTo>
                    <a:pt x="93" y="1226"/>
                  </a:lnTo>
                  <a:lnTo>
                    <a:pt x="59" y="1155"/>
                  </a:lnTo>
                  <a:lnTo>
                    <a:pt x="31" y="1084"/>
                  </a:lnTo>
                  <a:lnTo>
                    <a:pt x="13" y="1011"/>
                  </a:lnTo>
                  <a:lnTo>
                    <a:pt x="2" y="937"/>
                  </a:lnTo>
                  <a:lnTo>
                    <a:pt x="0" y="864"/>
                  </a:lnTo>
                  <a:lnTo>
                    <a:pt x="9" y="788"/>
                  </a:lnTo>
                  <a:lnTo>
                    <a:pt x="24" y="715"/>
                  </a:lnTo>
                  <a:lnTo>
                    <a:pt x="48" y="643"/>
                  </a:lnTo>
                  <a:lnTo>
                    <a:pt x="80" y="572"/>
                  </a:lnTo>
                  <a:lnTo>
                    <a:pt x="119" y="503"/>
                  </a:lnTo>
                  <a:lnTo>
                    <a:pt x="167" y="438"/>
                  </a:lnTo>
                  <a:lnTo>
                    <a:pt x="223" y="374"/>
                  </a:lnTo>
                  <a:lnTo>
                    <a:pt x="286" y="315"/>
                  </a:lnTo>
                  <a:lnTo>
                    <a:pt x="355" y="259"/>
                  </a:lnTo>
                  <a:lnTo>
                    <a:pt x="429" y="209"/>
                  </a:lnTo>
                  <a:lnTo>
                    <a:pt x="509" y="164"/>
                  </a:lnTo>
                  <a:lnTo>
                    <a:pt x="595" y="123"/>
                  </a:lnTo>
                  <a:lnTo>
                    <a:pt x="684" y="86"/>
                  </a:lnTo>
                  <a:lnTo>
                    <a:pt x="777" y="58"/>
                  </a:lnTo>
                  <a:lnTo>
                    <a:pt x="874" y="35"/>
                  </a:lnTo>
                  <a:lnTo>
                    <a:pt x="972" y="15"/>
                  </a:lnTo>
                  <a:lnTo>
                    <a:pt x="1071" y="4"/>
                  </a:lnTo>
                  <a:lnTo>
                    <a:pt x="117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19" name="Group 63"/>
          <p:cNvGrpSpPr>
            <a:grpSpLocks noChangeAspect="1"/>
          </p:cNvGrpSpPr>
          <p:nvPr/>
        </p:nvGrpSpPr>
        <p:grpSpPr bwMode="auto">
          <a:xfrm>
            <a:off x="7681913" y="1452563"/>
            <a:ext cx="1979612" cy="1797050"/>
            <a:chOff x="383" y="1437"/>
            <a:chExt cx="1902" cy="1727"/>
          </a:xfrm>
        </p:grpSpPr>
        <p:sp>
          <p:nvSpPr>
            <p:cNvPr id="76863" name="Freeform 64"/>
            <p:cNvSpPr>
              <a:spLocks noChangeAspect="1"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4" name="Freeform 65"/>
            <p:cNvSpPr>
              <a:spLocks noChangeAspect="1"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5" name="Freeform 66"/>
            <p:cNvSpPr>
              <a:spLocks noChangeAspect="1"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6" name="Freeform 67"/>
            <p:cNvSpPr>
              <a:spLocks noChangeAspect="1"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7" name="Freeform 68"/>
            <p:cNvSpPr>
              <a:spLocks noChangeAspect="1"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8" name="Freeform 69"/>
            <p:cNvSpPr>
              <a:spLocks noChangeAspect="1"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69" name="Rectangle 70"/>
            <p:cNvSpPr>
              <a:spLocks noChangeAspect="1" noChangeArrowheads="1"/>
            </p:cNvSpPr>
            <p:nvPr/>
          </p:nvSpPr>
          <p:spPr bwMode="auto">
            <a:xfrm>
              <a:off x="1890" y="1437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70" name="Rectangle 71"/>
            <p:cNvSpPr>
              <a:spLocks noChangeAspect="1" noChangeArrowheads="1"/>
            </p:cNvSpPr>
            <p:nvPr/>
          </p:nvSpPr>
          <p:spPr bwMode="auto">
            <a:xfrm>
              <a:off x="1089" y="2061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71" name="Rectangle 72"/>
            <p:cNvSpPr>
              <a:spLocks noChangeAspect="1" noChangeArrowheads="1"/>
            </p:cNvSpPr>
            <p:nvPr/>
          </p:nvSpPr>
          <p:spPr bwMode="auto">
            <a:xfrm>
              <a:off x="1699" y="2374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72" name="Rectangle 73"/>
            <p:cNvSpPr>
              <a:spLocks noChangeAspect="1" noChangeArrowheads="1"/>
            </p:cNvSpPr>
            <p:nvPr/>
          </p:nvSpPr>
          <p:spPr bwMode="auto">
            <a:xfrm>
              <a:off x="1319" y="29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73" name="Rectangle 74"/>
            <p:cNvSpPr>
              <a:spLocks noChangeAspect="1" noChangeArrowheads="1"/>
            </p:cNvSpPr>
            <p:nvPr/>
          </p:nvSpPr>
          <p:spPr bwMode="auto">
            <a:xfrm>
              <a:off x="517" y="1940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74" name="Rectangle 75"/>
            <p:cNvSpPr>
              <a:spLocks noChangeAspect="1" noChangeArrowheads="1"/>
            </p:cNvSpPr>
            <p:nvPr/>
          </p:nvSpPr>
          <p:spPr bwMode="auto">
            <a:xfrm>
              <a:off x="2187" y="24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15" name="Group 76"/>
          <p:cNvGrpSpPr>
            <a:grpSpLocks noChangeAspect="1"/>
          </p:cNvGrpSpPr>
          <p:nvPr/>
        </p:nvGrpSpPr>
        <p:grpSpPr bwMode="auto">
          <a:xfrm>
            <a:off x="8809038" y="2360612"/>
            <a:ext cx="919162" cy="619616"/>
            <a:chOff x="1465" y="2309"/>
            <a:chExt cx="883" cy="596"/>
          </a:xfrm>
        </p:grpSpPr>
        <p:sp>
          <p:nvSpPr>
            <p:cNvPr id="76861" name="Freeform 77"/>
            <p:cNvSpPr>
              <a:spLocks noChangeAspect="1"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62" name="Rectangle 78"/>
            <p:cNvSpPr>
              <a:spLocks noChangeAspect="1" noChangeArrowheads="1"/>
            </p:cNvSpPr>
            <p:nvPr/>
          </p:nvSpPr>
          <p:spPr bwMode="auto">
            <a:xfrm>
              <a:off x="1831" y="2668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16" name="Group 79"/>
          <p:cNvGrpSpPr>
            <a:grpSpLocks noChangeAspect="1"/>
          </p:cNvGrpSpPr>
          <p:nvPr/>
        </p:nvGrpSpPr>
        <p:grpSpPr bwMode="auto">
          <a:xfrm>
            <a:off x="7624764" y="1730375"/>
            <a:ext cx="1036637" cy="584200"/>
            <a:chOff x="328" y="1704"/>
            <a:chExt cx="995" cy="561"/>
          </a:xfrm>
        </p:grpSpPr>
        <p:sp>
          <p:nvSpPr>
            <p:cNvPr id="76859" name="Freeform 80"/>
            <p:cNvSpPr>
              <a:spLocks noChangeAspect="1"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60" name="Rectangle 81"/>
            <p:cNvSpPr>
              <a:spLocks noChangeAspect="1" noChangeArrowheads="1"/>
            </p:cNvSpPr>
            <p:nvPr/>
          </p:nvSpPr>
          <p:spPr bwMode="auto">
            <a:xfrm>
              <a:off x="854" y="1704"/>
              <a:ext cx="10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17" name="Group 82"/>
          <p:cNvGrpSpPr>
            <a:grpSpLocks noChangeAspect="1"/>
          </p:cNvGrpSpPr>
          <p:nvPr/>
        </p:nvGrpSpPr>
        <p:grpSpPr bwMode="auto">
          <a:xfrm>
            <a:off x="7399339" y="1293814"/>
            <a:ext cx="2583903" cy="2287587"/>
            <a:chOff x="111" y="1285"/>
            <a:chExt cx="2482" cy="2197"/>
          </a:xfrm>
        </p:grpSpPr>
        <p:sp>
          <p:nvSpPr>
            <p:cNvPr id="76857" name="Rectangle 83"/>
            <p:cNvSpPr>
              <a:spLocks noChangeAspect="1" noChangeArrowheads="1"/>
            </p:cNvSpPr>
            <p:nvPr/>
          </p:nvSpPr>
          <p:spPr bwMode="auto">
            <a:xfrm>
              <a:off x="2484" y="1704"/>
              <a:ext cx="10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58" name="Freeform 84"/>
            <p:cNvSpPr>
              <a:spLocks noChangeAspect="1"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85"/>
          <p:cNvGrpSpPr>
            <a:grpSpLocks noChangeAspect="1"/>
          </p:cNvGrpSpPr>
          <p:nvPr/>
        </p:nvGrpSpPr>
        <p:grpSpPr bwMode="auto">
          <a:xfrm>
            <a:off x="8397875" y="2211388"/>
            <a:ext cx="1416050" cy="1084262"/>
            <a:chOff x="1070" y="2167"/>
            <a:chExt cx="1361" cy="1041"/>
          </a:xfrm>
        </p:grpSpPr>
        <p:sp>
          <p:nvSpPr>
            <p:cNvPr id="76855" name="Rectangle 86"/>
            <p:cNvSpPr>
              <a:spLocks noChangeAspect="1" noChangeArrowheads="1"/>
            </p:cNvSpPr>
            <p:nvPr/>
          </p:nvSpPr>
          <p:spPr bwMode="auto">
            <a:xfrm>
              <a:off x="1070" y="2560"/>
              <a:ext cx="10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856" name="Freeform 87"/>
            <p:cNvSpPr>
              <a:spLocks noChangeAspect="1"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88"/>
          <p:cNvGrpSpPr>
            <a:grpSpLocks noChangeAspect="1"/>
          </p:cNvGrpSpPr>
          <p:nvPr/>
        </p:nvGrpSpPr>
        <p:grpSpPr bwMode="auto">
          <a:xfrm>
            <a:off x="7567613" y="1384300"/>
            <a:ext cx="1905000" cy="996950"/>
            <a:chOff x="272" y="1372"/>
            <a:chExt cx="1831" cy="958"/>
          </a:xfrm>
        </p:grpSpPr>
        <p:sp>
          <p:nvSpPr>
            <p:cNvPr id="76853" name="Rectangle 89"/>
            <p:cNvSpPr>
              <a:spLocks noChangeAspect="1" noChangeArrowheads="1"/>
            </p:cNvSpPr>
            <p:nvPr/>
          </p:nvSpPr>
          <p:spPr bwMode="auto">
            <a:xfrm>
              <a:off x="1165" y="1380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54" name="Freeform 90"/>
            <p:cNvSpPr>
              <a:spLocks noChangeAspect="1"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825" name="Group 91"/>
          <p:cNvGrpSpPr>
            <a:grpSpLocks noChangeAspect="1"/>
          </p:cNvGrpSpPr>
          <p:nvPr/>
        </p:nvGrpSpPr>
        <p:grpSpPr bwMode="auto">
          <a:xfrm>
            <a:off x="2533651" y="1362075"/>
            <a:ext cx="1990725" cy="1808634"/>
            <a:chOff x="471" y="1117"/>
            <a:chExt cx="1935" cy="1757"/>
          </a:xfrm>
        </p:grpSpPr>
        <p:sp>
          <p:nvSpPr>
            <p:cNvPr id="76841" name="Freeform 92"/>
            <p:cNvSpPr>
              <a:spLocks noChangeAspect="1"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2" name="Freeform 93"/>
            <p:cNvSpPr>
              <a:spLocks noChangeAspect="1"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3" name="Freeform 94"/>
            <p:cNvSpPr>
              <a:spLocks noChangeAspect="1"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4" name="Freeform 95"/>
            <p:cNvSpPr>
              <a:spLocks noChangeAspect="1"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5" name="Freeform 96"/>
            <p:cNvSpPr>
              <a:spLocks noChangeAspect="1"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6" name="Freeform 97"/>
            <p:cNvSpPr>
              <a:spLocks noChangeAspect="1"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847" name="Rectangle 98"/>
            <p:cNvSpPr>
              <a:spLocks noChangeAspect="1" noChangeArrowheads="1"/>
            </p:cNvSpPr>
            <p:nvPr/>
          </p:nvSpPr>
          <p:spPr bwMode="auto">
            <a:xfrm>
              <a:off x="2033" y="1117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48" name="Rectangle 99"/>
            <p:cNvSpPr>
              <a:spLocks noChangeAspect="1" noChangeArrowheads="1"/>
            </p:cNvSpPr>
            <p:nvPr/>
          </p:nvSpPr>
          <p:spPr bwMode="auto">
            <a:xfrm>
              <a:off x="1256" y="1765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49" name="Rectangle 100"/>
            <p:cNvSpPr>
              <a:spLocks noChangeAspect="1" noChangeArrowheads="1"/>
            </p:cNvSpPr>
            <p:nvPr/>
          </p:nvSpPr>
          <p:spPr bwMode="auto">
            <a:xfrm>
              <a:off x="1810" y="206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50" name="Rectangle 101"/>
            <p:cNvSpPr>
              <a:spLocks noChangeAspect="1" noChangeArrowheads="1"/>
            </p:cNvSpPr>
            <p:nvPr/>
          </p:nvSpPr>
          <p:spPr bwMode="auto">
            <a:xfrm>
              <a:off x="1422" y="2635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51" name="Rectangle 102"/>
            <p:cNvSpPr>
              <a:spLocks noChangeAspect="1" noChangeArrowheads="1"/>
            </p:cNvSpPr>
            <p:nvPr/>
          </p:nvSpPr>
          <p:spPr bwMode="auto">
            <a:xfrm>
              <a:off x="648" y="16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52" name="Rectangle 103"/>
            <p:cNvSpPr>
              <a:spLocks noChangeAspect="1" noChangeArrowheads="1"/>
            </p:cNvSpPr>
            <p:nvPr/>
          </p:nvSpPr>
          <p:spPr bwMode="auto">
            <a:xfrm>
              <a:off x="2307" y="21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21" name="Group 104"/>
          <p:cNvGrpSpPr>
            <a:grpSpLocks noChangeAspect="1"/>
          </p:cNvGrpSpPr>
          <p:nvPr/>
        </p:nvGrpSpPr>
        <p:grpSpPr bwMode="auto">
          <a:xfrm>
            <a:off x="3665539" y="2070100"/>
            <a:ext cx="923925" cy="592138"/>
            <a:chOff x="1572" y="1805"/>
            <a:chExt cx="897" cy="575"/>
          </a:xfrm>
        </p:grpSpPr>
        <p:sp>
          <p:nvSpPr>
            <p:cNvPr id="76839" name="Freeform 105"/>
            <p:cNvSpPr>
              <a:spLocks noChangeAspect="1"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40" name="Rectangle 106"/>
            <p:cNvSpPr>
              <a:spLocks noChangeAspect="1" noChangeArrowheads="1"/>
            </p:cNvSpPr>
            <p:nvPr/>
          </p:nvSpPr>
          <p:spPr bwMode="auto">
            <a:xfrm>
              <a:off x="1943" y="1805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22" name="Group 107"/>
          <p:cNvGrpSpPr>
            <a:grpSpLocks noChangeAspect="1"/>
          </p:cNvGrpSpPr>
          <p:nvPr/>
        </p:nvGrpSpPr>
        <p:grpSpPr bwMode="auto">
          <a:xfrm>
            <a:off x="2389189" y="1825626"/>
            <a:ext cx="1125537" cy="745011"/>
            <a:chOff x="332" y="1568"/>
            <a:chExt cx="1093" cy="723"/>
          </a:xfrm>
        </p:grpSpPr>
        <p:sp>
          <p:nvSpPr>
            <p:cNvPr id="76837" name="Freeform 108"/>
            <p:cNvSpPr>
              <a:spLocks noChangeAspect="1"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8" name="Rectangle 109"/>
            <p:cNvSpPr>
              <a:spLocks noChangeAspect="1" noChangeArrowheads="1"/>
            </p:cNvSpPr>
            <p:nvPr/>
          </p:nvSpPr>
          <p:spPr bwMode="auto">
            <a:xfrm>
              <a:off x="949" y="2052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23" name="Group 110"/>
          <p:cNvGrpSpPr>
            <a:grpSpLocks noChangeAspect="1"/>
          </p:cNvGrpSpPr>
          <p:nvPr/>
        </p:nvGrpSpPr>
        <p:grpSpPr bwMode="auto">
          <a:xfrm>
            <a:off x="2336800" y="1555750"/>
            <a:ext cx="2382838" cy="1358900"/>
            <a:chOff x="280" y="1305"/>
            <a:chExt cx="2315" cy="1321"/>
          </a:xfrm>
        </p:grpSpPr>
        <p:sp>
          <p:nvSpPr>
            <p:cNvPr id="76835" name="Freeform 111"/>
            <p:cNvSpPr>
              <a:spLocks noChangeAspect="1"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6" name="Rectangle 112"/>
            <p:cNvSpPr>
              <a:spLocks noChangeAspect="1" noChangeArrowheads="1"/>
            </p:cNvSpPr>
            <p:nvPr/>
          </p:nvSpPr>
          <p:spPr bwMode="auto">
            <a:xfrm>
              <a:off x="1390" y="1305"/>
              <a:ext cx="1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</p:grpSp>
      <p:grpSp>
        <p:nvGrpSpPr>
          <p:cNvPr id="24" name="Group 113"/>
          <p:cNvGrpSpPr>
            <a:grpSpLocks noChangeAspect="1"/>
          </p:cNvGrpSpPr>
          <p:nvPr/>
        </p:nvGrpSpPr>
        <p:grpSpPr bwMode="auto">
          <a:xfrm>
            <a:off x="2295526" y="1477964"/>
            <a:ext cx="2462213" cy="1887537"/>
            <a:chOff x="241" y="1229"/>
            <a:chExt cx="2391" cy="1834"/>
          </a:xfrm>
        </p:grpSpPr>
        <p:sp>
          <p:nvSpPr>
            <p:cNvPr id="76833" name="Freeform 114"/>
            <p:cNvSpPr>
              <a:spLocks noChangeAspect="1"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4" name="Rectangle 115"/>
            <p:cNvSpPr>
              <a:spLocks noChangeAspect="1" noChangeArrowheads="1"/>
            </p:cNvSpPr>
            <p:nvPr/>
          </p:nvSpPr>
          <p:spPr bwMode="auto">
            <a:xfrm>
              <a:off x="1238" y="2826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</p:grpSp>
      <p:grpSp>
        <p:nvGrpSpPr>
          <p:cNvPr id="25" name="Group 116"/>
          <p:cNvGrpSpPr>
            <a:grpSpLocks noChangeAspect="1"/>
          </p:cNvGrpSpPr>
          <p:nvPr/>
        </p:nvGrpSpPr>
        <p:grpSpPr bwMode="auto">
          <a:xfrm>
            <a:off x="2247901" y="1216026"/>
            <a:ext cx="2595563" cy="2289175"/>
            <a:chOff x="194" y="975"/>
            <a:chExt cx="2522" cy="2224"/>
          </a:xfrm>
        </p:grpSpPr>
        <p:sp>
          <p:nvSpPr>
            <p:cNvPr id="76831" name="Rectangle 117"/>
            <p:cNvSpPr>
              <a:spLocks noChangeAspect="1" noChangeArrowheads="1"/>
            </p:cNvSpPr>
            <p:nvPr/>
          </p:nvSpPr>
          <p:spPr bwMode="auto">
            <a:xfrm>
              <a:off x="2138" y="975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32" name="Freeform 118"/>
            <p:cNvSpPr>
              <a:spLocks noChangeAspect="1"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152400"/>
            <a:ext cx="11455400" cy="533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Hierarchical Clustering:  Time and Space requirements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O(N</a:t>
            </a:r>
            <a:r>
              <a:rPr lang="en-US" altLang="en-US" baseline="30000" dirty="0"/>
              <a:t>2</a:t>
            </a:r>
            <a:r>
              <a:rPr lang="en-US" altLang="en-US" dirty="0"/>
              <a:t>) space since it uses the proximity matrix.  </a:t>
            </a:r>
          </a:p>
          <a:p>
            <a:pPr lvl="1"/>
            <a:r>
              <a:rPr lang="en-US" altLang="en-US" dirty="0"/>
              <a:t>N is the number of points.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O(N</a:t>
            </a:r>
            <a:r>
              <a:rPr lang="en-US" altLang="en-US" baseline="30000" dirty="0"/>
              <a:t>3</a:t>
            </a:r>
            <a:r>
              <a:rPr lang="en-US" altLang="en-US" dirty="0"/>
              <a:t>) time in many cases</a:t>
            </a:r>
          </a:p>
          <a:p>
            <a:pPr lvl="1"/>
            <a:r>
              <a:rPr lang="en-US" altLang="en-US" dirty="0"/>
              <a:t>There are N steps and at each step the size, N</a:t>
            </a:r>
            <a:r>
              <a:rPr lang="en-US" altLang="en-US" baseline="30000" dirty="0"/>
              <a:t>2</a:t>
            </a:r>
            <a:r>
              <a:rPr lang="en-US" altLang="en-US" dirty="0"/>
              <a:t>, proximity matrix must be updated and searched</a:t>
            </a:r>
          </a:p>
          <a:p>
            <a:pPr lvl="1"/>
            <a:r>
              <a:rPr lang="en-US" altLang="en-US" dirty="0"/>
              <a:t>Complexity can be reduced to O(N</a:t>
            </a:r>
            <a:r>
              <a:rPr lang="en-US" altLang="en-US" baseline="30000" dirty="0"/>
              <a:t>2</a:t>
            </a:r>
            <a:r>
              <a:rPr lang="en-US" altLang="en-US" dirty="0"/>
              <a:t> log(N) ) time with some cleverness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152400"/>
            <a:ext cx="11040533" cy="6858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Hierarchical Clustering:  Problems and Limitations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Once a decision is made to combine two clusters, it cannot be undone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No global objective function is directly minimized</a:t>
            </a:r>
          </a:p>
          <a:p>
            <a:pPr lvl="4"/>
            <a:endParaRPr lang="en-US" altLang="en-US" dirty="0"/>
          </a:p>
          <a:p>
            <a:r>
              <a:rPr lang="en-US" altLang="en-US" dirty="0"/>
              <a:t>Different schemes have problems with one or more of the following:</a:t>
            </a:r>
          </a:p>
          <a:p>
            <a:pPr lvl="1"/>
            <a:r>
              <a:rPr lang="en-US" altLang="en-US" dirty="0"/>
              <a:t>Sensitivity to noise </a:t>
            </a:r>
          </a:p>
          <a:p>
            <a:pPr lvl="1"/>
            <a:r>
              <a:rPr lang="en-US" altLang="en-US" dirty="0"/>
              <a:t>Difficulty handling clusters of different sizes and non-globular shapes</a:t>
            </a:r>
          </a:p>
          <a:p>
            <a:pPr lvl="1"/>
            <a:r>
              <a:rPr lang="en-US" altLang="en-US" dirty="0"/>
              <a:t>Breaking large clusters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789843D6-5D71-F648-B934-E7A09F737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081" y="3145703"/>
            <a:ext cx="2719837" cy="2719837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2EF999E9-F033-AD4D-AA2A-CF33C0E29C7A}"/>
              </a:ext>
            </a:extLst>
          </p:cNvPr>
          <p:cNvSpPr txBox="1">
            <a:spLocks/>
          </p:cNvSpPr>
          <p:nvPr/>
        </p:nvSpPr>
        <p:spPr>
          <a:xfrm>
            <a:off x="838200" y="44318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Science ODL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25772D-D5EB-5B45-993D-0F66FC44248B}"/>
              </a:ext>
            </a:extLst>
          </p:cNvPr>
          <p:cNvCxnSpPr/>
          <p:nvPr/>
        </p:nvCxnSpPr>
        <p:spPr>
          <a:xfrm>
            <a:off x="914400" y="1295400"/>
            <a:ext cx="10287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0C31CA-136E-D84E-AB88-866EA1C6DBD3}"/>
              </a:ext>
            </a:extLst>
          </p:cNvPr>
          <p:cNvSpPr txBox="1"/>
          <p:nvPr/>
        </p:nvSpPr>
        <p:spPr>
          <a:xfrm>
            <a:off x="990599" y="1600510"/>
            <a:ext cx="1021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Analysis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2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Outline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18" y="990600"/>
            <a:ext cx="11091333" cy="5638800"/>
          </a:xfrm>
        </p:spPr>
        <p:txBody>
          <a:bodyPr>
            <a:normAutofit fontScale="62500" lnSpcReduction="20000"/>
          </a:bodyPr>
          <a:lstStyle/>
          <a:p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Notion of Clusters</a:t>
            </a:r>
          </a:p>
          <a:p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Types of Clusters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  <a:p>
            <a:endParaRPr lang="en-GB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Partitional Clustering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K-means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K-means++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Bisecting K-means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Strengths and Limitations</a:t>
            </a:r>
          </a:p>
          <a:p>
            <a:pPr lvl="1"/>
            <a:endParaRPr lang="en-GB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Hierarchical Clustering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Agglomerative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Divisive</a:t>
            </a:r>
          </a:p>
          <a:p>
            <a:pPr lvl="1"/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Inter-Cluster </a:t>
            </a:r>
            <a:r>
              <a:rPr lang="en-US" altLang="en-US" dirty="0" smtClean="0">
                <a:solidFill>
                  <a:schemeClr val="bg1">
                    <a:lumMod val="65000"/>
                  </a:schemeClr>
                </a:solidFill>
              </a:rPr>
              <a:t>Distance</a:t>
            </a:r>
          </a:p>
          <a:p>
            <a:pPr lvl="1"/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Strength and Limitation</a:t>
            </a:r>
            <a:endParaRPr lang="en-GB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457200" lvl="1" indent="0">
              <a:buNone/>
            </a:pPr>
            <a:endParaRPr lang="en-GB" dirty="0" smtClean="0"/>
          </a:p>
          <a:p>
            <a:r>
              <a:rPr lang="en-GB" dirty="0"/>
              <a:t>Cluster Validity</a:t>
            </a:r>
          </a:p>
          <a:p>
            <a:pPr lvl="1"/>
            <a:r>
              <a:rPr lang="en-GB" dirty="0"/>
              <a:t>Cohesion </a:t>
            </a:r>
          </a:p>
          <a:p>
            <a:pPr lvl="1"/>
            <a:r>
              <a:rPr lang="en-GB" dirty="0"/>
              <a:t>Separation</a:t>
            </a:r>
          </a:p>
          <a:p>
            <a:pPr lvl="1"/>
            <a:r>
              <a:rPr lang="en-GB" dirty="0" smtClean="0"/>
              <a:t>Silhouette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 bwMode="auto">
          <a:xfrm>
            <a:off x="548218" y="5181600"/>
            <a:ext cx="11091333" cy="12192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07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dirty="0"/>
              <a:t>Density Based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Clusters are regions of high density that are separated from one another by regions on low density.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2" y="2646062"/>
            <a:ext cx="4872038" cy="3602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13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DBSCAN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/>
              <a:t>DBSCAN is a density-based algorithm.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Density = number of points within a specified radius (</a:t>
            </a:r>
            <a:r>
              <a:rPr lang="en-US" altLang="en-US" sz="2000" dirty="0" err="1"/>
              <a:t>Eps</a:t>
            </a:r>
            <a:r>
              <a:rPr lang="en-US" altLang="en-US" sz="2000" dirty="0"/>
              <a:t>)</a:t>
            </a:r>
          </a:p>
          <a:p>
            <a:pPr marL="2171700" lvl="4" indent="-342900">
              <a:lnSpc>
                <a:spcPct val="90000"/>
              </a:lnSpc>
            </a:pP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point is a </a:t>
            </a:r>
            <a:r>
              <a:rPr lang="en-US" altLang="en-US" sz="2000" dirty="0">
                <a:solidFill>
                  <a:srgbClr val="FF0000"/>
                </a:solidFill>
              </a:rPr>
              <a:t>core point</a:t>
            </a:r>
            <a:r>
              <a:rPr lang="en-US" altLang="en-US" sz="2000" dirty="0"/>
              <a:t> if it has at least a specified number of points (</a:t>
            </a:r>
            <a:r>
              <a:rPr lang="en-US" altLang="en-US" sz="2000" dirty="0" err="1"/>
              <a:t>MinPts</a:t>
            </a:r>
            <a:r>
              <a:rPr lang="en-US" altLang="en-US" sz="2000" dirty="0"/>
              <a:t>) within Eps</a:t>
            </a:r>
            <a:r>
              <a:rPr lang="en-US" altLang="en-US" dirty="0"/>
              <a:t> </a:t>
            </a:r>
          </a:p>
          <a:p>
            <a:pPr marL="1295400" lvl="2" indent="-381000"/>
            <a:r>
              <a:rPr lang="en-US" altLang="en-US" dirty="0"/>
              <a:t>These are points that are at the interior of a cluster</a:t>
            </a:r>
          </a:p>
          <a:p>
            <a:pPr marL="1295400" lvl="2" indent="-381000"/>
            <a:r>
              <a:rPr lang="en-US" altLang="en-US" dirty="0"/>
              <a:t>Counts the point itself</a:t>
            </a:r>
          </a:p>
          <a:p>
            <a:pPr marL="2171700" lvl="4" indent="-342900"/>
            <a:endParaRPr lang="en-US" altLang="en-US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border point</a:t>
            </a:r>
            <a:r>
              <a:rPr lang="en-US" altLang="en-US" sz="2000" dirty="0"/>
              <a:t> is not a core point, but is in the neighborhood of a core point</a:t>
            </a:r>
          </a:p>
          <a:p>
            <a:pPr marL="2171700" lvl="4" indent="-342900">
              <a:lnSpc>
                <a:spcPct val="90000"/>
              </a:lnSpc>
            </a:pPr>
            <a:endParaRPr lang="en-US" alt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noise point</a:t>
            </a:r>
            <a:r>
              <a:rPr lang="en-US" altLang="en-US" sz="2000" dirty="0"/>
              <a:t> is any point that is not a core point or a border point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DBSCAN: Core, Border, and Noise Points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295400"/>
            <a:ext cx="9144000" cy="49562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0" y="1322832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MinPts</a:t>
            </a:r>
            <a:r>
              <a:rPr lang="en-US" sz="1600" dirty="0"/>
              <a:t> =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DBSCAN: Core, Border and Noise Points</a:t>
            </a:r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23687"/>
            <a:ext cx="4872038" cy="3602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2514600" y="50292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6781800" y="5105400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Point types: </a:t>
            </a:r>
            <a:r>
              <a:rPr lang="en-US" altLang="en-US" sz="1800">
                <a:solidFill>
                  <a:schemeClr val="hlink"/>
                </a:solidFill>
              </a:rPr>
              <a:t>core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rgbClr val="003399"/>
                </a:solidFill>
              </a:rPr>
              <a:t>border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rgbClr val="FF0000"/>
                </a:solidFill>
              </a:rPr>
              <a:t>noise</a:t>
            </a:r>
          </a:p>
        </p:txBody>
      </p:sp>
      <p:pic>
        <p:nvPicPr>
          <p:cNvPr id="849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527859"/>
            <a:ext cx="4872038" cy="357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4267200" y="5943601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Eps = 10, MinPts = 4</a:t>
            </a:r>
          </a:p>
        </p:txBody>
      </p:sp>
    </p:spTree>
    <p:extLst>
      <p:ext uri="{BB962C8B-B14F-4D97-AF65-F5344CB8AC3E}">
        <p14:creationId xmlns:p14="http://schemas.microsoft.com/office/powerpoint/2010/main" val="110772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DBSCAN Algorithm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Form clusters using core points, and assign border points to one of its neighboring clusters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sz="2000" dirty="0"/>
              <a:t>1: Label all points as core, border, or noise points.</a:t>
            </a:r>
          </a:p>
          <a:p>
            <a:pPr marL="0" indent="0">
              <a:buNone/>
            </a:pPr>
            <a:r>
              <a:rPr lang="en-US" sz="2000" dirty="0"/>
              <a:t>2: Eliminate noise points.</a:t>
            </a:r>
          </a:p>
          <a:p>
            <a:pPr marL="0" indent="0">
              <a:buNone/>
            </a:pPr>
            <a:r>
              <a:rPr lang="en-US" sz="2000" dirty="0"/>
              <a:t>3: Put an edge between all core points within a distance </a:t>
            </a:r>
            <a:r>
              <a:rPr lang="en-US" sz="2000" i="1" dirty="0"/>
              <a:t>Eps </a:t>
            </a:r>
            <a:r>
              <a:rPr lang="en-US" sz="2000" dirty="0"/>
              <a:t>of each other.</a:t>
            </a:r>
          </a:p>
          <a:p>
            <a:pPr marL="0" indent="0">
              <a:buNone/>
            </a:pPr>
            <a:r>
              <a:rPr lang="en-US" sz="2000" dirty="0"/>
              <a:t>4: Make each group of connected core points into a separate cluster.</a:t>
            </a:r>
          </a:p>
          <a:p>
            <a:pPr marL="0" indent="0">
              <a:buNone/>
            </a:pPr>
            <a:r>
              <a:rPr lang="en-US" sz="2000" dirty="0"/>
              <a:t>5: Assign each border point to one of the clusters of its associated core points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5609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050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When DBSCAN Works Well</a:t>
            </a:r>
          </a:p>
        </p:txBody>
      </p:sp>
      <p:pic>
        <p:nvPicPr>
          <p:cNvPr id="86019" name="Picture 20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81089"/>
            <a:ext cx="4872038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Text Box 2052"/>
          <p:cNvSpPr txBox="1">
            <a:spLocks noChangeArrowheads="1"/>
          </p:cNvSpPr>
          <p:nvPr/>
        </p:nvSpPr>
        <p:spPr bwMode="auto">
          <a:xfrm>
            <a:off x="2514600" y="4433888"/>
            <a:ext cx="251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grpSp>
        <p:nvGrpSpPr>
          <p:cNvPr id="2" name="Group 2053"/>
          <p:cNvGrpSpPr>
            <a:grpSpLocks/>
          </p:cNvGrpSpPr>
          <p:nvPr/>
        </p:nvGrpSpPr>
        <p:grpSpPr bwMode="auto">
          <a:xfrm>
            <a:off x="5691399" y="1080600"/>
            <a:ext cx="4976602" cy="3796201"/>
            <a:chOff x="2691" y="633"/>
            <a:chExt cx="3069" cy="2360"/>
          </a:xfrm>
        </p:grpSpPr>
        <p:pic>
          <p:nvPicPr>
            <p:cNvPr id="86023" name="Picture 205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24" name="Text Box 2055"/>
            <p:cNvSpPr txBox="1">
              <a:spLocks noChangeArrowheads="1"/>
            </p:cNvSpPr>
            <p:nvPr/>
          </p:nvSpPr>
          <p:spPr bwMode="auto">
            <a:xfrm>
              <a:off x="3222" y="2763"/>
              <a:ext cx="25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 dirty="0"/>
                <a:t>Clusters (</a:t>
              </a:r>
              <a:r>
                <a:rPr lang="en-US" altLang="en-US" dirty="0"/>
                <a:t>dark blue points indicate noise</a:t>
              </a:r>
              <a:r>
                <a:rPr lang="en-US" altLang="en-US" sz="1800" dirty="0"/>
                <a:t>)</a:t>
              </a:r>
            </a:p>
          </p:txBody>
        </p:sp>
      </p:grpSp>
      <p:sp>
        <p:nvSpPr>
          <p:cNvPr id="1653768" name="Text Box 2056"/>
          <p:cNvSpPr txBox="1">
            <a:spLocks noChangeArrowheads="1"/>
          </p:cNvSpPr>
          <p:nvPr/>
        </p:nvSpPr>
        <p:spPr bwMode="auto">
          <a:xfrm>
            <a:off x="2133600" y="4876801"/>
            <a:ext cx="6629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800" dirty="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Can handle clusters of different shapes and sizes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Resistant to noise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When DBSCAN Does NOT Work Well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2590800" y="38862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4572000" y="2228851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pic>
        <p:nvPicPr>
          <p:cNvPr id="87045" name="Picture 5" descr="fish_clus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5154613" y="2789239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5154613" y="2789239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When DBSCAN Does NOT Work Well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2590800" y="3886201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4572000" y="2228851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pic>
        <p:nvPicPr>
          <p:cNvPr id="87045" name="Picture 5" descr="fish_clus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5154613" y="2789239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47" name="Object 0"/>
          <p:cNvGraphicFramePr>
            <a:graphicFrameLocks noChangeAspect="1"/>
          </p:cNvGraphicFramePr>
          <p:nvPr/>
        </p:nvGraphicFramePr>
        <p:xfrm>
          <a:off x="6172201" y="1066800"/>
          <a:ext cx="3363913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0"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87047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1066800"/>
                        <a:ext cx="3363913" cy="228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6324600" y="3352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1600" b="0" dirty="0" err="1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=4, Eps=9.92).</a:t>
            </a:r>
            <a:r>
              <a:rPr lang="en-US" altLang="en-US" sz="900" b="0" dirty="0">
                <a:latin typeface="Times New Roman" pitchFamily="18" charset="0"/>
              </a:rPr>
              <a:t> </a:t>
            </a:r>
            <a:endParaRPr lang="en-US" altLang="en-US" sz="2400" b="0" dirty="0">
              <a:latin typeface="Times New Roman" pitchFamily="18" charset="0"/>
            </a:endParaRPr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5154613" y="2789239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50" name="Object 1"/>
          <p:cNvGraphicFramePr>
            <a:graphicFrameLocks noChangeAspect="1"/>
          </p:cNvGraphicFramePr>
          <p:nvPr/>
        </p:nvGraphicFramePr>
        <p:xfrm>
          <a:off x="6248401" y="3733800"/>
          <a:ext cx="336391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01" r:id="rId6" imgW="4686706" imgH="3177815" progId="MSPhotoEd.3">
                  <p:embed/>
                </p:oleObj>
              </mc:Choice>
              <mc:Fallback>
                <p:oleObj r:id="rId6" imgW="4686706" imgH="3177815" progId="MSPhotoEd.3">
                  <p:embed/>
                  <p:pic>
                    <p:nvPicPr>
                      <p:cNvPr id="8705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3733800"/>
                        <a:ext cx="3363913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6248400" y="60198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en-US" sz="1600" b="0" dirty="0" err="1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=4, Eps=9.75)</a:t>
            </a:r>
          </a:p>
        </p:txBody>
      </p:sp>
      <p:sp>
        <p:nvSpPr>
          <p:cNvPr id="1654796" name="Text Box 12"/>
          <p:cNvSpPr txBox="1">
            <a:spLocks noChangeArrowheads="1"/>
          </p:cNvSpPr>
          <p:nvPr/>
        </p:nvSpPr>
        <p:spPr bwMode="auto">
          <a:xfrm>
            <a:off x="2133600" y="5392738"/>
            <a:ext cx="3505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Varying densities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High-dimensional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410616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4796" grpId="0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B2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789843D6-5D71-F648-B934-E7A09F737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081" y="3145703"/>
            <a:ext cx="2719837" cy="2719837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2EF999E9-F033-AD4D-AA2A-CF33C0E29C7A}"/>
              </a:ext>
            </a:extLst>
          </p:cNvPr>
          <p:cNvSpPr txBox="1">
            <a:spLocks/>
          </p:cNvSpPr>
          <p:nvPr/>
        </p:nvSpPr>
        <p:spPr>
          <a:xfrm>
            <a:off x="838200" y="44318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Science ODL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25772D-D5EB-5B45-993D-0F66FC44248B}"/>
              </a:ext>
            </a:extLst>
          </p:cNvPr>
          <p:cNvCxnSpPr/>
          <p:nvPr/>
        </p:nvCxnSpPr>
        <p:spPr>
          <a:xfrm>
            <a:off x="914400" y="1295400"/>
            <a:ext cx="10287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0C31CA-136E-D84E-AB88-866EA1C6DBD3}"/>
              </a:ext>
            </a:extLst>
          </p:cNvPr>
          <p:cNvSpPr txBox="1"/>
          <p:nvPr/>
        </p:nvSpPr>
        <p:spPr>
          <a:xfrm>
            <a:off x="990599" y="1600510"/>
            <a:ext cx="1021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Analysis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3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Outline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18" y="990600"/>
            <a:ext cx="11091333" cy="5638800"/>
          </a:xfrm>
        </p:spPr>
        <p:txBody>
          <a:bodyPr>
            <a:normAutofit fontScale="62500" lnSpcReduction="20000"/>
          </a:bodyPr>
          <a:lstStyle/>
          <a:p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Notion of Clusters</a:t>
            </a:r>
          </a:p>
          <a:p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Types of Clusters</a:t>
            </a:r>
            <a:endParaRPr lang="en-GB" dirty="0">
              <a:solidFill>
                <a:schemeClr val="bg1">
                  <a:lumMod val="65000"/>
                </a:schemeClr>
              </a:solidFill>
            </a:endParaRPr>
          </a:p>
          <a:p>
            <a:endParaRPr lang="en-GB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Partitional Clustering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K-means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K-means++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Bisecting K-means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Strengths and Limitations</a:t>
            </a:r>
          </a:p>
          <a:p>
            <a:pPr lvl="1"/>
            <a:endParaRPr lang="en-GB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Hierarchical Clustering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Agglomerative</a:t>
            </a:r>
          </a:p>
          <a:p>
            <a:pPr lvl="1"/>
            <a:r>
              <a:rPr lang="en-GB" dirty="0" smtClean="0">
                <a:solidFill>
                  <a:schemeClr val="bg1">
                    <a:lumMod val="65000"/>
                  </a:schemeClr>
                </a:solidFill>
              </a:rPr>
              <a:t>Divisive</a:t>
            </a:r>
          </a:p>
          <a:p>
            <a:pPr lvl="1"/>
            <a:r>
              <a:rPr lang="en-US" altLang="en-US" dirty="0">
                <a:solidFill>
                  <a:schemeClr val="bg1">
                    <a:lumMod val="65000"/>
                  </a:schemeClr>
                </a:solidFill>
              </a:rPr>
              <a:t>Inter-Cluster </a:t>
            </a:r>
            <a:r>
              <a:rPr lang="en-US" altLang="en-US" dirty="0" smtClean="0">
                <a:solidFill>
                  <a:schemeClr val="bg1">
                    <a:lumMod val="65000"/>
                  </a:schemeClr>
                </a:solidFill>
              </a:rPr>
              <a:t>Distance</a:t>
            </a:r>
          </a:p>
          <a:p>
            <a:pPr lvl="1"/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Strength and Limitation</a:t>
            </a:r>
            <a:endParaRPr lang="en-GB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457200" lvl="1" indent="0">
              <a:buNone/>
            </a:pPr>
            <a:endParaRPr lang="en-GB" dirty="0" smtClean="0"/>
          </a:p>
          <a:p>
            <a:r>
              <a:rPr lang="en-GB" dirty="0"/>
              <a:t>Cluster Validity</a:t>
            </a:r>
          </a:p>
          <a:p>
            <a:pPr lvl="1"/>
            <a:r>
              <a:rPr lang="en-GB" dirty="0"/>
              <a:t>Cohesion </a:t>
            </a:r>
          </a:p>
          <a:p>
            <a:pPr lvl="1"/>
            <a:r>
              <a:rPr lang="en-GB" dirty="0"/>
              <a:t>Separation</a:t>
            </a:r>
          </a:p>
          <a:p>
            <a:pPr lvl="1"/>
            <a:r>
              <a:rPr lang="en-GB" dirty="0" smtClean="0"/>
              <a:t>Silhouette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 bwMode="auto">
          <a:xfrm>
            <a:off x="548218" y="5181600"/>
            <a:ext cx="11091333" cy="12192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11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Cluster Validity </a:t>
            </a:r>
          </a:p>
        </p:txBody>
      </p:sp>
      <p:sp>
        <p:nvSpPr>
          <p:cNvPr id="16568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For supervised classification we have a variety of measures to evaluate how good our model is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Accuracy, precision, recall</a:t>
            </a:r>
          </a:p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For cluster analysis, the analogous question is how to evaluate the “goodness” of the resulting clusters?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But “clusters are in the eye of the beholder”! 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In practice the clusters we find are defined by the clustering algorithm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Then why do we want to evaluate them?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avoid finding patterns in noise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compare clustering algorithms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compare two sets of clusters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compare two clusters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Clusters found in Random Data</a:t>
            </a:r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990600"/>
            <a:ext cx="3648075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1676400" y="1905000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Random Points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76401" y="3657600"/>
            <a:ext cx="4113213" cy="2743200"/>
            <a:chOff x="96" y="2304"/>
            <a:chExt cx="2591" cy="1728"/>
          </a:xfrm>
        </p:grpSpPr>
        <p:pic>
          <p:nvPicPr>
            <p:cNvPr id="9012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5" name="Text Box 7"/>
            <p:cNvSpPr txBox="1">
              <a:spLocks noChangeArrowheads="1"/>
            </p:cNvSpPr>
            <p:nvPr/>
          </p:nvSpPr>
          <p:spPr bwMode="auto">
            <a:xfrm>
              <a:off x="96" y="264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K-means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640388" y="990600"/>
            <a:ext cx="4341812" cy="2743200"/>
            <a:chOff x="2593" y="624"/>
            <a:chExt cx="2735" cy="1728"/>
          </a:xfrm>
        </p:grpSpPr>
        <p:pic>
          <p:nvPicPr>
            <p:cNvPr id="90122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62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3" name="Text Box 10"/>
            <p:cNvSpPr txBox="1">
              <a:spLocks noChangeArrowheads="1"/>
            </p:cNvSpPr>
            <p:nvPr/>
          </p:nvSpPr>
          <p:spPr bwMode="auto">
            <a:xfrm>
              <a:off x="4704" y="120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DBSCAN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5640388" y="3657600"/>
            <a:ext cx="4646612" cy="2743200"/>
            <a:chOff x="2593" y="2304"/>
            <a:chExt cx="2927" cy="1728"/>
          </a:xfrm>
        </p:grpSpPr>
        <p:pic>
          <p:nvPicPr>
            <p:cNvPr id="90120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1" name="Text Box 13"/>
            <p:cNvSpPr txBox="1">
              <a:spLocks noChangeArrowheads="1"/>
            </p:cNvSpPr>
            <p:nvPr/>
          </p:nvSpPr>
          <p:spPr bwMode="auto">
            <a:xfrm>
              <a:off x="4800" y="2640"/>
              <a:ext cx="7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Complete Link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Measures of Cluster Validity</a:t>
            </a:r>
          </a:p>
        </p:txBody>
      </p:sp>
      <p:sp>
        <p:nvSpPr>
          <p:cNvPr id="9216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en-US" sz="2200" dirty="0"/>
              <a:t>Numerical measures that are applied to judge various aspects of cluster validity, are classified into the following two types.</a:t>
            </a:r>
          </a:p>
          <a:p>
            <a:pPr marL="742950" lvl="1" indent="-285750"/>
            <a:r>
              <a:rPr lang="en-US" altLang="en-US" sz="2000" dirty="0">
                <a:solidFill>
                  <a:srgbClr val="FF0000"/>
                </a:solidFill>
              </a:rPr>
              <a:t>Supervised: </a:t>
            </a:r>
            <a:r>
              <a:rPr lang="en-US" altLang="en-US" sz="2000" dirty="0"/>
              <a:t>Used to measure the extent to which cluster labels match externally supplied class labels.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/>
              <a:t>Entropy 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/>
              <a:t>Often called </a:t>
            </a:r>
            <a:r>
              <a:rPr lang="en-US" altLang="en-US" sz="1600" i="1" dirty="0"/>
              <a:t>external indices </a:t>
            </a:r>
            <a:r>
              <a:rPr lang="en-US" altLang="en-US" sz="1600" dirty="0"/>
              <a:t>because they use information external to the data</a:t>
            </a:r>
          </a:p>
          <a:p>
            <a:pPr marL="742950" lvl="1" indent="-285750"/>
            <a:r>
              <a:rPr lang="en-US" altLang="en-US" sz="2000" dirty="0">
                <a:solidFill>
                  <a:srgbClr val="FF0000"/>
                </a:solidFill>
              </a:rPr>
              <a:t>Unsupervised:</a:t>
            </a:r>
            <a:r>
              <a:rPr lang="en-US" altLang="en-US" sz="2000" dirty="0"/>
              <a:t>  Used to measure the goodness of a clustering structure </a:t>
            </a:r>
            <a:r>
              <a:rPr lang="en-US" altLang="en-US" sz="2000" i="1" dirty="0"/>
              <a:t>without</a:t>
            </a:r>
            <a:r>
              <a:rPr lang="en-US" altLang="en-US" sz="2000" dirty="0"/>
              <a:t> respect to external information. 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/>
              <a:t>Sum of Squared Error (SSE)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altLang="en-US" sz="1600" dirty="0"/>
              <a:t>Often called </a:t>
            </a:r>
            <a:r>
              <a:rPr lang="en-US" altLang="en-US" sz="1600" i="1" dirty="0"/>
              <a:t>internal indices </a:t>
            </a:r>
            <a:r>
              <a:rPr lang="en-US" altLang="en-US" sz="1600" dirty="0"/>
              <a:t>because they only use information in the data</a:t>
            </a:r>
          </a:p>
          <a:p>
            <a:pPr lvl="2">
              <a:lnSpc>
                <a:spcPct val="80000"/>
              </a:lnSpc>
              <a:buNone/>
            </a:pPr>
            <a:endParaRPr lang="en-US" altLang="en-US" sz="1600" dirty="0"/>
          </a:p>
          <a:p>
            <a:pPr lvl="2">
              <a:lnSpc>
                <a:spcPct val="80000"/>
              </a:lnSpc>
              <a:buNone/>
            </a:pPr>
            <a:r>
              <a:rPr lang="en-US" altLang="en-US" sz="1600" dirty="0"/>
              <a:t>		</a:t>
            </a:r>
          </a:p>
          <a:p>
            <a:pPr marL="234950" indent="-285750"/>
            <a:r>
              <a:rPr lang="en-US" altLang="en-US" sz="2200" dirty="0"/>
              <a:t>You can use supervised or unsupervised measures to compare clusters or </a:t>
            </a:r>
            <a:r>
              <a:rPr lang="en-US" altLang="en-US" sz="2200" dirty="0" err="1"/>
              <a:t>clusterings</a:t>
            </a:r>
            <a:endParaRPr lang="en-US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Unsupervised Measures: Cohesion and Separation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474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48218" y="1143000"/>
                <a:ext cx="11091333" cy="518160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spcBef>
                    <a:spcPct val="0"/>
                  </a:spcBef>
                </a:pPr>
                <a:r>
                  <a:rPr lang="en-US" altLang="en-US" dirty="0" smtClean="0">
                    <a:solidFill>
                      <a:srgbClr val="FF0000"/>
                    </a:solidFill>
                  </a:rPr>
                  <a:t>Cluster Cohesion</a:t>
                </a:r>
                <a:r>
                  <a:rPr lang="en-US" altLang="en-US" dirty="0">
                    <a:solidFill>
                      <a:srgbClr val="FF9900"/>
                    </a:solidFill>
                  </a:rPr>
                  <a:t>:</a:t>
                </a:r>
                <a:r>
                  <a:rPr lang="en-US" altLang="en-US" dirty="0"/>
                  <a:t> Measures how closely related are objects in a cluster</a:t>
                </a:r>
              </a:p>
              <a:p>
                <a:pPr marL="742950" lvl="1" indent="-285750"/>
                <a:r>
                  <a:rPr lang="en-US" altLang="en-US" sz="2000" dirty="0" smtClean="0"/>
                  <a:t>Cohesion </a:t>
                </a:r>
                <a:r>
                  <a:rPr lang="en-US" altLang="en-US" sz="2000" dirty="0"/>
                  <a:t>is measured by the within cluster sum of squares (SSE</a:t>
                </a:r>
                <a:r>
                  <a:rPr lang="en-US" altLang="en-US" sz="2000" dirty="0" smtClean="0"/>
                  <a:t>)</a:t>
                </a:r>
                <a:endParaRPr lang="en-US" altLang="en-US" sz="2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2400" b="1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alt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en-US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sz="2000" dirty="0"/>
              </a:p>
              <a:p>
                <a:pPr marL="342900" indent="-342900">
                  <a:spcBef>
                    <a:spcPct val="0"/>
                  </a:spcBef>
                </a:pPr>
                <a:r>
                  <a:rPr lang="en-US" altLang="en-US" dirty="0">
                    <a:solidFill>
                      <a:srgbClr val="FF0000"/>
                    </a:solidFill>
                  </a:rPr>
                  <a:t>Cluster Separation</a:t>
                </a:r>
                <a:r>
                  <a:rPr lang="en-US" altLang="en-US" dirty="0"/>
                  <a:t>: Measure how distinct or well-separated a cluster is from other </a:t>
                </a:r>
                <a:r>
                  <a:rPr lang="en-US" altLang="en-US" dirty="0" smtClean="0"/>
                  <a:t>clusters</a:t>
                </a:r>
              </a:p>
              <a:p>
                <a:pPr marL="742950" lvl="1" indent="-285750"/>
                <a:r>
                  <a:rPr lang="en-US" altLang="en-US" sz="2000" dirty="0" smtClean="0"/>
                  <a:t>Separation </a:t>
                </a:r>
                <a:r>
                  <a:rPr lang="en-US" altLang="en-US" sz="2000" dirty="0"/>
                  <a:t>is measured by the between cluster sum of </a:t>
                </a:r>
                <a:r>
                  <a:rPr lang="en-US" altLang="en-US" sz="2000" dirty="0" smtClean="0"/>
                  <a:t>squares</a:t>
                </a:r>
                <a:endParaRPr lang="en-US" alt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800" i="1"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altLang="en-US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800" b="1" i="1"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r>
                                        <a:rPr lang="en-US" alt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alt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en-US" sz="28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sz="2800" dirty="0" smtClean="0"/>
              </a:p>
              <a:p>
                <a:pPr marL="457200" lvl="1" indent="0">
                  <a:buNone/>
                </a:pPr>
                <a:r>
                  <a:rPr lang="en-US" altLang="en-US" sz="1800" dirty="0"/>
                  <a:t>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1800" dirty="0"/>
                  <a:t>is the size of cluster </a:t>
                </a:r>
                <a:r>
                  <a:rPr lang="en-US" altLang="en-US" sz="1800" i="1" dirty="0" err="1" smtClean="0"/>
                  <a:t>i</a:t>
                </a:r>
                <a:endParaRPr lang="en-GB" altLang="en-US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547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8218" y="1143000"/>
                <a:ext cx="11091333" cy="5181600"/>
              </a:xfrm>
              <a:blipFill>
                <a:blip r:embed="rId3"/>
                <a:stretch>
                  <a:fillRect l="-1539" t="-3412" r="-12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98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Unsupervised Measures: Cohesion and Separation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Example: SSE</a:t>
            </a:r>
          </a:p>
          <a:p>
            <a:pPr lvl="1"/>
            <a:r>
              <a:rPr lang="en-US" altLang="en-US" sz="2000" dirty="0"/>
              <a:t>SSB + SSE = constant</a:t>
            </a:r>
          </a:p>
        </p:txBody>
      </p:sp>
      <p:sp>
        <p:nvSpPr>
          <p:cNvPr id="106500" name="Line 4"/>
          <p:cNvSpPr>
            <a:spLocks noChangeShapeType="1"/>
          </p:cNvSpPr>
          <p:nvPr/>
        </p:nvSpPr>
        <p:spPr bwMode="auto">
          <a:xfrm>
            <a:off x="2438400" y="2681288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1" name="Line 5"/>
          <p:cNvSpPr>
            <a:spLocks noChangeShapeType="1"/>
          </p:cNvSpPr>
          <p:nvPr/>
        </p:nvSpPr>
        <p:spPr bwMode="auto">
          <a:xfrm>
            <a:off x="2438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2" name="Line 6"/>
          <p:cNvSpPr>
            <a:spLocks noChangeShapeType="1"/>
          </p:cNvSpPr>
          <p:nvPr/>
        </p:nvSpPr>
        <p:spPr bwMode="auto">
          <a:xfrm>
            <a:off x="3962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3" name="Line 7"/>
          <p:cNvSpPr>
            <a:spLocks noChangeShapeType="1"/>
          </p:cNvSpPr>
          <p:nvPr/>
        </p:nvSpPr>
        <p:spPr bwMode="auto">
          <a:xfrm>
            <a:off x="5486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4" name="Line 8"/>
          <p:cNvSpPr>
            <a:spLocks noChangeShapeType="1"/>
          </p:cNvSpPr>
          <p:nvPr/>
        </p:nvSpPr>
        <p:spPr bwMode="auto">
          <a:xfrm>
            <a:off x="7010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5" name="Line 9"/>
          <p:cNvSpPr>
            <a:spLocks noChangeShapeType="1"/>
          </p:cNvSpPr>
          <p:nvPr/>
        </p:nvSpPr>
        <p:spPr bwMode="auto">
          <a:xfrm>
            <a:off x="8534400" y="245268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2286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1</a:t>
            </a:r>
          </a:p>
        </p:txBody>
      </p:sp>
      <p:sp>
        <p:nvSpPr>
          <p:cNvPr id="106507" name="Text Box 11"/>
          <p:cNvSpPr txBox="1">
            <a:spLocks noChangeArrowheads="1"/>
          </p:cNvSpPr>
          <p:nvPr/>
        </p:nvSpPr>
        <p:spPr bwMode="auto">
          <a:xfrm>
            <a:off x="3810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2</a:t>
            </a:r>
          </a:p>
        </p:txBody>
      </p:sp>
      <p:sp>
        <p:nvSpPr>
          <p:cNvPr id="106508" name="Text Box 12"/>
          <p:cNvSpPr txBox="1">
            <a:spLocks noChangeArrowheads="1"/>
          </p:cNvSpPr>
          <p:nvPr/>
        </p:nvSpPr>
        <p:spPr bwMode="auto">
          <a:xfrm>
            <a:off x="5334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3</a:t>
            </a:r>
          </a:p>
        </p:txBody>
      </p:sp>
      <p:sp>
        <p:nvSpPr>
          <p:cNvPr id="106509" name="Text Box 13"/>
          <p:cNvSpPr txBox="1">
            <a:spLocks noChangeArrowheads="1"/>
          </p:cNvSpPr>
          <p:nvPr/>
        </p:nvSpPr>
        <p:spPr bwMode="auto">
          <a:xfrm>
            <a:off x="6858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4</a:t>
            </a:r>
          </a:p>
        </p:txBody>
      </p:sp>
      <p:sp>
        <p:nvSpPr>
          <p:cNvPr id="106510" name="Text Box 14"/>
          <p:cNvSpPr txBox="1">
            <a:spLocks noChangeArrowheads="1"/>
          </p:cNvSpPr>
          <p:nvPr/>
        </p:nvSpPr>
        <p:spPr bwMode="auto">
          <a:xfrm>
            <a:off x="8382000" y="27574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5</a:t>
            </a:r>
          </a:p>
        </p:txBody>
      </p:sp>
      <p:sp>
        <p:nvSpPr>
          <p:cNvPr id="106511" name="Oval 15"/>
          <p:cNvSpPr>
            <a:spLocks noChangeArrowheads="1"/>
          </p:cNvSpPr>
          <p:nvPr/>
        </p:nvSpPr>
        <p:spPr bwMode="auto">
          <a:xfrm>
            <a:off x="2362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6512" name="Oval 16"/>
          <p:cNvSpPr>
            <a:spLocks noChangeArrowheads="1"/>
          </p:cNvSpPr>
          <p:nvPr/>
        </p:nvSpPr>
        <p:spPr bwMode="auto">
          <a:xfrm>
            <a:off x="3886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6513" name="Oval 17"/>
          <p:cNvSpPr>
            <a:spLocks noChangeArrowheads="1"/>
          </p:cNvSpPr>
          <p:nvPr/>
        </p:nvSpPr>
        <p:spPr bwMode="auto">
          <a:xfrm>
            <a:off x="6934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6514" name="Oval 18"/>
          <p:cNvSpPr>
            <a:spLocks noChangeArrowheads="1"/>
          </p:cNvSpPr>
          <p:nvPr/>
        </p:nvSpPr>
        <p:spPr bwMode="auto">
          <a:xfrm>
            <a:off x="8458200" y="2605088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6515" name="Text Box 19"/>
          <p:cNvSpPr txBox="1">
            <a:spLocks noChangeArrowheads="1"/>
          </p:cNvSpPr>
          <p:nvPr/>
        </p:nvSpPr>
        <p:spPr bwMode="auto">
          <a:xfrm>
            <a:off x="2895600" y="233045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dirty="0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106516" name="Text Box 20"/>
          <p:cNvSpPr txBox="1">
            <a:spLocks noChangeArrowheads="1"/>
          </p:cNvSpPr>
          <p:nvPr/>
        </p:nvSpPr>
        <p:spPr bwMode="auto">
          <a:xfrm>
            <a:off x="7620000" y="233045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106517" name="Text Box 21"/>
          <p:cNvSpPr txBox="1">
            <a:spLocks noChangeArrowheads="1"/>
          </p:cNvSpPr>
          <p:nvPr/>
        </p:nvSpPr>
        <p:spPr bwMode="auto">
          <a:xfrm>
            <a:off x="5257800" y="233045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dirty="0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106518" name="Text Box 22"/>
          <p:cNvSpPr txBox="1">
            <a:spLocks noChangeArrowheads="1"/>
          </p:cNvSpPr>
          <p:nvPr/>
        </p:nvSpPr>
        <p:spPr bwMode="auto">
          <a:xfrm>
            <a:off x="2895600" y="27574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m</a:t>
            </a:r>
            <a:r>
              <a:rPr lang="en-US" altLang="en-US" sz="1800" baseline="-25000"/>
              <a:t>1</a:t>
            </a:r>
          </a:p>
        </p:txBody>
      </p:sp>
      <p:sp>
        <p:nvSpPr>
          <p:cNvPr id="106519" name="Text Box 23"/>
          <p:cNvSpPr txBox="1">
            <a:spLocks noChangeArrowheads="1"/>
          </p:cNvSpPr>
          <p:nvPr/>
        </p:nvSpPr>
        <p:spPr bwMode="auto">
          <a:xfrm>
            <a:off x="7620000" y="27574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m</a:t>
            </a:r>
            <a:r>
              <a:rPr lang="en-US" altLang="en-US" sz="1800" baseline="-25000"/>
              <a:t>2</a:t>
            </a:r>
          </a:p>
        </p:txBody>
      </p:sp>
      <p:sp>
        <p:nvSpPr>
          <p:cNvPr id="106520" name="Text Box 24"/>
          <p:cNvSpPr txBox="1">
            <a:spLocks noChangeArrowheads="1"/>
          </p:cNvSpPr>
          <p:nvPr/>
        </p:nvSpPr>
        <p:spPr bwMode="auto">
          <a:xfrm>
            <a:off x="5334000" y="20716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m</a:t>
            </a:r>
            <a:endParaRPr lang="en-US" altLang="en-US" sz="1800" baseline="-25000" dirty="0"/>
          </a:p>
        </p:txBody>
      </p:sp>
      <p:sp>
        <p:nvSpPr>
          <p:cNvPr id="106522" name="Text Box 26"/>
          <p:cNvSpPr txBox="1">
            <a:spLocks noChangeArrowheads="1"/>
          </p:cNvSpPr>
          <p:nvPr/>
        </p:nvSpPr>
        <p:spPr bwMode="auto">
          <a:xfrm>
            <a:off x="1905000" y="477653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K=2 clusters:</a:t>
            </a:r>
          </a:p>
        </p:txBody>
      </p:sp>
      <p:sp>
        <p:nvSpPr>
          <p:cNvPr id="106524" name="Text Box 28"/>
          <p:cNvSpPr txBox="1">
            <a:spLocks noChangeArrowheads="1"/>
          </p:cNvSpPr>
          <p:nvPr/>
        </p:nvSpPr>
        <p:spPr bwMode="auto">
          <a:xfrm>
            <a:off x="1905000" y="3498851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K=1 cluster: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645958" y="3606006"/>
                <a:ext cx="63073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1−3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2−3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4−3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5−3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958" y="3606006"/>
                <a:ext cx="6307368" cy="307777"/>
              </a:xfrm>
              <a:prstGeom prst="rect">
                <a:avLst/>
              </a:prstGeom>
              <a:blipFill>
                <a:blip r:embed="rId2"/>
                <a:stretch>
                  <a:fillRect l="-1408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645958" y="3999324"/>
                <a:ext cx="25801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=4×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958" y="3999324"/>
                <a:ext cx="2580194" cy="307777"/>
              </a:xfrm>
              <a:prstGeom prst="rect">
                <a:avLst/>
              </a:prstGeom>
              <a:blipFill>
                <a:blip r:embed="rId3"/>
                <a:stretch>
                  <a:fillRect l="-3431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084571" y="3002280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645959" y="4334831"/>
                <a:ext cx="238199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=10+0=10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959" y="4334831"/>
                <a:ext cx="2381999" cy="307777"/>
              </a:xfrm>
              <a:prstGeom prst="rect">
                <a:avLst/>
              </a:prstGeom>
              <a:blipFill>
                <a:blip r:embed="rId4"/>
                <a:stretch>
                  <a:fillRect l="-4255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45959" y="4846210"/>
                <a:ext cx="67239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1−1.5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2−1.5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4−4.5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5−4.5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959" y="4846210"/>
                <a:ext cx="6723957" cy="307777"/>
              </a:xfrm>
              <a:prstGeom prst="rect">
                <a:avLst/>
              </a:prstGeom>
              <a:blipFill>
                <a:blip r:embed="rId5"/>
                <a:stretch>
                  <a:fillRect l="-1321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645958" y="5207769"/>
                <a:ext cx="45834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=2 ×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3−1.5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+2×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4.5−3</m:t>
                              </m:r>
                            </m:e>
                          </m:d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958" y="5207769"/>
                <a:ext cx="4583434" cy="307777"/>
              </a:xfrm>
              <a:prstGeom prst="rect">
                <a:avLst/>
              </a:prstGeom>
              <a:blipFill>
                <a:blip r:embed="rId6"/>
                <a:stretch>
                  <a:fillRect l="-1939" t="-3846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645959" y="5569328"/>
                <a:ext cx="22393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=1+9=10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959" y="5569328"/>
                <a:ext cx="2239331" cy="307777"/>
              </a:xfrm>
              <a:prstGeom prst="rect">
                <a:avLst/>
              </a:prstGeom>
              <a:blipFill>
                <a:blip r:embed="rId7"/>
                <a:stretch>
                  <a:fillRect l="-4520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5" grpId="0"/>
      <p:bldP spid="106516" grpId="0"/>
      <p:bldP spid="106517" grpId="0"/>
      <p:bldP spid="106518" grpId="0"/>
      <p:bldP spid="106519" grpId="0"/>
      <p:bldP spid="106520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Unsupervised Measures: Cohesion and Separation</a:t>
            </a:r>
          </a:p>
        </p:txBody>
      </p:sp>
      <p:sp>
        <p:nvSpPr>
          <p:cNvPr id="10752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ct val="0"/>
              </a:spcBef>
            </a:pPr>
            <a:r>
              <a:rPr lang="en-US" altLang="en-US" sz="2200" dirty="0"/>
              <a:t>A proximity graph-based approach can also be used for cohesion and separation.</a:t>
            </a:r>
          </a:p>
          <a:p>
            <a:pPr marL="742950" lvl="1" indent="-285750"/>
            <a:r>
              <a:rPr lang="en-US" altLang="en-US" sz="1800" dirty="0"/>
              <a:t>Cluster cohesion is the sum of the weight of all links within a cluster.</a:t>
            </a:r>
          </a:p>
          <a:p>
            <a:pPr marL="742950" lvl="1" indent="-285750"/>
            <a:r>
              <a:rPr lang="en-US" altLang="en-US" sz="1800" dirty="0"/>
              <a:t>Cluster separation is the sum of the weights between nodes in the cluster and nodes outside the cluster.</a:t>
            </a:r>
          </a:p>
        </p:txBody>
      </p:sp>
      <p:sp>
        <p:nvSpPr>
          <p:cNvPr id="107524" name="Freeform 4" descr="5%"/>
          <p:cNvSpPr>
            <a:spLocks/>
          </p:cNvSpPr>
          <p:nvPr/>
        </p:nvSpPr>
        <p:spPr bwMode="auto">
          <a:xfrm rot="-5400000">
            <a:off x="5187157" y="3575844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25" name="Oval 5"/>
          <p:cNvSpPr>
            <a:spLocks noChangeArrowheads="1"/>
          </p:cNvSpPr>
          <p:nvPr/>
        </p:nvSpPr>
        <p:spPr bwMode="auto">
          <a:xfrm rot="-5400000">
            <a:off x="6477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26" name="Oval 6"/>
          <p:cNvSpPr>
            <a:spLocks noChangeArrowheads="1"/>
          </p:cNvSpPr>
          <p:nvPr/>
        </p:nvSpPr>
        <p:spPr bwMode="auto">
          <a:xfrm rot="-5400000">
            <a:off x="6400800" y="3733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27" name="Oval 7"/>
          <p:cNvSpPr>
            <a:spLocks noChangeArrowheads="1"/>
          </p:cNvSpPr>
          <p:nvPr/>
        </p:nvSpPr>
        <p:spPr bwMode="auto">
          <a:xfrm rot="-5400000">
            <a:off x="5562600" y="4191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28" name="Oval 8"/>
          <p:cNvSpPr>
            <a:spLocks noChangeArrowheads="1"/>
          </p:cNvSpPr>
          <p:nvPr/>
        </p:nvSpPr>
        <p:spPr bwMode="auto">
          <a:xfrm rot="-5400000">
            <a:off x="6627813" y="4037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29" name="Freeform 9" descr="5%"/>
          <p:cNvSpPr>
            <a:spLocks/>
          </p:cNvSpPr>
          <p:nvPr/>
        </p:nvSpPr>
        <p:spPr bwMode="auto">
          <a:xfrm rot="5400000" flipV="1">
            <a:off x="8077200" y="3429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0" name="Oval 10"/>
          <p:cNvSpPr>
            <a:spLocks noChangeArrowheads="1"/>
          </p:cNvSpPr>
          <p:nvPr/>
        </p:nvSpPr>
        <p:spPr bwMode="auto">
          <a:xfrm rot="5400000" flipV="1">
            <a:off x="96012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31" name="Oval 11"/>
          <p:cNvSpPr>
            <a:spLocks noChangeArrowheads="1"/>
          </p:cNvSpPr>
          <p:nvPr/>
        </p:nvSpPr>
        <p:spPr bwMode="auto">
          <a:xfrm rot="5400000" flipV="1">
            <a:off x="8240713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32" name="Oval 12"/>
          <p:cNvSpPr>
            <a:spLocks noChangeArrowheads="1"/>
          </p:cNvSpPr>
          <p:nvPr/>
        </p:nvSpPr>
        <p:spPr bwMode="auto">
          <a:xfrm rot="5400000" flipV="1">
            <a:off x="8763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33" name="Oval 13"/>
          <p:cNvSpPr>
            <a:spLocks noChangeArrowheads="1"/>
          </p:cNvSpPr>
          <p:nvPr/>
        </p:nvSpPr>
        <p:spPr bwMode="auto">
          <a:xfrm rot="5400000" flipV="1">
            <a:off x="8763000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34" name="Line 14"/>
          <p:cNvSpPr>
            <a:spLocks noChangeShapeType="1"/>
          </p:cNvSpPr>
          <p:nvPr/>
        </p:nvSpPr>
        <p:spPr bwMode="auto">
          <a:xfrm>
            <a:off x="6553200" y="4495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5" name="Line 15"/>
          <p:cNvSpPr>
            <a:spLocks noChangeShapeType="1"/>
          </p:cNvSpPr>
          <p:nvPr/>
        </p:nvSpPr>
        <p:spPr bwMode="auto">
          <a:xfrm flipV="1">
            <a:off x="6553200" y="3962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6" name="Line 16"/>
          <p:cNvSpPr>
            <a:spLocks noChangeShapeType="1"/>
          </p:cNvSpPr>
          <p:nvPr/>
        </p:nvSpPr>
        <p:spPr bwMode="auto">
          <a:xfrm flipV="1">
            <a:off x="6553200" y="3581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7" name="Line 17"/>
          <p:cNvSpPr>
            <a:spLocks noChangeShapeType="1"/>
          </p:cNvSpPr>
          <p:nvPr/>
        </p:nvSpPr>
        <p:spPr bwMode="auto">
          <a:xfrm flipV="1">
            <a:off x="6553200" y="3962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8" name="Line 18"/>
          <p:cNvSpPr>
            <a:spLocks noChangeShapeType="1"/>
          </p:cNvSpPr>
          <p:nvPr/>
        </p:nvSpPr>
        <p:spPr bwMode="auto">
          <a:xfrm>
            <a:off x="6705600" y="4114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9" name="Line 19"/>
          <p:cNvSpPr>
            <a:spLocks noChangeShapeType="1"/>
          </p:cNvSpPr>
          <p:nvPr/>
        </p:nvSpPr>
        <p:spPr bwMode="auto">
          <a:xfrm flipV="1">
            <a:off x="6705600" y="3962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0" name="Line 20"/>
          <p:cNvSpPr>
            <a:spLocks noChangeShapeType="1"/>
          </p:cNvSpPr>
          <p:nvPr/>
        </p:nvSpPr>
        <p:spPr bwMode="auto">
          <a:xfrm flipV="1">
            <a:off x="6705600" y="3581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1" name="Line 21"/>
          <p:cNvSpPr>
            <a:spLocks noChangeShapeType="1"/>
          </p:cNvSpPr>
          <p:nvPr/>
        </p:nvSpPr>
        <p:spPr bwMode="auto">
          <a:xfrm flipV="1">
            <a:off x="6705600" y="3962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2" name="Line 22"/>
          <p:cNvSpPr>
            <a:spLocks noChangeShapeType="1"/>
          </p:cNvSpPr>
          <p:nvPr/>
        </p:nvSpPr>
        <p:spPr bwMode="auto">
          <a:xfrm>
            <a:off x="5638800" y="4191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3" name="Line 23"/>
          <p:cNvSpPr>
            <a:spLocks noChangeShapeType="1"/>
          </p:cNvSpPr>
          <p:nvPr/>
        </p:nvSpPr>
        <p:spPr bwMode="auto">
          <a:xfrm flipV="1">
            <a:off x="5638800" y="3962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4" name="Line 24"/>
          <p:cNvSpPr>
            <a:spLocks noChangeShapeType="1"/>
          </p:cNvSpPr>
          <p:nvPr/>
        </p:nvSpPr>
        <p:spPr bwMode="auto">
          <a:xfrm flipV="1">
            <a:off x="5638800" y="3581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5" name="Line 25"/>
          <p:cNvSpPr>
            <a:spLocks noChangeShapeType="1"/>
          </p:cNvSpPr>
          <p:nvPr/>
        </p:nvSpPr>
        <p:spPr bwMode="auto">
          <a:xfrm flipV="1">
            <a:off x="5638800" y="3962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6" name="Line 26"/>
          <p:cNvSpPr>
            <a:spLocks noChangeShapeType="1"/>
          </p:cNvSpPr>
          <p:nvPr/>
        </p:nvSpPr>
        <p:spPr bwMode="auto">
          <a:xfrm>
            <a:off x="6477000" y="3733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7" name="Line 27"/>
          <p:cNvSpPr>
            <a:spLocks noChangeShapeType="1"/>
          </p:cNvSpPr>
          <p:nvPr/>
        </p:nvSpPr>
        <p:spPr bwMode="auto">
          <a:xfrm>
            <a:off x="6477000" y="3733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8" name="Line 28"/>
          <p:cNvSpPr>
            <a:spLocks noChangeShapeType="1"/>
          </p:cNvSpPr>
          <p:nvPr/>
        </p:nvSpPr>
        <p:spPr bwMode="auto">
          <a:xfrm flipV="1">
            <a:off x="6477000" y="3581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9" name="Line 29"/>
          <p:cNvSpPr>
            <a:spLocks noChangeShapeType="1"/>
          </p:cNvSpPr>
          <p:nvPr/>
        </p:nvSpPr>
        <p:spPr bwMode="auto">
          <a:xfrm>
            <a:off x="6477000" y="3733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0" name="Freeform 30" descr="5%"/>
          <p:cNvSpPr>
            <a:spLocks/>
          </p:cNvSpPr>
          <p:nvPr/>
        </p:nvSpPr>
        <p:spPr bwMode="auto">
          <a:xfrm rot="-5400000">
            <a:off x="2215357" y="3728244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1" name="Oval 31"/>
          <p:cNvSpPr>
            <a:spLocks noChangeArrowheads="1"/>
          </p:cNvSpPr>
          <p:nvPr/>
        </p:nvSpPr>
        <p:spPr bwMode="auto">
          <a:xfrm rot="-5400000">
            <a:off x="3505200" y="4648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52" name="Oval 32"/>
          <p:cNvSpPr>
            <a:spLocks noChangeArrowheads="1"/>
          </p:cNvSpPr>
          <p:nvPr/>
        </p:nvSpPr>
        <p:spPr bwMode="auto">
          <a:xfrm rot="-5400000">
            <a:off x="34290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53" name="Oval 33"/>
          <p:cNvSpPr>
            <a:spLocks noChangeArrowheads="1"/>
          </p:cNvSpPr>
          <p:nvPr/>
        </p:nvSpPr>
        <p:spPr bwMode="auto">
          <a:xfrm rot="-5400000">
            <a:off x="2590800" y="4343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54" name="Oval 34"/>
          <p:cNvSpPr>
            <a:spLocks noChangeArrowheads="1"/>
          </p:cNvSpPr>
          <p:nvPr/>
        </p:nvSpPr>
        <p:spPr bwMode="auto">
          <a:xfrm rot="-5400000">
            <a:off x="3656013" y="41894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55" name="Line 35"/>
          <p:cNvSpPr>
            <a:spLocks noChangeShapeType="1"/>
          </p:cNvSpPr>
          <p:nvPr/>
        </p:nvSpPr>
        <p:spPr bwMode="auto">
          <a:xfrm flipV="1">
            <a:off x="2667000" y="3962400"/>
            <a:ext cx="7620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6" name="Line 36"/>
          <p:cNvSpPr>
            <a:spLocks noChangeShapeType="1"/>
          </p:cNvSpPr>
          <p:nvPr/>
        </p:nvSpPr>
        <p:spPr bwMode="auto">
          <a:xfrm flipH="1" flipV="1">
            <a:off x="3429000" y="3962400"/>
            <a:ext cx="76200" cy="685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7" name="Line 37"/>
          <p:cNvSpPr>
            <a:spLocks noChangeShapeType="1"/>
          </p:cNvSpPr>
          <p:nvPr/>
        </p:nvSpPr>
        <p:spPr bwMode="auto">
          <a:xfrm>
            <a:off x="2667000" y="4343400"/>
            <a:ext cx="8382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8" name="Line 38"/>
          <p:cNvSpPr>
            <a:spLocks noChangeShapeType="1"/>
          </p:cNvSpPr>
          <p:nvPr/>
        </p:nvSpPr>
        <p:spPr bwMode="auto">
          <a:xfrm flipH="1" flipV="1">
            <a:off x="3429000" y="3962400"/>
            <a:ext cx="2286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59" name="Line 39"/>
          <p:cNvSpPr>
            <a:spLocks noChangeShapeType="1"/>
          </p:cNvSpPr>
          <p:nvPr/>
        </p:nvSpPr>
        <p:spPr bwMode="auto">
          <a:xfrm flipH="1">
            <a:off x="2667000" y="4267200"/>
            <a:ext cx="9906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60" name="Line 40"/>
          <p:cNvSpPr>
            <a:spLocks noChangeShapeType="1"/>
          </p:cNvSpPr>
          <p:nvPr/>
        </p:nvSpPr>
        <p:spPr bwMode="auto">
          <a:xfrm flipH="1">
            <a:off x="3505200" y="4267200"/>
            <a:ext cx="1524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61" name="Rectangle 41"/>
          <p:cNvSpPr>
            <a:spLocks noChangeArrowheads="1"/>
          </p:cNvSpPr>
          <p:nvPr/>
        </p:nvSpPr>
        <p:spPr bwMode="auto">
          <a:xfrm>
            <a:off x="2514600" y="5486401"/>
            <a:ext cx="1201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000" b="0"/>
              <a:t>cohesion</a:t>
            </a:r>
          </a:p>
        </p:txBody>
      </p:sp>
      <p:sp>
        <p:nvSpPr>
          <p:cNvPr id="107562" name="Rectangle 42"/>
          <p:cNvSpPr>
            <a:spLocks noChangeArrowheads="1"/>
          </p:cNvSpPr>
          <p:nvPr/>
        </p:nvSpPr>
        <p:spPr bwMode="auto">
          <a:xfrm>
            <a:off x="6553201" y="5486401"/>
            <a:ext cx="1370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000" b="0"/>
              <a:t>separation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Unsupervised Measures: Silhouette Coefficient</a:t>
            </a:r>
          </a:p>
        </p:txBody>
      </p:sp>
      <p:sp>
        <p:nvSpPr>
          <p:cNvPr id="10854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ct val="0"/>
              </a:spcBef>
            </a:pPr>
            <a:r>
              <a:rPr lang="en-US" altLang="en-US" sz="2000" dirty="0"/>
              <a:t>Silhouette coefficient combines ideas of both cohesion and separation, but for individual points, as well as clusters and </a:t>
            </a:r>
            <a:r>
              <a:rPr lang="en-US" altLang="en-US" sz="2000" dirty="0" err="1"/>
              <a:t>clusterings</a:t>
            </a:r>
            <a:endParaRPr lang="en-US" altLang="en-US" sz="2000" dirty="0"/>
          </a:p>
          <a:p>
            <a:pPr marL="342900" indent="-342900">
              <a:spcBef>
                <a:spcPct val="0"/>
              </a:spcBef>
            </a:pPr>
            <a:r>
              <a:rPr lang="en-US" altLang="en-US" sz="2000" dirty="0"/>
              <a:t>For an individual point, </a:t>
            </a:r>
            <a:r>
              <a:rPr lang="en-US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/>
            <a:r>
              <a:rPr lang="en-US" altLang="en-US" sz="1800" dirty="0"/>
              <a:t>Calculate </a:t>
            </a:r>
            <a:r>
              <a:rPr lang="en-US" altLang="en-US" sz="1800" b="1" i="1" dirty="0"/>
              <a:t>a</a:t>
            </a:r>
            <a:r>
              <a:rPr lang="en-US" altLang="en-US" sz="1800" dirty="0"/>
              <a:t> = average distance of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/>
              <a:t> to the points in its cluster</a:t>
            </a:r>
          </a:p>
          <a:p>
            <a:pPr marL="742950" lvl="1" indent="-285750"/>
            <a:r>
              <a:rPr lang="en-US" altLang="en-US" sz="1800" dirty="0"/>
              <a:t>Calculate </a:t>
            </a:r>
            <a:r>
              <a:rPr lang="en-US" altLang="en-US" sz="1800" b="1" i="1" dirty="0"/>
              <a:t>b</a:t>
            </a:r>
            <a:r>
              <a:rPr lang="en-US" altLang="en-US" sz="1800" dirty="0"/>
              <a:t> = min (average distance of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i="1" dirty="0"/>
              <a:t> </a:t>
            </a:r>
            <a:r>
              <a:rPr lang="en-US" altLang="en-US" sz="1800" dirty="0"/>
              <a:t> to points in another cluster)</a:t>
            </a:r>
          </a:p>
          <a:p>
            <a:pPr marL="742950" lvl="1" indent="-285750"/>
            <a:r>
              <a:rPr lang="en-US" altLang="en-US" sz="1800" dirty="0"/>
              <a:t>The silhouette coefficient for a point is then given by </a:t>
            </a:r>
            <a:br>
              <a:rPr lang="en-US" altLang="en-US" sz="1800" dirty="0"/>
            </a:br>
            <a:r>
              <a:rPr lang="en-US" altLang="en-US" sz="1800" dirty="0"/>
              <a:t/>
            </a:r>
            <a:br>
              <a:rPr lang="en-US" altLang="en-US" sz="1800" dirty="0"/>
            </a:br>
            <a:r>
              <a:rPr lang="en-US" altLang="en-US" sz="1800" dirty="0"/>
              <a:t>s = (b – a) / max(</a:t>
            </a:r>
            <a:r>
              <a:rPr lang="en-US" altLang="en-US" sz="1800" dirty="0" err="1"/>
              <a:t>a,b</a:t>
            </a:r>
            <a:r>
              <a:rPr lang="en-US" altLang="en-US" sz="1800" dirty="0"/>
              <a:t>)   </a:t>
            </a:r>
          </a:p>
          <a:p>
            <a:pPr marL="742950" lvl="1" indent="-285750">
              <a:buNone/>
            </a:pP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Value can vary between -1 and 1</a:t>
            </a:r>
          </a:p>
          <a:p>
            <a:pPr marL="742950" lvl="1" indent="-285750"/>
            <a:r>
              <a:rPr lang="en-US" altLang="en-US" sz="1800" dirty="0"/>
              <a:t>Typically ranges between 0 and 1. </a:t>
            </a:r>
          </a:p>
          <a:p>
            <a:pPr marL="742950" lvl="1" indent="-285750"/>
            <a:r>
              <a:rPr lang="en-US" altLang="en-US" sz="1800" dirty="0"/>
              <a:t>The closer to 1 the better.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sz="2200" dirty="0"/>
          </a:p>
          <a:p>
            <a:pPr marL="342900" indent="-342900">
              <a:spcBef>
                <a:spcPct val="0"/>
              </a:spcBef>
            </a:pPr>
            <a:r>
              <a:rPr lang="en-US" altLang="en-US" sz="2000" dirty="0"/>
              <a:t>Can calculate the average silhouette coefficient for a cluster or a clustering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922591"/>
              </p:ext>
            </p:extLst>
          </p:nvPr>
        </p:nvGraphicFramePr>
        <p:xfrm>
          <a:off x="6248400" y="3581400"/>
          <a:ext cx="3679825" cy="1394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94" name="Visio" r:id="rId3" imgW="3680406" imgH="1440180" progId="Visio.Drawing.15">
                  <p:embed/>
                </p:oleObj>
              </mc:Choice>
              <mc:Fallback>
                <p:oleObj name="Visio" r:id="rId3" imgW="3680406" imgH="144018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8400" y="3581400"/>
                        <a:ext cx="3679825" cy="1394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Measuring Cluster Validity Via Correlation</a:t>
            </a:r>
          </a:p>
        </p:txBody>
      </p:sp>
      <p:sp>
        <p:nvSpPr>
          <p:cNvPr id="1660930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3400" indent="-533400"/>
            <a:r>
              <a:rPr lang="en-US" altLang="en-US" sz="2400" dirty="0"/>
              <a:t>Two matrices </a:t>
            </a:r>
          </a:p>
          <a:p>
            <a:pPr marL="990600" lvl="1" indent="-533400"/>
            <a:r>
              <a:rPr lang="en-US" altLang="en-US" sz="1800" dirty="0"/>
              <a:t>Proximity Matrix</a:t>
            </a:r>
          </a:p>
          <a:p>
            <a:pPr marL="990600" lvl="1" indent="-533400"/>
            <a:r>
              <a:rPr lang="en-US" altLang="en-US" sz="1800" dirty="0"/>
              <a:t>Ideal Similarity Matrix</a:t>
            </a:r>
          </a:p>
          <a:p>
            <a:pPr marL="1371600" lvl="2" indent="-457200"/>
            <a:r>
              <a:rPr lang="en-US" altLang="en-US" sz="1600" dirty="0"/>
              <a:t>One row and one column for each data point</a:t>
            </a:r>
          </a:p>
          <a:p>
            <a:pPr marL="1371600" lvl="2" indent="-457200"/>
            <a:r>
              <a:rPr lang="en-US" altLang="en-US" sz="1600" dirty="0"/>
              <a:t>An entry is 1 if the associated pair of points belong to the same cluster</a:t>
            </a:r>
          </a:p>
          <a:p>
            <a:pPr marL="1371600" lvl="2" indent="-457200"/>
            <a:r>
              <a:rPr lang="en-US" altLang="en-US" sz="1600" dirty="0"/>
              <a:t>An entry is 0 if the associated pair of points belongs to different clusters</a:t>
            </a:r>
          </a:p>
          <a:p>
            <a:pPr marL="533400" indent="-533400"/>
            <a:r>
              <a:rPr lang="en-US" altLang="en-US" sz="2400" dirty="0"/>
              <a:t>Compute the correlation between the two matrices</a:t>
            </a:r>
          </a:p>
          <a:p>
            <a:pPr marL="990600" lvl="1" indent="-533400"/>
            <a:r>
              <a:rPr lang="en-US" altLang="en-US" sz="1800" dirty="0"/>
              <a:t>Since the matrices are symmetric, only the correlation between </a:t>
            </a:r>
            <a:r>
              <a:rPr lang="en-US" altLang="en-US" sz="1800" dirty="0" smtClean="0"/>
              <a:t/>
            </a:r>
            <a:br>
              <a:rPr lang="en-US" altLang="en-US" sz="1800" dirty="0" smtClean="0"/>
            </a:br>
            <a:r>
              <a:rPr lang="en-US" altLang="en-US" sz="1800" dirty="0" smtClean="0"/>
              <a:t>n(n-1</a:t>
            </a:r>
            <a:r>
              <a:rPr lang="en-US" altLang="en-US" sz="1800" dirty="0"/>
              <a:t>) / 2 entries needs to be calculated.</a:t>
            </a:r>
          </a:p>
          <a:p>
            <a:pPr marL="533400" indent="-533400"/>
            <a:r>
              <a:rPr lang="en-US" altLang="en-US" sz="2400" dirty="0"/>
              <a:t>High magnitude of correlation indicates that points that belong to the same cluster are close to each other. </a:t>
            </a:r>
          </a:p>
          <a:p>
            <a:pPr marL="1041400" lvl="1" indent="-533400"/>
            <a:r>
              <a:rPr lang="en-US" altLang="en-US" sz="2000" dirty="0"/>
              <a:t>Correlation may be positive or negative depending on whether the similarity matrix is a similarity or dissimilarity matrix</a:t>
            </a:r>
          </a:p>
          <a:p>
            <a:pPr marL="533400" indent="-533400"/>
            <a:r>
              <a:rPr lang="en-US" altLang="en-US" sz="2400" dirty="0"/>
              <a:t>Not a good measure for some density or contiguity based clusters.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4292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0930" grpId="0" build="p" autoUpdateAnimBg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Measuring Cluster Validity </a:t>
            </a:r>
            <a:r>
              <a:rPr lang="en-US" altLang="en-US" dirty="0" smtClean="0"/>
              <a:t>via </a:t>
            </a:r>
            <a:r>
              <a:rPr lang="en-US" altLang="en-US" dirty="0"/>
              <a:t>Correlation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Correlation of ideal similarity and proximity matrices for the K-means </a:t>
            </a:r>
            <a:r>
              <a:rPr lang="en-US" altLang="en-US" dirty="0" err="1"/>
              <a:t>clusterings</a:t>
            </a:r>
            <a:r>
              <a:rPr lang="en-US" altLang="en-US" dirty="0"/>
              <a:t> of the following </a:t>
            </a:r>
            <a:r>
              <a:rPr lang="en-US" altLang="en-US" b="1" dirty="0">
                <a:solidFill>
                  <a:srgbClr val="C00000"/>
                </a:solidFill>
              </a:rPr>
              <a:t>well-clustered</a:t>
            </a:r>
            <a:r>
              <a:rPr lang="en-US" altLang="en-US" dirty="0"/>
              <a:t> data set. </a:t>
            </a:r>
          </a:p>
          <a:p>
            <a:endParaRPr lang="en-US" altLang="en-US" dirty="0"/>
          </a:p>
        </p:txBody>
      </p:sp>
      <p:pic>
        <p:nvPicPr>
          <p:cNvPr id="9421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5" r="12505"/>
          <a:stretch/>
        </p:blipFill>
        <p:spPr bwMode="auto">
          <a:xfrm>
            <a:off x="557362" y="2556246"/>
            <a:ext cx="3162444" cy="285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4336041" y="5374197"/>
            <a:ext cx="2949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proximity </a:t>
            </a:r>
            <a:r>
              <a:rPr lang="en-US" altLang="en-US" dirty="0" smtClean="0"/>
              <a:t>matrix</a:t>
            </a:r>
            <a:endParaRPr lang="en-US" alt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C4451A05-D2E9-493D-AFC0-8F82E3CA2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806" y="2556246"/>
            <a:ext cx="3804801" cy="285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9453AC-658F-4588-98F3-B78FEE930E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649" y="2556246"/>
            <a:ext cx="3804817" cy="285395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704567" y="5374197"/>
            <a:ext cx="2949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 smtClean="0"/>
              <a:t>K-means</a:t>
            </a:r>
            <a:endParaRPr lang="en-US" altLang="en-US" dirty="0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7967514" y="5374197"/>
            <a:ext cx="2949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ideal </a:t>
            </a:r>
            <a:r>
              <a:rPr lang="en-US" altLang="en-US" dirty="0" smtClean="0"/>
              <a:t>similarity </a:t>
            </a:r>
            <a:r>
              <a:rPr lang="en-US" altLang="en-US" dirty="0"/>
              <a:t>matrix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4138520" y="2331479"/>
            <a:ext cx="2949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 err="1"/>
              <a:t>Corr</a:t>
            </a:r>
            <a:r>
              <a:rPr lang="en-US" altLang="en-US" dirty="0"/>
              <a:t> = 0.9235</a:t>
            </a:r>
          </a:p>
        </p:txBody>
      </p:sp>
    </p:spTree>
    <p:extLst>
      <p:ext uri="{BB962C8B-B14F-4D97-AF65-F5344CB8AC3E}">
        <p14:creationId xmlns:p14="http://schemas.microsoft.com/office/powerpoint/2010/main" val="55641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Measuring Cluster Validity Via Correlation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Correlation of ideal similarity and proximity matrices for the K-means </a:t>
            </a:r>
            <a:r>
              <a:rPr lang="en-US" altLang="en-US" dirty="0" err="1"/>
              <a:t>clusterings</a:t>
            </a:r>
            <a:r>
              <a:rPr lang="en-US" altLang="en-US" dirty="0"/>
              <a:t> of the following </a:t>
            </a:r>
            <a:r>
              <a:rPr lang="en-US" altLang="en-US" b="1" dirty="0">
                <a:solidFill>
                  <a:srgbClr val="C00000"/>
                </a:solidFill>
              </a:rPr>
              <a:t>random</a:t>
            </a:r>
            <a:r>
              <a:rPr lang="en-US" altLang="en-US" dirty="0"/>
              <a:t> data set. </a:t>
            </a:r>
          </a:p>
          <a:p>
            <a:endParaRPr lang="en-US" altLang="en-US" dirty="0"/>
          </a:p>
        </p:txBody>
      </p:sp>
      <p:pic>
        <p:nvPicPr>
          <p:cNvPr id="94213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5" r="13287"/>
          <a:stretch/>
        </p:blipFill>
        <p:spPr bwMode="auto">
          <a:xfrm>
            <a:off x="782052" y="2530077"/>
            <a:ext cx="2952898" cy="2880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DC58209-84B8-44BD-B750-7B1140469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50" y="2529423"/>
            <a:ext cx="3838934" cy="288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4262416" y="2315772"/>
            <a:ext cx="2749768" cy="316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 err="1"/>
              <a:t>Corr</a:t>
            </a:r>
            <a:r>
              <a:rPr lang="en-US" altLang="en-US" dirty="0"/>
              <a:t> = 0.5810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9453AC-658F-4588-98F3-B78FEE930E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649" y="2514600"/>
            <a:ext cx="3804817" cy="28539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4336041" y="5374197"/>
            <a:ext cx="2949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proximity </a:t>
            </a:r>
            <a:r>
              <a:rPr lang="en-US" altLang="en-US" dirty="0" smtClean="0"/>
              <a:t>matrix</a:t>
            </a:r>
            <a:endParaRPr lang="en-US" altLang="en-US" dirty="0"/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704567" y="5374197"/>
            <a:ext cx="2949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 smtClean="0"/>
              <a:t>K-means</a:t>
            </a:r>
            <a:endParaRPr lang="en-US" altLang="en-US" dirty="0"/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7967514" y="5374197"/>
            <a:ext cx="29490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/>
              <a:t>ideal </a:t>
            </a:r>
            <a:r>
              <a:rPr lang="en-US" altLang="en-US" dirty="0" smtClean="0"/>
              <a:t>similarity </a:t>
            </a:r>
            <a:r>
              <a:rPr lang="en-US" altLang="en-US" dirty="0"/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352064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Judging a Clustering Visually by its Similarity Matrix</a:t>
            </a:r>
          </a:p>
        </p:txBody>
      </p:sp>
      <p:sp>
        <p:nvSpPr>
          <p:cNvPr id="9523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en-US" sz="2600" dirty="0"/>
              <a:t>Order the similarity matrix with respect to cluster labels and inspect visually. </a:t>
            </a:r>
          </a:p>
          <a:p>
            <a:pPr marL="342900" indent="-342900"/>
            <a:endParaRPr lang="en-US" altLang="en-US" sz="2600" dirty="0"/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4414"/>
            <a:ext cx="4268788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208214"/>
            <a:ext cx="4268788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21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Judging a Clustering Visually by its Similarity Matrix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Clusters in random data are not so crisp</a:t>
            </a:r>
          </a:p>
          <a:p>
            <a:endParaRPr lang="en-US" altLang="en-US"/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4953000" y="5287964"/>
            <a:ext cx="2895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/>
              <a:t>DBSCAN</a:t>
            </a:r>
          </a:p>
        </p:txBody>
      </p:sp>
      <p:pic>
        <p:nvPicPr>
          <p:cNvPr id="962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2063469"/>
            <a:ext cx="3656013" cy="2767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1" y="2120113"/>
            <a:ext cx="3656013" cy="271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185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Judging a Clustering Visually by its Similarity Matrix</a:t>
            </a:r>
          </a:p>
        </p:txBody>
      </p:sp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1752600" y="1905001"/>
            <a:ext cx="4800600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4953000" y="48768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/>
              <a:t>DBSCAN</a:t>
            </a:r>
          </a:p>
        </p:txBody>
      </p:sp>
      <p:pic>
        <p:nvPicPr>
          <p:cNvPr id="993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1600200"/>
            <a:ext cx="4259263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117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Determining the Correct Number of Clusters</a:t>
            </a:r>
          </a:p>
        </p:txBody>
      </p:sp>
      <p:sp>
        <p:nvSpPr>
          <p:cNvPr id="10035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en-US" sz="2400" dirty="0"/>
              <a:t>SSE is good for comparing two </a:t>
            </a:r>
            <a:r>
              <a:rPr lang="en-US" altLang="en-US" sz="2400" dirty="0" err="1"/>
              <a:t>clusterings</a:t>
            </a:r>
            <a:r>
              <a:rPr lang="en-US" altLang="en-US" sz="2400" dirty="0"/>
              <a:t> or two clusters</a:t>
            </a:r>
          </a:p>
          <a:p>
            <a:pPr marL="342900" indent="-342900"/>
            <a:r>
              <a:rPr lang="en-US" altLang="en-US" sz="2400" dirty="0"/>
              <a:t>SSE can also be used to estimate the number of clusters</a:t>
            </a:r>
          </a:p>
          <a:p>
            <a:pPr marL="342900" indent="-342900">
              <a:buNone/>
            </a:pPr>
            <a:endParaRPr lang="en-US" altLang="en-US" sz="2400" dirty="0"/>
          </a:p>
          <a:p>
            <a:pPr marL="342900" indent="-342900"/>
            <a:endParaRPr lang="en-US" altLang="en-US" sz="2400" dirty="0"/>
          </a:p>
        </p:txBody>
      </p:sp>
      <p:pic>
        <p:nvPicPr>
          <p:cNvPr id="1003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6172200" y="2243482"/>
            <a:ext cx="5866606" cy="4157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 bwMode="auto">
          <a:xfrm>
            <a:off x="686495" y="2133600"/>
            <a:ext cx="548570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/>
          <p:cNvSpPr/>
          <p:nvPr/>
        </p:nvSpPr>
        <p:spPr bwMode="auto">
          <a:xfrm>
            <a:off x="8001000" y="5562600"/>
            <a:ext cx="609600" cy="609600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Determining the Correct Number of Clusters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SSE curve for a more complicated data set</a:t>
            </a:r>
          </a:p>
          <a:p>
            <a:endParaRPr lang="en-US" altLang="en-US" dirty="0"/>
          </a:p>
        </p:txBody>
      </p:sp>
      <p:pic>
        <p:nvPicPr>
          <p:cNvPr id="1013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685800" y="2209800"/>
            <a:ext cx="5552643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6144008" y="5957888"/>
            <a:ext cx="426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SSE of clusters found using K-means</a:t>
            </a:r>
          </a:p>
        </p:txBody>
      </p:sp>
      <p:pic>
        <p:nvPicPr>
          <p:cNvPr id="10138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008" y="1758978"/>
            <a:ext cx="5486399" cy="411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/>
          <p:cNvSpPr/>
          <p:nvPr/>
        </p:nvSpPr>
        <p:spPr bwMode="auto">
          <a:xfrm>
            <a:off x="7543800" y="4343400"/>
            <a:ext cx="609600" cy="609600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7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Final Comment on Cluster Validity</a:t>
            </a:r>
          </a:p>
        </p:txBody>
      </p:sp>
      <p:sp>
        <p:nvSpPr>
          <p:cNvPr id="110594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None/>
            </a:pPr>
            <a:r>
              <a:rPr lang="en-US" altLang="en-US" dirty="0"/>
              <a:t>   “The validation of clustering structures is the most difficult and frustrating part of cluster analysis. </a:t>
            </a:r>
          </a:p>
          <a:p>
            <a:pPr marL="342900" indent="-342900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None/>
            </a:pPr>
            <a:r>
              <a:rPr lang="en-US" altLang="en-US" dirty="0"/>
              <a:t>   Without a strong effort in this direction, cluster analysis will remain a black art accessible only to those true believers who have experience and great courage.”</a:t>
            </a:r>
          </a:p>
          <a:p>
            <a:pPr marL="850900" lvl="1">
              <a:spcBef>
                <a:spcPct val="0"/>
              </a:spcBef>
              <a:buSzPct val="85000"/>
              <a:buNone/>
            </a:pPr>
            <a:r>
              <a:rPr lang="en-US" altLang="en-US" sz="2000" b="1" i="1" dirty="0"/>
              <a:t>Algorithms for Clustering Data</a:t>
            </a:r>
            <a:r>
              <a:rPr lang="en-US" altLang="en-US" sz="2000" b="1" dirty="0"/>
              <a:t>, Jain and </a:t>
            </a:r>
            <a:r>
              <a:rPr lang="en-US" altLang="en-US" sz="2000" b="1" dirty="0" err="1"/>
              <a:t>Dubes</a:t>
            </a:r>
            <a:endParaRPr lang="en-US" altLang="en-US" sz="2000" b="1" dirty="0"/>
          </a:p>
          <a:p>
            <a:pPr marL="342900" indent="-342900">
              <a:spcBef>
                <a:spcPct val="0"/>
              </a:spcBef>
              <a:buSzPct val="85000"/>
              <a:buNone/>
            </a:pPr>
            <a:endParaRPr lang="en-US" altLang="en-US" sz="900" dirty="0"/>
          </a:p>
          <a:p>
            <a:pPr>
              <a:spcBef>
                <a:spcPct val="0"/>
              </a:spcBef>
              <a:buSzPct val="85000"/>
            </a:pPr>
            <a:r>
              <a:rPr lang="en-US" sz="1600" dirty="0"/>
              <a:t>H. </a:t>
            </a:r>
            <a:r>
              <a:rPr lang="en-US" sz="1600" dirty="0" err="1"/>
              <a:t>Xiong</a:t>
            </a:r>
            <a:r>
              <a:rPr lang="en-US" sz="1600" dirty="0"/>
              <a:t> and Z. Li. </a:t>
            </a:r>
            <a:r>
              <a:rPr lang="en-US" sz="1600" i="1" dirty="0"/>
              <a:t>Clustering Validation Measures</a:t>
            </a:r>
            <a:r>
              <a:rPr lang="en-US" sz="1600" dirty="0"/>
              <a:t>. In C. C. Aggarwal and C. K. Reddy, editors, Data Clustering: Algorithms and Applications, pages 571–605. Chapman &amp; Hall/CRC, 2013</a:t>
            </a:r>
            <a:r>
              <a:rPr lang="en-US" sz="2400" dirty="0"/>
              <a:t>.</a:t>
            </a:r>
          </a:p>
          <a:p>
            <a:pPr>
              <a:spcBef>
                <a:spcPct val="0"/>
              </a:spcBef>
              <a:buSzPct val="85000"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18" y="990600"/>
            <a:ext cx="11091333" cy="533400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Notion of Clusters</a:t>
            </a:r>
          </a:p>
          <a:p>
            <a:r>
              <a:rPr lang="en-GB" dirty="0"/>
              <a:t>Types of </a:t>
            </a:r>
            <a:r>
              <a:rPr lang="en-GB" dirty="0" smtClean="0"/>
              <a:t>Clusters</a:t>
            </a:r>
            <a:endParaRPr lang="en-GB" dirty="0"/>
          </a:p>
          <a:p>
            <a:r>
              <a:rPr lang="en-GB" dirty="0"/>
              <a:t>Partitional Clustering</a:t>
            </a:r>
          </a:p>
          <a:p>
            <a:pPr lvl="1"/>
            <a:r>
              <a:rPr lang="en-GB" dirty="0"/>
              <a:t>K-means</a:t>
            </a:r>
          </a:p>
          <a:p>
            <a:pPr lvl="1"/>
            <a:r>
              <a:rPr lang="en-GB" dirty="0"/>
              <a:t>K-means++</a:t>
            </a:r>
          </a:p>
          <a:p>
            <a:pPr lvl="1"/>
            <a:r>
              <a:rPr lang="en-GB" dirty="0"/>
              <a:t>Bisecting K-means</a:t>
            </a:r>
          </a:p>
          <a:p>
            <a:pPr lvl="1"/>
            <a:r>
              <a:rPr lang="en-GB" dirty="0"/>
              <a:t>Strengths and </a:t>
            </a:r>
            <a:r>
              <a:rPr lang="en-GB" dirty="0" smtClean="0"/>
              <a:t>Limitations</a:t>
            </a:r>
            <a:endParaRPr lang="en-GB" dirty="0"/>
          </a:p>
          <a:p>
            <a:r>
              <a:rPr lang="en-GB" dirty="0"/>
              <a:t>Hierarchical Clustering</a:t>
            </a:r>
          </a:p>
          <a:p>
            <a:pPr lvl="1"/>
            <a:r>
              <a:rPr lang="en-GB" dirty="0"/>
              <a:t>Agglomerative</a:t>
            </a:r>
          </a:p>
          <a:p>
            <a:pPr lvl="1"/>
            <a:r>
              <a:rPr lang="en-GB" dirty="0"/>
              <a:t>Divisive</a:t>
            </a:r>
          </a:p>
          <a:p>
            <a:pPr lvl="1"/>
            <a:r>
              <a:rPr lang="en-US" altLang="en-US" dirty="0"/>
              <a:t>Inter-Cluster Distance</a:t>
            </a:r>
          </a:p>
          <a:p>
            <a:pPr lvl="1"/>
            <a:r>
              <a:rPr lang="en-US" dirty="0"/>
              <a:t>Strength and </a:t>
            </a:r>
            <a:r>
              <a:rPr lang="en-US" dirty="0" smtClean="0"/>
              <a:t>Limitation</a:t>
            </a:r>
            <a:endParaRPr lang="en-GB" dirty="0"/>
          </a:p>
          <a:p>
            <a:r>
              <a:rPr lang="en-GB" dirty="0"/>
              <a:t>Cluster Validity</a:t>
            </a:r>
          </a:p>
          <a:p>
            <a:pPr lvl="1"/>
            <a:r>
              <a:rPr lang="en-GB" dirty="0"/>
              <a:t>Cohesion </a:t>
            </a:r>
          </a:p>
          <a:p>
            <a:pPr lvl="1"/>
            <a:r>
              <a:rPr lang="en-GB" dirty="0"/>
              <a:t>Separation</a:t>
            </a:r>
          </a:p>
          <a:p>
            <a:pPr lvl="1"/>
            <a:r>
              <a:rPr lang="en-GB" dirty="0" smtClean="0"/>
              <a:t>Silhouette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318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1AFFB65C4CF428732C73EEB93BB05" ma:contentTypeVersion="12" ma:contentTypeDescription="Create a new document." ma:contentTypeScope="" ma:versionID="272cffb864e96e7893befea08508ff29">
  <xsd:schema xmlns:xsd="http://www.w3.org/2001/XMLSchema" xmlns:xs="http://www.w3.org/2001/XMLSchema" xmlns:p="http://schemas.microsoft.com/office/2006/metadata/properties" xmlns:ns2="20da7009-e730-4bb6-a7f4-bbb0e766685e" xmlns:ns3="8c69f5ce-ce3a-4e8c-a6f8-d5cf8a30f3df" targetNamespace="http://schemas.microsoft.com/office/2006/metadata/properties" ma:root="true" ma:fieldsID="2f67014f2443527738c09f147e666a12" ns2:_="" ns3:_="">
    <xsd:import namespace="20da7009-e730-4bb6-a7f4-bbb0e766685e"/>
    <xsd:import namespace="8c69f5ce-ce3a-4e8c-a6f8-d5cf8a30f3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da7009-e730-4bb6-a7f4-bbb0e7666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69f5ce-ce3a-4e8c-a6f8-d5cf8a30f3d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C53594-48BE-425E-BCF1-1CC51FA67E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D36B00-276C-4613-B714-71D4C24E0B53}"/>
</file>

<file path=customXml/itemProps3.xml><?xml version="1.0" encoding="utf-8"?>
<ds:datastoreItem xmlns:ds="http://schemas.openxmlformats.org/officeDocument/2006/customXml" ds:itemID="{60E52BC3-DBE3-43D4-8745-D41EC6D1C940}">
  <ds:schemaRefs>
    <ds:schemaRef ds:uri="http://schemas.microsoft.com/office/infopath/2007/PartnerControls"/>
    <ds:schemaRef ds:uri="2fb9d49a-94b6-4702-8584-f5659814f446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38ba4c33-77d7-48b1-9088-3ac9cbe3275a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146494139</TotalTime>
  <Pages>3</Pages>
  <Words>5136</Words>
  <Application>Microsoft Office PowerPoint</Application>
  <PresentationFormat>Widescreen</PresentationFormat>
  <Paragraphs>1050</Paragraphs>
  <Slides>125</Slides>
  <Notes>3</Notes>
  <HiddenSlides>2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125</vt:i4>
      </vt:variant>
    </vt:vector>
  </HeadingPairs>
  <TitlesOfParts>
    <vt:vector size="139" baseType="lpstr">
      <vt:lpstr>Arial</vt:lpstr>
      <vt:lpstr>Calibri</vt:lpstr>
      <vt:lpstr>Cambria Math</vt:lpstr>
      <vt:lpstr>Monotype Sorts</vt:lpstr>
      <vt:lpstr>Perpetua</vt:lpstr>
      <vt:lpstr>Symbol</vt:lpstr>
      <vt:lpstr>Tahoma</vt:lpstr>
      <vt:lpstr>Times New Roman</vt:lpstr>
      <vt:lpstr>Wingdings</vt:lpstr>
      <vt:lpstr>LC.BRev.FY97</vt:lpstr>
      <vt:lpstr>Visio</vt:lpstr>
      <vt:lpstr>Bitmap Image</vt:lpstr>
      <vt:lpstr>Equation</vt:lpstr>
      <vt:lpstr>MSPhotoEd.3</vt:lpstr>
      <vt:lpstr>PowerPoint Presentation</vt:lpstr>
      <vt:lpstr> Cluster Analysis: Concepts and Algorithms</vt:lpstr>
      <vt:lpstr>Outline </vt:lpstr>
      <vt:lpstr>Notion of a Cluster can be Ambiguous</vt:lpstr>
      <vt:lpstr>Notion of a Cluster can be Ambiguous</vt:lpstr>
      <vt:lpstr>Notion of a Cluster can be Ambiguous</vt:lpstr>
      <vt:lpstr>Notion of a Cluster can be Ambiguous</vt:lpstr>
      <vt:lpstr>Types of Clusterings</vt:lpstr>
      <vt:lpstr>Partitional Clustering</vt:lpstr>
      <vt:lpstr>Partitional Clustering</vt:lpstr>
      <vt:lpstr>Hierarchical Clustering</vt:lpstr>
      <vt:lpstr>Other Distinctions Between Sets of Clusters</vt:lpstr>
      <vt:lpstr>Types of Clusters</vt:lpstr>
      <vt:lpstr>Types of Clusters: Well-Separated</vt:lpstr>
      <vt:lpstr>Types of Clusters: Prototype-Based</vt:lpstr>
      <vt:lpstr>Types of Clusters: Contiguity-Based</vt:lpstr>
      <vt:lpstr>Types of Clusters: Density-Based</vt:lpstr>
      <vt:lpstr>Clustering Algorithms</vt:lpstr>
      <vt:lpstr>K-means Clustering</vt:lpstr>
      <vt:lpstr>K-means Clustering</vt:lpstr>
      <vt:lpstr>K-means Clustering</vt:lpstr>
      <vt:lpstr>Example of K-means Clustering</vt:lpstr>
      <vt:lpstr>Example of K-means Clustering</vt:lpstr>
      <vt:lpstr>Example of K-means Clustering</vt:lpstr>
      <vt:lpstr>Example of K-means Clustering</vt:lpstr>
      <vt:lpstr>Example of K-means Clustering</vt:lpstr>
      <vt:lpstr>Example of K-means Clustering</vt:lpstr>
      <vt:lpstr>Example of K-means Clustering</vt:lpstr>
      <vt:lpstr>Example of K-means Clustering</vt:lpstr>
      <vt:lpstr>K-means Clustering – Details</vt:lpstr>
      <vt:lpstr>K-means Clustering – Details</vt:lpstr>
      <vt:lpstr> K-means Objective Function</vt:lpstr>
      <vt:lpstr> K-means Objective Function</vt:lpstr>
      <vt:lpstr> K-means Objective Function</vt:lpstr>
      <vt:lpstr> K-means Objective Function</vt:lpstr>
      <vt:lpstr> K-means Objective Function</vt:lpstr>
      <vt:lpstr>Two different K-means Clusterings</vt:lpstr>
      <vt:lpstr>Importance of Choosing Initial Centroids …</vt:lpstr>
      <vt:lpstr>Importance of Choosing Initial Centroids …</vt:lpstr>
      <vt:lpstr>Importance of Choosing Initial Centroids</vt:lpstr>
      <vt:lpstr>Problems with Selecting Initial Points</vt:lpstr>
      <vt:lpstr>10 Clusters Example</vt:lpstr>
      <vt:lpstr>10 Clusters Example</vt:lpstr>
      <vt:lpstr>10 Clusters Example</vt:lpstr>
      <vt:lpstr>10 Clusters Example</vt:lpstr>
      <vt:lpstr>Solutions to Initial Centroids Problem</vt:lpstr>
      <vt:lpstr>K-means++</vt:lpstr>
      <vt:lpstr>Bisecting K-means</vt:lpstr>
      <vt:lpstr>Bisecting K-means Example</vt:lpstr>
      <vt:lpstr>Limitations of K-means</vt:lpstr>
      <vt:lpstr>Limitations of K-means: Differing Sizes</vt:lpstr>
      <vt:lpstr>Limitations of K-means: Differing Density</vt:lpstr>
      <vt:lpstr>Limitations of K-means: Non-globular Shapes</vt:lpstr>
      <vt:lpstr>Overcoming K-means Limitations</vt:lpstr>
      <vt:lpstr>Overcoming K-means Limitations</vt:lpstr>
      <vt:lpstr>Overcoming K-means Limitations</vt:lpstr>
      <vt:lpstr>PowerPoint Presentation</vt:lpstr>
      <vt:lpstr>Outline </vt:lpstr>
      <vt:lpstr>Hierarchical Clustering 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Strengths of Hierarchical Clustering</vt:lpstr>
      <vt:lpstr>Hierarchical Clustering</vt:lpstr>
      <vt:lpstr>Agglomerative Clustering Algorithm</vt:lpstr>
      <vt:lpstr>Steps 1 and 2 </vt:lpstr>
      <vt:lpstr>Intermediate Situation</vt:lpstr>
      <vt:lpstr>Step 4</vt:lpstr>
      <vt:lpstr>Step 5</vt:lpstr>
      <vt:lpstr>How to Define Inter-Cluster Distance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MIN or Single Link </vt:lpstr>
      <vt:lpstr>Hierarchical Clustering: MIN</vt:lpstr>
      <vt:lpstr>Strength of MIN</vt:lpstr>
      <vt:lpstr>Limitations of MIN</vt:lpstr>
      <vt:lpstr>MAX or Complete Linkage</vt:lpstr>
      <vt:lpstr>Hierarchical Clustering: MAX</vt:lpstr>
      <vt:lpstr>Strength of MAX</vt:lpstr>
      <vt:lpstr>Limitations of MAX</vt:lpstr>
      <vt:lpstr>Group Average</vt:lpstr>
      <vt:lpstr>Hierarchical Clustering: Group Average</vt:lpstr>
      <vt:lpstr>Hierarchical Clustering: Group Average</vt:lpstr>
      <vt:lpstr>Hierarchical Clustering: Comparison</vt:lpstr>
      <vt:lpstr>Hierarchical Clustering:  Time and Space requirements</vt:lpstr>
      <vt:lpstr>Hierarchical Clustering:  Problems and Limitations</vt:lpstr>
      <vt:lpstr>PowerPoint Presentation</vt:lpstr>
      <vt:lpstr>Outline </vt:lpstr>
      <vt:lpstr>Density Based Clustering</vt:lpstr>
      <vt:lpstr>DBSCAN</vt:lpstr>
      <vt:lpstr>DBSCAN: Core, Border, and Noise Points</vt:lpstr>
      <vt:lpstr>DBSCAN: Core, Border and Noise Points</vt:lpstr>
      <vt:lpstr>DBSCAN Algorithm</vt:lpstr>
      <vt:lpstr>When DBSCAN Works Well</vt:lpstr>
      <vt:lpstr>When DBSCAN Does NOT Work Well</vt:lpstr>
      <vt:lpstr>When DBSCAN Does NOT Work Well</vt:lpstr>
      <vt:lpstr>PowerPoint Presentation</vt:lpstr>
      <vt:lpstr>Outline </vt:lpstr>
      <vt:lpstr>Cluster Validity </vt:lpstr>
      <vt:lpstr>Clusters found in Random Data</vt:lpstr>
      <vt:lpstr>Measures of Cluster Validity</vt:lpstr>
      <vt:lpstr>Unsupervised Measures: Cohesion and Separation</vt:lpstr>
      <vt:lpstr>Unsupervised Measures: Cohesion and Separation</vt:lpstr>
      <vt:lpstr>Unsupervised Measures: Cohesion and Separation</vt:lpstr>
      <vt:lpstr>Unsupervised Measures: Silhouette Coefficient</vt:lpstr>
      <vt:lpstr>Measuring Cluster Validity Via Correlation</vt:lpstr>
      <vt:lpstr>Measuring Cluster Validity via Correlation</vt:lpstr>
      <vt:lpstr>Measuring Cluster Validity Via Correlation</vt:lpstr>
      <vt:lpstr>Judging a Clustering Visually by its Similarity Matrix</vt:lpstr>
      <vt:lpstr>Judging a Clustering Visually by its Similarity Matrix</vt:lpstr>
      <vt:lpstr>Judging a Clustering Visually by its Similarity Matrix</vt:lpstr>
      <vt:lpstr>Determining the Correct Number of Clusters</vt:lpstr>
      <vt:lpstr>Determining the Correct Number of Clusters</vt:lpstr>
      <vt:lpstr>Final Comment on Cluster Validity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Abdulrahman Altahhan</cp:lastModifiedBy>
  <cp:revision>737</cp:revision>
  <cp:lastPrinted>2017-03-24T21:43:53Z</cp:lastPrinted>
  <dcterms:created xsi:type="dcterms:W3CDTF">1998-03-18T13:44:31Z</dcterms:created>
  <dcterms:modified xsi:type="dcterms:W3CDTF">2021-05-19T07:30:46Z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0x0101006791AFFB65C4CF428732C73EEB93BB05</vt:lpwstr>
  </property>
</Properties>
</file>